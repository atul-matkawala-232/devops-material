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tul Matkawala" userId="8fe240bc38c32bc7" providerId="LiveId" clId="{BB534352-A38E-5650-A641-A87F5789C4B8}"/>
    <pc:docChg chg="custSel mod addSld delSld modSld addMainMaster delMainMaster modMainMaster modNotesMaster setSldSz">
      <pc:chgData name="Atul Matkawala" userId="8fe240bc38c32bc7" providerId="LiveId" clId="{BB534352-A38E-5650-A641-A87F5789C4B8}" dt="2026-05-11T14:59:18.128" v="17" actId="20577"/>
      <pc:docMkLst>
        <pc:docMk/>
      </pc:docMkLst>
      <pc:sldChg chg="modSp add mod">
        <pc:chgData name="Atul Matkawala" userId="8fe240bc38c32bc7" providerId="LiveId" clId="{BB534352-A38E-5650-A641-A87F5789C4B8}" dt="2026-05-11T14:59:18.128" v="17" actId="20577"/>
        <pc:sldMkLst>
          <pc:docMk/>
          <pc:sldMk cId="0" sldId="256"/>
        </pc:sldMkLst>
        <pc:spChg chg="mod">
          <ac:chgData name="Atul Matkawala" userId="8fe240bc38c32bc7" providerId="LiveId" clId="{BB534352-A38E-5650-A641-A87F5789C4B8}" dt="2026-05-11T14:59:18.128" v="17" actId="20577"/>
          <ac:spMkLst>
            <pc:docMk/>
            <pc:sldMk cId="0" sldId="256"/>
            <ac:spMk id="7" creationId="{00000000-0000-0000-0000-000000000000}"/>
          </ac:spMkLst>
        </pc:spChg>
      </pc:sldChg>
      <pc:sldChg chg="add">
        <pc:chgData name="Atul Matkawala" userId="8fe240bc38c32bc7" providerId="LiveId" clId="{BB534352-A38E-5650-A641-A87F5789C4B8}" dt="2026-05-11T14:58:53.640" v="2" actId="26606"/>
        <pc:sldMkLst>
          <pc:docMk/>
          <pc:sldMk cId="0" sldId="257"/>
        </pc:sldMkLst>
      </pc:sldChg>
      <pc:sldChg chg="add">
        <pc:chgData name="Atul Matkawala" userId="8fe240bc38c32bc7" providerId="LiveId" clId="{BB534352-A38E-5650-A641-A87F5789C4B8}" dt="2026-05-11T14:58:53.640" v="2" actId="26606"/>
        <pc:sldMkLst>
          <pc:docMk/>
          <pc:sldMk cId="0" sldId="258"/>
        </pc:sldMkLst>
      </pc:sldChg>
      <pc:sldChg chg="add">
        <pc:chgData name="Atul Matkawala" userId="8fe240bc38c32bc7" providerId="LiveId" clId="{BB534352-A38E-5650-A641-A87F5789C4B8}" dt="2026-05-11T14:58:53.640" v="2" actId="26606"/>
        <pc:sldMkLst>
          <pc:docMk/>
          <pc:sldMk cId="0" sldId="259"/>
        </pc:sldMkLst>
      </pc:sldChg>
      <pc:sldChg chg="add">
        <pc:chgData name="Atul Matkawala" userId="8fe240bc38c32bc7" providerId="LiveId" clId="{BB534352-A38E-5650-A641-A87F5789C4B8}" dt="2026-05-11T14:58:53.640" v="2" actId="26606"/>
        <pc:sldMkLst>
          <pc:docMk/>
          <pc:sldMk cId="0" sldId="260"/>
        </pc:sldMkLst>
      </pc:sldChg>
      <pc:sldChg chg="add">
        <pc:chgData name="Atul Matkawala" userId="8fe240bc38c32bc7" providerId="LiveId" clId="{BB534352-A38E-5650-A641-A87F5789C4B8}" dt="2026-05-11T14:58:53.640" v="2" actId="26606"/>
        <pc:sldMkLst>
          <pc:docMk/>
          <pc:sldMk cId="0" sldId="261"/>
        </pc:sldMkLst>
      </pc:sldChg>
      <pc:sldChg chg="add">
        <pc:chgData name="Atul Matkawala" userId="8fe240bc38c32bc7" providerId="LiveId" clId="{BB534352-A38E-5650-A641-A87F5789C4B8}" dt="2026-05-11T14:58:53.640" v="2" actId="26606"/>
        <pc:sldMkLst>
          <pc:docMk/>
          <pc:sldMk cId="0" sldId="262"/>
        </pc:sldMkLst>
      </pc:sldChg>
      <pc:sldChg chg="add">
        <pc:chgData name="Atul Matkawala" userId="8fe240bc38c32bc7" providerId="LiveId" clId="{BB534352-A38E-5650-A641-A87F5789C4B8}" dt="2026-05-11T14:58:53.640" v="2" actId="26606"/>
        <pc:sldMkLst>
          <pc:docMk/>
          <pc:sldMk cId="0" sldId="263"/>
        </pc:sldMkLst>
      </pc:sldChg>
      <pc:sldChg chg="add">
        <pc:chgData name="Atul Matkawala" userId="8fe240bc38c32bc7" providerId="LiveId" clId="{BB534352-A38E-5650-A641-A87F5789C4B8}" dt="2026-05-11T14:58:53.640" v="2" actId="26606"/>
        <pc:sldMkLst>
          <pc:docMk/>
          <pc:sldMk cId="0" sldId="264"/>
        </pc:sldMkLst>
      </pc:sldChg>
      <pc:sldChg chg="add">
        <pc:chgData name="Atul Matkawala" userId="8fe240bc38c32bc7" providerId="LiveId" clId="{BB534352-A38E-5650-A641-A87F5789C4B8}" dt="2026-05-11T14:58:53.640" v="2" actId="26606"/>
        <pc:sldMkLst>
          <pc:docMk/>
          <pc:sldMk cId="0" sldId="265"/>
        </pc:sldMkLst>
      </pc:sldChg>
      <pc:sldChg chg="add">
        <pc:chgData name="Atul Matkawala" userId="8fe240bc38c32bc7" providerId="LiveId" clId="{BB534352-A38E-5650-A641-A87F5789C4B8}" dt="2026-05-11T14:58:53.640" v="2" actId="26606"/>
        <pc:sldMkLst>
          <pc:docMk/>
          <pc:sldMk cId="0" sldId="266"/>
        </pc:sldMkLst>
      </pc:sldChg>
      <pc:sldChg chg="add">
        <pc:chgData name="Atul Matkawala" userId="8fe240bc38c32bc7" providerId="LiveId" clId="{BB534352-A38E-5650-A641-A87F5789C4B8}" dt="2026-05-11T14:58:53.640" v="2" actId="26606"/>
        <pc:sldMkLst>
          <pc:docMk/>
          <pc:sldMk cId="0" sldId="267"/>
        </pc:sldMkLst>
      </pc:sldChg>
      <pc:sldChg chg="add">
        <pc:chgData name="Atul Matkawala" userId="8fe240bc38c32bc7" providerId="LiveId" clId="{BB534352-A38E-5650-A641-A87F5789C4B8}" dt="2026-05-11T14:58:53.640" v="2" actId="26606"/>
        <pc:sldMkLst>
          <pc:docMk/>
          <pc:sldMk cId="0" sldId="268"/>
        </pc:sldMkLst>
      </pc:sldChg>
      <pc:sldChg chg="add">
        <pc:chgData name="Atul Matkawala" userId="8fe240bc38c32bc7" providerId="LiveId" clId="{BB534352-A38E-5650-A641-A87F5789C4B8}" dt="2026-05-11T14:58:53.640" v="2" actId="26606"/>
        <pc:sldMkLst>
          <pc:docMk/>
          <pc:sldMk cId="0" sldId="269"/>
        </pc:sldMkLst>
      </pc:sldChg>
      <pc:sldChg chg="add">
        <pc:chgData name="Atul Matkawala" userId="8fe240bc38c32bc7" providerId="LiveId" clId="{BB534352-A38E-5650-A641-A87F5789C4B8}" dt="2026-05-11T14:58:53.640" v="2" actId="26606"/>
        <pc:sldMkLst>
          <pc:docMk/>
          <pc:sldMk cId="0" sldId="270"/>
        </pc:sldMkLst>
      </pc:sldChg>
      <pc:sldChg chg="add">
        <pc:chgData name="Atul Matkawala" userId="8fe240bc38c32bc7" providerId="LiveId" clId="{BB534352-A38E-5650-A641-A87F5789C4B8}" dt="2026-05-11T14:58:53.640" v="2" actId="26606"/>
        <pc:sldMkLst>
          <pc:docMk/>
          <pc:sldMk cId="0" sldId="271"/>
        </pc:sldMkLst>
      </pc:sldChg>
      <pc:sldChg chg="add">
        <pc:chgData name="Atul Matkawala" userId="8fe240bc38c32bc7" providerId="LiveId" clId="{BB534352-A38E-5650-A641-A87F5789C4B8}" dt="2026-05-11T14:58:53.640" v="2" actId="26606"/>
        <pc:sldMkLst>
          <pc:docMk/>
          <pc:sldMk cId="0" sldId="272"/>
        </pc:sldMkLst>
      </pc:sldChg>
      <pc:sldChg chg="add">
        <pc:chgData name="Atul Matkawala" userId="8fe240bc38c32bc7" providerId="LiveId" clId="{BB534352-A38E-5650-A641-A87F5789C4B8}" dt="2026-05-11T14:58:53.640" v="2" actId="26606"/>
        <pc:sldMkLst>
          <pc:docMk/>
          <pc:sldMk cId="0" sldId="273"/>
        </pc:sldMkLst>
      </pc:sldChg>
      <pc:sldChg chg="add">
        <pc:chgData name="Atul Matkawala" userId="8fe240bc38c32bc7" providerId="LiveId" clId="{BB534352-A38E-5650-A641-A87F5789C4B8}" dt="2026-05-11T14:58:53.640" v="2" actId="26606"/>
        <pc:sldMkLst>
          <pc:docMk/>
          <pc:sldMk cId="0" sldId="274"/>
        </pc:sldMkLst>
      </pc:sldChg>
      <pc:sldChg chg="add">
        <pc:chgData name="Atul Matkawala" userId="8fe240bc38c32bc7" providerId="LiveId" clId="{BB534352-A38E-5650-A641-A87F5789C4B8}" dt="2026-05-11T14:58:53.640" v="2" actId="26606"/>
        <pc:sldMkLst>
          <pc:docMk/>
          <pc:sldMk cId="0" sldId="275"/>
        </pc:sldMkLst>
      </pc:sldChg>
      <pc:sldChg chg="del replId">
        <pc:chgData name="Atul Matkawala" userId="8fe240bc38c32bc7" providerId="LiveId" clId="{BB534352-A38E-5650-A641-A87F5789C4B8}" dt="2026-05-11T14:58:53.640" v="2" actId="26606"/>
        <pc:sldMkLst>
          <pc:docMk/>
          <pc:sldMk cId="915226821" sldId="276"/>
        </pc:sldMkLst>
      </pc:sldChg>
      <pc:sldMasterChg chg="add addSldLayout">
        <pc:chgData name="Atul Matkawala" userId="8fe240bc38c32bc7" providerId="LiveId" clId="{BB534352-A38E-5650-A641-A87F5789C4B8}" dt="2026-05-11T14:58:53.640" v="2" actId="26606"/>
        <pc:sldMasterMkLst>
          <pc:docMk/>
          <pc:sldMasterMk cId="0" sldId="2147483648"/>
        </pc:sldMasterMkLst>
        <pc:sldLayoutChg chg="add">
          <pc:chgData name="Atul Matkawala" userId="8fe240bc38c32bc7" providerId="LiveId" clId="{BB534352-A38E-5650-A641-A87F5789C4B8}" dt="2026-05-11T14:58:53.640" v="2" actId="26606"/>
          <pc:sldLayoutMkLst>
            <pc:docMk/>
            <pc:sldMasterMk cId="0" sldId="2147483648"/>
            <pc:sldLayoutMk cId="0" sldId="2147483649"/>
          </pc:sldLayoutMkLst>
        </pc:sldLayoutChg>
      </pc:sldMasterChg>
      <pc:sldMasterChg chg="del replId delSldLayout modSldLayout">
        <pc:chgData name="Atul Matkawala" userId="8fe240bc38c32bc7" providerId="LiveId" clId="{BB534352-A38E-5650-A641-A87F5789C4B8}" dt="2026-05-11T14:58:53.640" v="2" actId="26606"/>
        <pc:sldMasterMkLst>
          <pc:docMk/>
          <pc:sldMasterMk cId="2742361646" sldId="2147483660"/>
        </pc:sldMasterMkLst>
        <pc:sldLayoutChg chg="del">
          <pc:chgData name="Atul Matkawala" userId="8fe240bc38c32bc7" providerId="LiveId" clId="{BB534352-A38E-5650-A641-A87F5789C4B8}" dt="2026-05-11T14:58:53.640" v="2" actId="26606"/>
          <pc:sldLayoutMkLst>
            <pc:docMk/>
            <pc:sldMasterMk cId="2742361646" sldId="2147483660"/>
            <pc:sldLayoutMk cId="1009293595" sldId="2147483650"/>
          </pc:sldLayoutMkLst>
        </pc:sldLayoutChg>
        <pc:sldLayoutChg chg="del">
          <pc:chgData name="Atul Matkawala" userId="8fe240bc38c32bc7" providerId="LiveId" clId="{BB534352-A38E-5650-A641-A87F5789C4B8}" dt="2026-05-11T14:58:53.640" v="2" actId="26606"/>
          <pc:sldLayoutMkLst>
            <pc:docMk/>
            <pc:sldMasterMk cId="2742361646" sldId="2147483660"/>
            <pc:sldLayoutMk cId="1860101253" sldId="2147483651"/>
          </pc:sldLayoutMkLst>
        </pc:sldLayoutChg>
        <pc:sldLayoutChg chg="del">
          <pc:chgData name="Atul Matkawala" userId="8fe240bc38c32bc7" providerId="LiveId" clId="{BB534352-A38E-5650-A641-A87F5789C4B8}" dt="2026-05-11T14:58:53.640" v="2" actId="26606"/>
          <pc:sldLayoutMkLst>
            <pc:docMk/>
            <pc:sldMasterMk cId="2742361646" sldId="2147483660"/>
            <pc:sldLayoutMk cId="1633196208" sldId="2147483652"/>
          </pc:sldLayoutMkLst>
        </pc:sldLayoutChg>
        <pc:sldLayoutChg chg="del">
          <pc:chgData name="Atul Matkawala" userId="8fe240bc38c32bc7" providerId="LiveId" clId="{BB534352-A38E-5650-A641-A87F5789C4B8}" dt="2026-05-11T14:58:53.640" v="2" actId="26606"/>
          <pc:sldLayoutMkLst>
            <pc:docMk/>
            <pc:sldMasterMk cId="2742361646" sldId="2147483660"/>
            <pc:sldLayoutMk cId="626879923" sldId="2147483653"/>
          </pc:sldLayoutMkLst>
        </pc:sldLayoutChg>
        <pc:sldLayoutChg chg="del">
          <pc:chgData name="Atul Matkawala" userId="8fe240bc38c32bc7" providerId="LiveId" clId="{BB534352-A38E-5650-A641-A87F5789C4B8}" dt="2026-05-11T14:58:53.640" v="2" actId="26606"/>
          <pc:sldLayoutMkLst>
            <pc:docMk/>
            <pc:sldMasterMk cId="2742361646" sldId="2147483660"/>
            <pc:sldLayoutMk cId="1202030780" sldId="2147483654"/>
          </pc:sldLayoutMkLst>
        </pc:sldLayoutChg>
        <pc:sldLayoutChg chg="del">
          <pc:chgData name="Atul Matkawala" userId="8fe240bc38c32bc7" providerId="LiveId" clId="{BB534352-A38E-5650-A641-A87F5789C4B8}" dt="2026-05-11T14:58:53.640" v="2" actId="26606"/>
          <pc:sldLayoutMkLst>
            <pc:docMk/>
            <pc:sldMasterMk cId="2742361646" sldId="2147483660"/>
            <pc:sldLayoutMk cId="2009995520" sldId="2147483655"/>
          </pc:sldLayoutMkLst>
        </pc:sldLayoutChg>
        <pc:sldLayoutChg chg="del">
          <pc:chgData name="Atul Matkawala" userId="8fe240bc38c32bc7" providerId="LiveId" clId="{BB534352-A38E-5650-A641-A87F5789C4B8}" dt="2026-05-11T14:58:53.640" v="2" actId="26606"/>
          <pc:sldLayoutMkLst>
            <pc:docMk/>
            <pc:sldMasterMk cId="2742361646" sldId="2147483660"/>
            <pc:sldLayoutMk cId="785309186" sldId="2147483656"/>
          </pc:sldLayoutMkLst>
        </pc:sldLayoutChg>
        <pc:sldLayoutChg chg="del">
          <pc:chgData name="Atul Matkawala" userId="8fe240bc38c32bc7" providerId="LiveId" clId="{BB534352-A38E-5650-A641-A87F5789C4B8}" dt="2026-05-11T14:58:53.640" v="2" actId="26606"/>
          <pc:sldLayoutMkLst>
            <pc:docMk/>
            <pc:sldMasterMk cId="2742361646" sldId="2147483660"/>
            <pc:sldLayoutMk cId="1266353823" sldId="2147483657"/>
          </pc:sldLayoutMkLst>
        </pc:sldLayoutChg>
        <pc:sldLayoutChg chg="del">
          <pc:chgData name="Atul Matkawala" userId="8fe240bc38c32bc7" providerId="LiveId" clId="{BB534352-A38E-5650-A641-A87F5789C4B8}" dt="2026-05-11T14:58:53.640" v="2" actId="26606"/>
          <pc:sldLayoutMkLst>
            <pc:docMk/>
            <pc:sldMasterMk cId="2742361646" sldId="2147483660"/>
            <pc:sldLayoutMk cId="1470445810" sldId="2147483658"/>
          </pc:sldLayoutMkLst>
        </pc:sldLayoutChg>
        <pc:sldLayoutChg chg="del">
          <pc:chgData name="Atul Matkawala" userId="8fe240bc38c32bc7" providerId="LiveId" clId="{BB534352-A38E-5650-A641-A87F5789C4B8}" dt="2026-05-11T14:58:53.640" v="2" actId="26606"/>
          <pc:sldLayoutMkLst>
            <pc:docMk/>
            <pc:sldMasterMk cId="2742361646" sldId="2147483660"/>
            <pc:sldLayoutMk cId="25747258" sldId="2147483659"/>
          </pc:sldLayoutMkLst>
        </pc:sldLayoutChg>
        <pc:sldLayoutChg chg="del replId">
          <pc:chgData name="Atul Matkawala" userId="8fe240bc38c32bc7" providerId="LiveId" clId="{BB534352-A38E-5650-A641-A87F5789C4B8}" dt="2026-05-11T14:58:53.640" v="2" actId="26606"/>
          <pc:sldLayoutMkLst>
            <pc:docMk/>
            <pc:sldMasterMk cId="2742361646" sldId="2147483660"/>
            <pc:sldLayoutMk cId="1721075708" sldId="214748366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18152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7.jp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28.png"/><Relationship Id="rId4" Type="http://schemas.openxmlformats.org/officeDocument/2006/relationships/image" Target="../media/image13.png"/><Relationship Id="rId9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agent/turn1/workspace/images/abstract-digital-cloud-storage-technology-dark-cha_2026-05-11T14-56-27_image_DAS_0.jpg"/>
          <p:cNvPicPr>
            <a:picLocks noChangeAspect="1"/>
          </p:cNvPicPr>
          <p:nvPr/>
        </p:nvPicPr>
        <p:blipFill>
          <a:blip r:embed="rId3">
            <a:alphaModFix amt="60000"/>
          </a:blip>
          <a:srcRect t="7813" b="7813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 S3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31520" y="19202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48CA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Zero to Confident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731520" y="2743200"/>
            <a:ext cx="182880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Beginner-Advance Training Workshop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AWS experience required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840480" cy="9144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5544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Storage Basics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463040" y="1828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 and why it matters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" y="2560320"/>
            <a:ext cx="3840480" cy="9144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432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6517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S3 Core Concepts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463040" y="3017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Buckets, objects, keys — the building blocks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40080" y="3749040"/>
            <a:ext cx="3840480" cy="9144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93192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3840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 Classes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6304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right tier for your data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937760" y="1371600"/>
            <a:ext cx="3840480" cy="9144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155448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76072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Essentials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5760720" y="1828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data safe from day one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937760" y="2560320"/>
            <a:ext cx="3840480" cy="9144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6360" y="2743200"/>
            <a:ext cx="457200" cy="4572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760720" y="26517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Versioning &amp; Lifecycle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5760720" y="3017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data and automate cost savings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4937760" y="3749040"/>
            <a:ext cx="3840480" cy="9144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6360" y="3931920"/>
            <a:ext cx="457200" cy="45720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5760720" y="3840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Uploads &amp; Performance</a:t>
            </a:r>
            <a:endParaRPr lang="en-US" sz="1600" dirty="0"/>
          </a:p>
        </p:txBody>
      </p:sp>
      <p:sp>
        <p:nvSpPr>
          <p:cNvPr id="26" name="Text 18"/>
          <p:cNvSpPr/>
          <p:nvPr/>
        </p:nvSpPr>
        <p:spPr>
          <a:xfrm>
            <a:off x="576072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Multipart upload and best practices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Cloud Storage?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8CA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 of it like this...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45720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Your hard drive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B8B8D0"/>
                </a:solidFill>
              </a:rPr>
              <a:t>is like a filing cabinet in your office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</a:rPr>
              <a:t>Cloud storage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B8B8D0"/>
                </a:solidFill>
              </a:rPr>
              <a:t>is like a giant, secure warehouse run by someone else — you store your files there and access them from anywhere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</a:rPr>
              <a:t>Why use it?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No hardware to buy or maintain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Access from anywhere in the world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Scales up or down as you need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Pay only for what you use</a:t>
            </a:r>
            <a:endParaRPr lang="en-US" sz="1400" dirty="0"/>
          </a:p>
        </p:txBody>
      </p:sp>
      <p:pic>
        <p:nvPicPr>
          <p:cNvPr id="5" name="Image 0" descr="/agent/turn1/workspace/images/friendly-illustrated-concept-of-cloud-storage-with_2026-05-11T14-50-55_image_DAS_0.jpg"/>
          <p:cNvPicPr>
            <a:picLocks noChangeAspect="1"/>
          </p:cNvPicPr>
          <p:nvPr/>
        </p:nvPicPr>
        <p:blipFill>
          <a:blip r:embed="rId3"/>
          <a:srcRect l="12105" r="12105"/>
          <a:stretch/>
        </p:blipFill>
        <p:spPr>
          <a:xfrm>
            <a:off x="5486400" y="1097280"/>
            <a:ext cx="3291840" cy="3474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Amazon S3?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8CAE4"/>
                </a:solidFill>
              </a:rPr>
              <a:t>Simple Storage Service (S3)</a:t>
            </a:r>
            <a:endParaRPr lang="en-US" sz="1800" dirty="0"/>
          </a:p>
          <a:p>
            <a:pPr marL="0" indent="0">
              <a:buNone/>
            </a:pPr>
            <a:r>
              <a:rPr lang="en-US" sz="1300" dirty="0">
                <a:solidFill>
                  <a:srgbClr val="B8B8D0"/>
                </a:solidFill>
              </a:rPr>
              <a:t>AWS's flagship object storage — one of its oldest and most popular services (launched 2006)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2651760" cy="219456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 nines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Durability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99.999999999%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is incredibly safe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1920240"/>
            <a:ext cx="2651760" cy="219456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337560" y="20116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99.99%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337560" y="2560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Availability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20440" y="2971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never down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accessible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920240"/>
            <a:ext cx="2651760" cy="219456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17920" y="20116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8C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Unlimited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217920" y="2560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971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capacity limits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any file type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storage = stores files as objects (not in a file system). Each object is a file + metadata.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Core Concept: Buckets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bucket is a top-level container for your files — like a root folder in S3.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931920" cy="3108960"/>
          </a:xfrm>
          <a:prstGeom prst="rect">
            <a:avLst/>
          </a:prstGeom>
          <a:solidFill>
            <a:srgbClr val="2A2A4A"/>
          </a:solidFill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my-company-photos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103120"/>
            <a:ext cx="3383280" cy="457200"/>
          </a:xfrm>
          <a:prstGeom prst="rect">
            <a:avLst/>
          </a:prstGeom>
          <a:solidFill>
            <a:srgbClr val="1E1E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67128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1214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team/photo-01.jpg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200400" y="212140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MB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31520" y="2697480"/>
            <a:ext cx="3383280" cy="457200"/>
          </a:xfrm>
          <a:prstGeom prst="rect">
            <a:avLst/>
          </a:prstGeom>
          <a:solidFill>
            <a:srgbClr val="1E1E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61488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80160" y="271576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events/launch-2024.png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200400" y="271576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MB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31520" y="3291840"/>
            <a:ext cx="3383280" cy="457200"/>
          </a:xfrm>
          <a:prstGeom prst="rect">
            <a:avLst/>
          </a:prstGeom>
          <a:solidFill>
            <a:srgbClr val="1E1E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355848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80160" y="331012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logos/company-logo.svg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3200400" y="331012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KB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31520" y="3886200"/>
            <a:ext cx="3383280" cy="457200"/>
          </a:xfrm>
          <a:prstGeom prst="rect">
            <a:avLst/>
          </a:prstGeom>
          <a:solidFill>
            <a:srgbClr val="1E1E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950208"/>
            <a:ext cx="292608" cy="2926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80160" y="390448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raw/backup-march.zip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3200400" y="39044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GB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846320" y="1554480"/>
            <a:ext cx="3931920" cy="310896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502920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8CA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Bucket Rules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5029200" y="210312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Name must be globally unique</a:t>
            </a:r>
            <a:endParaRPr lang="en-US" sz="1200" dirty="0"/>
          </a:p>
          <a:p>
            <a:pPr marL="0" lvl="1" indent="0">
              <a:buNone/>
            </a:pPr>
            <a:r>
              <a:rPr lang="en-US" sz="1100" dirty="0">
                <a:solidFill>
                  <a:srgbClr val="8888A8"/>
                </a:solidFill>
              </a:rPr>
              <a:t>(no two AWS accounts can use the same name)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Created in a specific AWS Region</a:t>
            </a:r>
            <a:endParaRPr lang="en-US" sz="1200" dirty="0"/>
          </a:p>
          <a:p>
            <a:pPr marL="0" lvl="1" indent="0">
              <a:buNone/>
            </a:pPr>
            <a:r>
              <a:rPr lang="en-US" sz="1100" dirty="0">
                <a:solidFill>
                  <a:srgbClr val="8888A8"/>
                </a:solidFill>
              </a:rPr>
              <a:t>(choose the one closest to your users)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Lowercase letters, numbers, hyphens only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3 to 63 characters long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No limit on objects inside a bucket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Core Concept: Objects &amp; Keys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Anatomy of an S3 Object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73152" cy="54864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828800" y="1737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photos/vacation/beach.jpg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0116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unique "path" to your file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73152" cy="548640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2423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8CA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2423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file data (up to 5 TB)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2697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file type: images, videos, code, backups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3108960"/>
            <a:ext cx="73152" cy="548640"/>
          </a:xfrm>
          <a:prstGeom prst="rect">
            <a:avLst/>
          </a:prstGeom>
          <a:solidFill>
            <a:srgbClr val="90E0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68680" y="3108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Metadata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28800" y="3108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Content-Type, size, date, tags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" y="33832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 about the object (like file properties)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3794760"/>
            <a:ext cx="73152" cy="548640"/>
          </a:xfrm>
          <a:prstGeom prst="rect">
            <a:avLst/>
          </a:prstGeom>
          <a:solidFill>
            <a:srgbClr val="7B68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68680" y="37947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B68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 ID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828800" y="3794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Auto-assigned when versioning is 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" y="40690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every change to the object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6320" y="1097280"/>
            <a:ext cx="3931920" cy="347472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29200" y="1188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8C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Understanding Keys (Paths)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29200" y="164592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B8D0"/>
                </a:solidFill>
              </a:rPr>
              <a:t>S3 has no real folders — it's flat storage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Keys simulate a folder structure: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B4D8"/>
                </a:solidFill>
              </a:rPr>
              <a:t>photos/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8CAE4"/>
                </a:solidFill>
              </a:rPr>
              <a:t>  vacation/beach.jpg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8CAE4"/>
                </a:solidFill>
              </a:rPr>
              <a:t>  vacation/sunset.jpg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8CAE4"/>
                </a:solidFill>
              </a:rPr>
              <a:t>  family/birthday.jpg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B4D8"/>
                </a:solidFill>
              </a:rPr>
              <a:t>docs/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8CAE4"/>
                </a:solidFill>
              </a:rPr>
              <a:t>  report-2024.pdf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D166"/>
                </a:solidFill>
              </a:rPr>
              <a:t>The S3 console shows these as folders, but they're just key prefixes — a helpful illusion!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You Interact with S3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920240" cy="27432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32588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828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 Console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94360" y="224028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Web-based GUI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Point-and-click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for beginners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quick tasks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606040" y="1188720"/>
            <a:ext cx="1920240" cy="27432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32588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606040" y="1828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8CA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 CLI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2743200" y="224028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line tool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Scripting &amp; automation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operations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s3 cp ...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754880" y="1188720"/>
            <a:ext cx="1920240" cy="27432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32588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828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 SDKs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4892040" y="224028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libraries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Java, JS, etc.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apps that use S3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boto3, @aws-sdk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903720" y="1188720"/>
            <a:ext cx="1920240" cy="27432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5240" y="1325880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903720" y="1828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8C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 API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7040880" y="224028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HTTP calls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PUT, GET, DELETE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flexible option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 access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Console to learn, then use CLI/SDKs for automation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Common S3 Operations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everyday actions you'll perform with S3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594360"/>
          </a:xfrm>
          <a:prstGeom prst="rect">
            <a:avLst/>
          </a:prstGeom>
          <a:solidFill>
            <a:srgbClr val="1E1E3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630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417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Upload (PUT)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926080" y="1417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 new file in a bucket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303520" y="14173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s3 cp file.txt s3://my-bucket/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084832"/>
            <a:ext cx="8229600" cy="59436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176272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8720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8CA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Download (GET)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2926080" y="21305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 file from a bucket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303520" y="21305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s3 cp s3://my-bucket/file.txt ./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2798064"/>
            <a:ext cx="8229600" cy="594360"/>
          </a:xfrm>
          <a:prstGeom prst="rect">
            <a:avLst/>
          </a:prstGeom>
          <a:solidFill>
            <a:srgbClr val="1E1E3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889504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88720" y="284378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926080" y="28437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objects in a bucket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5303520" y="28437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s3 ls s3://my-bucket/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511296"/>
            <a:ext cx="8229600" cy="59436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602736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88720" y="3557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8C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Copy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2926080" y="35570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an object within or between buckets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5303520" y="355701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s3 cp s3://src/ s3://dest/ --recursive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57200" y="4224528"/>
            <a:ext cx="8229600" cy="594360"/>
          </a:xfrm>
          <a:prstGeom prst="rect">
            <a:avLst/>
          </a:prstGeom>
          <a:solidFill>
            <a:srgbClr val="1E1E3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315968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188720" y="42702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7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Delete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2926080" y="4270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an object from a bucket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5303520" y="42702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s3 rm s3://my-bucket/file.txt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operations go through HTTPS — your data is always encrypted in transit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 Classes: Pick the Right Tier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offers 7 storage classes — think of them as different storage speeds and prices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8595360" cy="36576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 Class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65176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Best For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120640" y="1143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Cost/GB/mo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0" y="1143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Retrieval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554480"/>
            <a:ext cx="8595360" cy="438912"/>
          </a:xfrm>
          <a:prstGeom prst="rect">
            <a:avLst/>
          </a:prstGeom>
          <a:solidFill>
            <a:srgbClr val="1E1E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4320" y="1554480"/>
            <a:ext cx="54864" cy="43891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55448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S3 Standard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155448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apps, websites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120640" y="155448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$0.023/GB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0" y="155448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029968"/>
            <a:ext cx="8595360" cy="438912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2029968"/>
            <a:ext cx="54864" cy="438912"/>
          </a:xfrm>
          <a:prstGeom prst="rect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202996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8CA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Intelligent-Tiering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51760" y="20299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access patterns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120640" y="202996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$0.023→0.004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0" y="202996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505456"/>
            <a:ext cx="8595360" cy="438912"/>
          </a:xfrm>
          <a:prstGeom prst="rect">
            <a:avLst/>
          </a:prstGeom>
          <a:solidFill>
            <a:srgbClr val="1E1E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4320" y="2505456"/>
            <a:ext cx="54864" cy="438912"/>
          </a:xfrm>
          <a:prstGeom prst="rect">
            <a:avLst/>
          </a:prstGeom>
          <a:solidFill>
            <a:srgbClr val="90E0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250545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Standard-IA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651760" y="2505456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access (backups)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120640" y="250545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$0.0125/GB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58000" y="2505456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2980944"/>
            <a:ext cx="8595360" cy="438912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2980944"/>
            <a:ext cx="54864" cy="438912"/>
          </a:xfrm>
          <a:prstGeom prst="rect">
            <a:avLst/>
          </a:prstGeom>
          <a:solidFill>
            <a:srgbClr val="06D6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298094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Zone-IA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651760" y="298094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Recreatable infrequent data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20640" y="298094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$0.01/GB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58000" y="2980944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4320" y="3456432"/>
            <a:ext cx="8595360" cy="438912"/>
          </a:xfrm>
          <a:prstGeom prst="rect">
            <a:avLst/>
          </a:prstGeom>
          <a:solidFill>
            <a:srgbClr val="1E1E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74320" y="3456432"/>
            <a:ext cx="54864" cy="438912"/>
          </a:xfrm>
          <a:prstGeom prst="rect">
            <a:avLst/>
          </a:prstGeom>
          <a:solidFill>
            <a:srgbClr val="7B68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57200" y="34564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68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Glacier Instant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651760" y="345643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with fast retrieval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120640" y="34564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$0.004/GB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858000" y="345643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Milliseconds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74320" y="3931920"/>
            <a:ext cx="8595360" cy="438912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274320" y="3931920"/>
            <a:ext cx="54864" cy="438912"/>
          </a:xfrm>
          <a:prstGeom prst="rect">
            <a:avLst/>
          </a:prstGeom>
          <a:solidFill>
            <a:srgbClr val="FF8C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57200" y="393192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8C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Glacier Flexible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2651760" y="393192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Rarely accessed archives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120640" y="39319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$0.0036/GB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858000" y="39319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1-12 hours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74320" y="4407408"/>
            <a:ext cx="8595360" cy="438912"/>
          </a:xfrm>
          <a:prstGeom prst="rect">
            <a:avLst/>
          </a:prstGeom>
          <a:solidFill>
            <a:srgbClr val="1E1E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274320" y="4407408"/>
            <a:ext cx="54864" cy="438912"/>
          </a:xfrm>
          <a:prstGeom prst="rect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57200" y="44074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47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Glacier Deep Archive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651760" y="44074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compliance data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120640" y="440740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$0.00099/GB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858000" y="440740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12-48 hrs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274320" y="4846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classes share the same 99.999999999% (11 nines) durability — your data is equally safe everywhere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to Use Which Storage Class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often do you access this data?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931920" cy="6858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600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day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965960" y="1600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S3 Standard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901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Websites, apps, APIs, active content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3931920" cy="6858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8CA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965960" y="2423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Intelligent-Tiering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AWS auto-optimize — it watches your patterns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200400"/>
            <a:ext cx="3931920" cy="6858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3246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Once a month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965960" y="3246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Standard-IA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35478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Backups, disaster recovery copies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1554480"/>
            <a:ext cx="3931920" cy="6858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92040" y="1600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8C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Once a year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63640" y="1600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Glacier Flexible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92040" y="1901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archives, old records, tax files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2377440"/>
            <a:ext cx="3931920" cy="6858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9204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7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Almost never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63640" y="2423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Deep Archive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9204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holds, 7+ year retention, audit trails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3200400"/>
            <a:ext cx="3931920" cy="6858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92040" y="3246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D1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sure yet?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63640" y="3246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Start with Standard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92040" y="35478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always move data later with lifecycle policies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06240"/>
            <a:ext cx="365760" cy="36576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09728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1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 tip: 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2011680" y="41605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cost mistake is keeping infrequently accessed data in S3 Standard. Even moving to Standard-IA saves ~45%!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agent/turn1/workspace/images/abstract-digital-security-shield-with-multiple-lay_2026-05-11T14-56-19_image_DAS_0.jpg"/>
          <p:cNvPicPr>
            <a:picLocks noChangeAspect="1"/>
          </p:cNvPicPr>
          <p:nvPr/>
        </p:nvPicPr>
        <p:blipFill>
          <a:blip r:embed="rId3">
            <a:alphaModFix amt="40000"/>
          </a:blip>
          <a:srcRect t="7813" b="7813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S3 Security Basics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news: S3 is private by default. No one can see your data unless you allow it.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1920240" cy="310896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169164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21945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7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Block Public Access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48640" y="265176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 by default on all new buckets. A master switch that prevents accidental public exposure.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606040" y="1554480"/>
            <a:ext cx="1920240" cy="310896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1691640"/>
            <a:ext cx="411480" cy="4114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697480" y="21945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IAM Policies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2697480" y="265176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which users and services can access your buckets. Attached to users or roles.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754880" y="1554480"/>
            <a:ext cx="1920240" cy="310896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1691640"/>
            <a:ext cx="411480" cy="4114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846320" y="21945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8CA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Bucket Policies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4846320" y="265176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attached to the bucket itself. Define who can do what with your data.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6903720" y="1554480"/>
            <a:ext cx="1920240" cy="310896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0" y="1691640"/>
            <a:ext cx="411480" cy="41148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995160" y="21945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8C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Encryption</a:t>
            </a:r>
            <a:endParaRPr lang="en-US" sz="1300" dirty="0"/>
          </a:p>
        </p:txBody>
      </p:sp>
      <p:sp>
        <p:nvSpPr>
          <p:cNvPr id="21" name="Text 14"/>
          <p:cNvSpPr/>
          <p:nvPr/>
        </p:nvSpPr>
        <p:spPr>
          <a:xfrm>
            <a:off x="6995160" y="2651760"/>
            <a:ext cx="1737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encrypted at rest (SSE-S3 by default) and in transit (HTTPS/TLS).</a:t>
            </a:r>
            <a:endParaRPr lang="en-US" sz="1100" dirty="0"/>
          </a:p>
        </p:txBody>
      </p:sp>
      <p:sp>
        <p:nvSpPr>
          <p:cNvPr id="22" name="Text 15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Policies Explained Simply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74904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097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IAM Policy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1554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"Who is this person and what can they do?"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9659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Attached to a user, group, or role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Travels with the person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Works across all AWS services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Example: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B8B8D0"/>
                </a:solidFill>
              </a:rPr>
              <a:t>"Alice can download files from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48CAE4"/>
                </a:solidFill>
              </a:rPr>
              <a:t>the marketing bucket"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54880" y="1005840"/>
            <a:ext cx="3931920" cy="374904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09728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097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8CA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Bucket Policy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937760" y="1554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"Who is allowed into this room?"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937760" y="19659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Attached to a specific bucket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Guards that one resource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Can grant cross-account access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Example: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B8B8D0"/>
                </a:solidFill>
              </a:rPr>
              <a:t>"Anyone from Account B can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48CAE4"/>
                </a:solidFill>
              </a:rPr>
              <a:t>read files in this bucket"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Versioning: Your Safety Net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 accidentally overwritten a file? Versioning prevents that by keeping every version of every object.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768096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25880" y="1737360"/>
            <a:ext cx="274320" cy="2743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1645920" cy="13716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report.pdf (100 KB)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37560" y="1737360"/>
            <a:ext cx="274320" cy="274320"/>
          </a:xfrm>
          <a:prstGeom prst="ellipse">
            <a:avLst/>
          </a:prstGeom>
          <a:solidFill>
            <a:srgbClr val="48CA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743200" y="2194560"/>
            <a:ext cx="1645920" cy="13716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43200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8CA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743200" y="25603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34640" y="28346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Edited version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report.pdf (120 KB)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49240" y="1737360"/>
            <a:ext cx="274320" cy="274320"/>
          </a:xfrm>
          <a:prstGeom prst="ellipse">
            <a:avLst/>
          </a:prstGeom>
          <a:solidFill>
            <a:srgbClr val="90E0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54880" y="2194560"/>
            <a:ext cx="1645920" cy="13716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54880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25603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46320" y="28346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version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report.pdf (115 KB)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60920" y="1737360"/>
            <a:ext cx="274320" cy="274320"/>
          </a:xfrm>
          <a:prstGeom prst="ellipse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766560" y="2194560"/>
            <a:ext cx="1645920" cy="13716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766560" y="224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47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766560" y="25603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Oops!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0" y="28346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Accidentally deleted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(just a marker — not gone!)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840480"/>
            <a:ext cx="8229600" cy="100584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0080" y="39319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Enable versioning per bucket — once on, it can only be suspended, not fully disabled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"Delete" just adds a delete marker — previous versions are still there and recoverable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Each version counts toward storage costs — combine with lifecycle policies to manage old versions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Lifecycle Policies: Why They Matter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you upload 10,000 log files every day. After a month, you rarely look at them. After a year, almost never.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pay premium storage rates for data you barely touch?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3931920" cy="22860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9202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468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7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Without Lifecycle Policies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283464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All data stays in S3 Standard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Old files cost the same as new ones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Manual cleanup is tedious and error-prone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Storage bills grow out of control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54880" y="1828800"/>
            <a:ext cx="3931920" cy="22860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92024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937760" y="2468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 Lifecycle Policies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937760" y="283464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Automatically move data to cheaper tiers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Delete old objects after retention period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Set it once, it runs forever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6D6A0"/>
                </a:solidFill>
              </a:rPr>
              <a:t>Can save 50-95% on storage costs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policies are rules you define once — S3 handles the rest automatically.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Lifecycle Policies: How They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37160" y="1097280"/>
            <a:ext cx="1600200" cy="1188720"/>
          </a:xfrm>
          <a:prstGeom prst="rect">
            <a:avLst/>
          </a:prstGeom>
          <a:solidFill>
            <a:srgbClr val="2A2A4A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37160" y="11887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S3 Standard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7160" y="16916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755648" y="13716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</a:rPr>
              <a:t>▶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947672" y="1097280"/>
            <a:ext cx="1600200" cy="1188720"/>
          </a:xfrm>
          <a:prstGeom prst="rect">
            <a:avLst/>
          </a:prstGeom>
          <a:solidFill>
            <a:srgbClr val="2A2A4A"/>
          </a:solidFill>
          <a:ln w="19050">
            <a:solidFill>
              <a:srgbClr val="48CA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947672" y="11887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8CA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Standard-IA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947672" y="16916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30 days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566160" y="13716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58184" y="1097280"/>
            <a:ext cx="1600200" cy="1188720"/>
          </a:xfrm>
          <a:prstGeom prst="rect">
            <a:avLst/>
          </a:prstGeom>
          <a:solidFill>
            <a:srgbClr val="2A2A4A"/>
          </a:solidFill>
          <a:ln w="19050">
            <a:solidFill>
              <a:srgbClr val="7B6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758184" y="11887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B68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Glacier Flexible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58184" y="16916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90 days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76672" y="13716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</a:rPr>
              <a:t>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568696" y="1097280"/>
            <a:ext cx="1600200" cy="1188720"/>
          </a:xfrm>
          <a:prstGeom prst="rect">
            <a:avLst/>
          </a:prstGeom>
          <a:solidFill>
            <a:srgbClr val="2A2A4A"/>
          </a:solidFill>
          <a:ln w="19050">
            <a:solidFill>
              <a:srgbClr val="FF8C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68696" y="11887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8C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Archive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568696" y="16916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180 days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87184" y="13716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</a:rPr>
              <a:t>▶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79208" y="1097280"/>
            <a:ext cx="1600200" cy="1188720"/>
          </a:xfrm>
          <a:prstGeom prst="rect">
            <a:avLst/>
          </a:prstGeom>
          <a:solidFill>
            <a:srgbClr val="2A2A4A"/>
          </a:solidFill>
          <a:ln w="19050">
            <a:solidFill>
              <a:srgbClr val="EF47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79208" y="11887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7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Delete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79208" y="16916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365 days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2560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Types of Lifecycle Actions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457200" y="3017520"/>
            <a:ext cx="3931920" cy="164592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08960"/>
            <a:ext cx="365760" cy="36576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097280" y="3108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Transition Actions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40080" y="356616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Move objects to a different storage class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Based on object age (days since creation)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Example: Move to IA after 30 days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754880" y="3017520"/>
            <a:ext cx="3931920" cy="164592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3108960"/>
            <a:ext cx="365760" cy="36576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5394960" y="3108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7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Expiration Actions</a:t>
            </a:r>
            <a:endParaRPr lang="en-US" sz="1500" dirty="0"/>
          </a:p>
        </p:txBody>
      </p:sp>
      <p:sp>
        <p:nvSpPr>
          <p:cNvPr id="30" name="Text 26"/>
          <p:cNvSpPr/>
          <p:nvPr/>
        </p:nvSpPr>
        <p:spPr>
          <a:xfrm>
            <a:off x="4937760" y="356616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Permanently delete objects after a period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Also cleans up old versions &amp; markers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Example: Delete logs after 365 days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filter rules by prefix (logs/) or tags (environment=dev) to target specific objects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Multipart Upload: The Big File Solution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F476F"/>
                </a:solidFill>
              </a:rPr>
              <a:t>The Problem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B8B8D0"/>
                </a:solidFill>
              </a:rPr>
              <a:t>Uploading a 5 GB database backup over a shaky connection? If it fails at 4.8 GB, you start over from scratch.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6D6A0"/>
                </a:solidFill>
              </a:rPr>
              <a:t>The Solution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B8B8D0"/>
                </a:solidFill>
              </a:rPr>
              <a:t>Multipart upload breaks your file into smaller pieces, uploads them in parallel, and reassembles on S3.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B4D8"/>
                </a:solidFill>
              </a:rPr>
              <a:t>When to Use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Recommended: files &gt; 100 MB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Required: files &gt; 5 GB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8B8D0"/>
                </a:solidFill>
              </a:rPr>
              <a:t>Maximum object size: 5 TB</a:t>
            </a:r>
            <a:endParaRPr lang="en-US" sz="1600" dirty="0"/>
          </a:p>
        </p:txBody>
      </p:sp>
      <p:pic>
        <p:nvPicPr>
          <p:cNvPr id="4" name="Image 0" descr="/agent/turn1/workspace/images/isometric-illustration-of-large-file-being-split-i_2026-05-11T14-50-56_image_DAS_0.jpg"/>
          <p:cNvPicPr>
            <a:picLocks noChangeAspect="1"/>
          </p:cNvPicPr>
          <p:nvPr/>
        </p:nvPicPr>
        <p:blipFill>
          <a:blip r:embed="rId3"/>
          <a:srcRect l="20735" r="20735"/>
          <a:stretch/>
        </p:blipFill>
        <p:spPr>
          <a:xfrm>
            <a:off x="5486400" y="1097280"/>
            <a:ext cx="3291840" cy="3474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Multipart Upload: How It Works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256032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23444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17373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Initiate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94360" y="2148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S3 you're starting a multipart upload. S3 gives you an Upload ID.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154680" y="19202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B4D8"/>
                </a:solidFill>
              </a:rPr>
              <a:t>▶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37560" y="1097280"/>
            <a:ext cx="2651760" cy="256032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3337560" y="1188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8CA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8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123444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74720" y="17373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8CA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Upload Parts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3474720" y="2148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your file into parts (5MB-5GB each). Upload them in parallel — failed parts can be retried individually.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035040" y="19202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B4D8"/>
                </a:solidFill>
              </a:rPr>
              <a:t>▶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6217920" y="1097280"/>
            <a:ext cx="2651760" cy="256032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217920" y="1188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8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123444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55080" y="17373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6355080" y="2148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S3 all parts are done. S3 assembles them into a single object. Done!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640080" y="3977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Benefits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42976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</a:rPr>
              <a:t>Faster</a:t>
            </a:r>
            <a:r>
              <a:rPr lang="en-US" sz="1100" dirty="0">
                <a:solidFill>
                  <a:srgbClr val="B8B8D0"/>
                </a:solidFill>
              </a:rPr>
              <a:t> — parallel uploads use more bandwidth  |  </a:t>
            </a:r>
            <a:r>
              <a:rPr lang="en-US" sz="1200" b="1" dirty="0">
                <a:solidFill>
                  <a:srgbClr val="06D6A0"/>
                </a:solidFill>
              </a:rPr>
              <a:t>Resilient</a:t>
            </a:r>
            <a:r>
              <a:rPr lang="en-US" sz="1100" dirty="0">
                <a:solidFill>
                  <a:srgbClr val="B8B8D0"/>
                </a:solidFill>
              </a:rPr>
              <a:t> — retry just the failed part  |  </a:t>
            </a:r>
            <a:r>
              <a:rPr lang="en-US" sz="1200" b="1" dirty="0">
                <a:solidFill>
                  <a:srgbClr val="FF8C42"/>
                </a:solidFill>
              </a:rPr>
              <a:t>Pausable</a:t>
            </a:r>
            <a:r>
              <a:rPr lang="en-US" sz="1100" dirty="0">
                <a:solidFill>
                  <a:srgbClr val="B8B8D0"/>
                </a:solidFill>
              </a:rPr>
              <a:t> — resume uploads later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agent/turn1/workspace/images/abstract-futuristic-data-flow-visualization-showin_2026-05-11T14-56-26_image_DAS_0.jpg"/>
          <p:cNvPicPr>
            <a:picLocks noChangeAspect="1"/>
          </p:cNvPicPr>
          <p:nvPr/>
        </p:nvPicPr>
        <p:blipFill>
          <a:blip r:embed="rId3">
            <a:alphaModFix amt="45000"/>
          </a:blip>
          <a:srcRect t="7813" b="7813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Next: Advanced S3 Features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preview of topics to explore after mastering the basics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1371600"/>
            <a:ext cx="2651760" cy="16002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508760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51560" y="14630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Replication (CRR &amp; SRR)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94360" y="19659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copy objects to another region or bucket for disaster recovery and compliance.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3337560" y="1371600"/>
            <a:ext cx="2651760" cy="16002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0" y="1508760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931920" y="14630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8C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 Notifications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3474720" y="19659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Lambda functions, SNS alerts, or SQS queues when objects are created, deleted, or modified.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6217920" y="1371600"/>
            <a:ext cx="2651760" cy="16002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150876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812280" y="14630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8CA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Static Website Hosting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6355080" y="19659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a website directly from S3 — great for SPAs, docs sites, and landing pages.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457200" y="3200400"/>
            <a:ext cx="2651760" cy="16002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337560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051560" y="3291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 Acceleration</a:t>
            </a:r>
            <a:endParaRPr lang="en-US" sz="1300" dirty="0"/>
          </a:p>
        </p:txBody>
      </p:sp>
      <p:sp>
        <p:nvSpPr>
          <p:cNvPr id="21" name="Text 14"/>
          <p:cNvSpPr/>
          <p:nvPr/>
        </p:nvSpPr>
        <p:spPr>
          <a:xfrm>
            <a:off x="594360" y="37947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up global uploads by routing through AWS edge locations — up to 500% faster.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3337560" y="3200400"/>
            <a:ext cx="2651760" cy="16002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74720" y="3337560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3931920" y="3291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7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S3 Object Lock</a:t>
            </a:r>
            <a:endParaRPr lang="en-US" sz="1300" dirty="0"/>
          </a:p>
        </p:txBody>
      </p:sp>
      <p:sp>
        <p:nvSpPr>
          <p:cNvPr id="25" name="Text 17"/>
          <p:cNvSpPr/>
          <p:nvPr/>
        </p:nvSpPr>
        <p:spPr>
          <a:xfrm>
            <a:off x="3474720" y="37947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storage to prevent deletion — required for some financial and healthcare regulations.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6217920" y="3200400"/>
            <a:ext cx="2651760" cy="16002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5080" y="3337560"/>
            <a:ext cx="365760" cy="36576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812280" y="3291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B68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S3 Access Points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6355080" y="37947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dedicated access policies for different teams or applications on the same bucket.</a:t>
            </a:r>
            <a:endParaRPr lang="en-US" sz="1000" dirty="0"/>
          </a:p>
        </p:txBody>
      </p:sp>
      <p:sp>
        <p:nvSpPr>
          <p:cNvPr id="30" name="Text 21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S3 Pricing: What You Pay For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Monthly Bill = </a:t>
            </a:r>
            <a:r>
              <a:rPr lang="en-US" sz="1300" b="1" dirty="0">
                <a:solidFill>
                  <a:srgbClr val="00B4D8"/>
                </a:solidFill>
              </a:rPr>
              <a:t>Storage </a:t>
            </a:r>
            <a:r>
              <a:rPr lang="en-US" sz="1300" dirty="0">
                <a:solidFill>
                  <a:srgbClr val="FFFFFF"/>
                </a:solidFill>
              </a:rPr>
              <a:t>+ </a:t>
            </a:r>
            <a:r>
              <a:rPr lang="en-US" sz="1300" b="1" dirty="0">
                <a:solidFill>
                  <a:srgbClr val="48CAE4"/>
                </a:solidFill>
              </a:rPr>
              <a:t>Requests </a:t>
            </a:r>
            <a:r>
              <a:rPr lang="en-US" sz="1300" dirty="0">
                <a:solidFill>
                  <a:srgbClr val="FFFFFF"/>
                </a:solidFill>
              </a:rPr>
              <a:t>+ </a:t>
            </a:r>
            <a:r>
              <a:rPr lang="en-US" sz="1300" b="1" dirty="0">
                <a:solidFill>
                  <a:srgbClr val="06D6A0"/>
                </a:solidFill>
              </a:rPr>
              <a:t>Data Transfer Out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2651760" cy="18288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8288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240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94360" y="25603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GB stored per month.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Standard: ~$0.023/GB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TB ≈ $23/month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37560" y="1737360"/>
            <a:ext cx="2651760" cy="18288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18288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337560" y="2240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8CA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Requests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474720" y="25603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fees per operation.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PUT: $0.005 per 1,000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GET: $0.0004 per 1,000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17920" y="1737360"/>
            <a:ext cx="2651760" cy="18288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82880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2240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D6A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Transfer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6355080" y="25603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Uploading is free!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Downloading: ~$0.09/GB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B8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AWS services: often free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64008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D1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 Cost-Saving Tips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40080" y="4069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B8B8D0"/>
                </a:solidFill>
              </a:rPr>
              <a:t>Use lifecycle policies to auto-transition old data to cheaper classes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B8B8D0"/>
                </a:solidFill>
              </a:rPr>
              <a:t>Use Intelligent-Tiering if you're not sure about access patterns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B8B8D0"/>
                </a:solidFill>
              </a:rPr>
              <a:t>Clean up incomplete multipart uploads (add a lifecycle rule for this)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B8B8D0"/>
                </a:solidFill>
              </a:rPr>
              <a:t>Use S3 Storage Lens (free tier) to analyze your storage usage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15568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078992"/>
            <a:ext cx="7406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stores any type of file as objects in buckets — virtually unlimited and 11 nines durable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1618488"/>
            <a:ext cx="8229600" cy="457200"/>
          </a:xfrm>
          <a:prstGeom prst="rect">
            <a:avLst/>
          </a:prstGeom>
          <a:solidFill>
            <a:srgbClr val="1E1E3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82496"/>
            <a:ext cx="320040" cy="320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1645920"/>
            <a:ext cx="7406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right storage class for your access pattern — it's the single biggest cost lever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457200" y="2185416"/>
            <a:ext cx="8229600" cy="4572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249424"/>
            <a:ext cx="320040" cy="3200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97280" y="2212848"/>
            <a:ext cx="7406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is private by default — use IAM policies, bucket policies, and Block Public Access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457200" y="2752344"/>
            <a:ext cx="8229600" cy="457200"/>
          </a:xfrm>
          <a:prstGeom prst="rect">
            <a:avLst/>
          </a:prstGeom>
          <a:solidFill>
            <a:srgbClr val="1E1E3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2816352"/>
            <a:ext cx="320040" cy="32004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97280" y="2779776"/>
            <a:ext cx="7406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versioning to protect against accidental deletes and overwrites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457200" y="3319272"/>
            <a:ext cx="8229600" cy="4572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3383280"/>
            <a:ext cx="320040" cy="32004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97280" y="3346704"/>
            <a:ext cx="7406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policies automate cost optimization — set them up early and save 50-95%</a:t>
            </a:r>
            <a:endParaRPr lang="en-US" sz="1200" dirty="0"/>
          </a:p>
        </p:txBody>
      </p:sp>
      <p:sp>
        <p:nvSpPr>
          <p:cNvPr id="18" name="Shape 11"/>
          <p:cNvSpPr/>
          <p:nvPr/>
        </p:nvSpPr>
        <p:spPr>
          <a:xfrm>
            <a:off x="457200" y="3886200"/>
            <a:ext cx="8229600" cy="457200"/>
          </a:xfrm>
          <a:prstGeom prst="rect">
            <a:avLst/>
          </a:prstGeom>
          <a:solidFill>
            <a:srgbClr val="1E1E3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3950208"/>
            <a:ext cx="320040" cy="32004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097280" y="3913632"/>
            <a:ext cx="7406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multipart upload for files over 100 MB — faster, more reliable, and resumable</a:t>
            </a:r>
            <a:endParaRPr lang="en-US" sz="1200" dirty="0"/>
          </a:p>
        </p:txBody>
      </p:sp>
      <p:sp>
        <p:nvSpPr>
          <p:cNvPr id="21" name="Shape 13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solidFill>
            <a:srgbClr val="2A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4"/>
          <p:cNvSpPr/>
          <p:nvPr/>
        </p:nvSpPr>
        <p:spPr>
          <a:xfrm>
            <a:off x="640080" y="4572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steps: Try creating a bucket, upload some files, enable versioning, and set a lifecycle rule!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777240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2920</TotalTime>
  <Words>2038</Words>
  <Application>Microsoft Macintosh PowerPoint</Application>
  <PresentationFormat>On-screen Show (16:9)</PresentationFormat>
  <Paragraphs>383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Matkawala</dc:creator>
  <cp:lastModifiedBy>Atul Matkawala</cp:lastModifiedBy>
  <cp:revision>1</cp:revision>
  <dcterms:created xsi:type="dcterms:W3CDTF">2026-05-11T13:24:53Z</dcterms:created>
  <dcterms:modified xsi:type="dcterms:W3CDTF">2026-05-15T11:43:51Z</dcterms:modified>
</cp:coreProperties>
</file>