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
  </p:notesMasterIdLst>
  <p:sldIdLst>
    <p:sldId id="256" r:id="rId3"/>
    <p:sldId id="257" r:id="rId4"/>
    <p:sldId id="258" r:id="rId5"/>
    <p:sldId id="259" r:id="rId6"/>
    <p:sldId id="270" r:id="rId7"/>
    <p:sldId id="263" r:id="rId8"/>
    <p:sldId id="264" r:id="rId9"/>
    <p:sldId id="269" r:id="rId10"/>
    <p:sldId id="272" r:id="rId11"/>
    <p:sldId id="265" r:id="rId12"/>
    <p:sldId id="266" r:id="rId13"/>
    <p:sldId id="267" r:id="rId14"/>
    <p:sldId id="268" r:id="rId15"/>
    <p:sldId id="273"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D1DA15-92C4-7141-8803-A0823A9FDB44}" v="6" dt="2026-05-06T07:20:30.8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68"/>
    <p:restoredTop sz="94658"/>
  </p:normalViewPr>
  <p:slideViewPr>
    <p:cSldViewPr snapToGrid="0">
      <p:cViewPr varScale="1">
        <p:scale>
          <a:sx n="160" d="100"/>
          <a:sy n="160" d="100"/>
        </p:scale>
        <p:origin x="904" y="176"/>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doughnutChart>
        <c:varyColors val="1"/>
        <c:ser>
          <c:idx val="0"/>
          <c:order val="0"/>
          <c:tx>
            <c:strRef>
              <c:f>Sheet1!$B$1</c:f>
              <c:strCache>
                <c:ptCount val="1"/>
                <c:pt idx="0">
                  <c:v>Adoption</c:v>
                </c:pt>
              </c:strCache>
            </c:strRef>
          </c:tx>
          <c:spPr>
            <a:solidFill>
              <a:schemeClr val="accent1"/>
            </a:solidFill>
            <a:ln w="9525" cap="flat">
              <a:solidFill>
                <a:srgbClr val="F9F9F9"/>
              </a:solidFill>
              <a:prstDash val="solid"/>
              <a:round/>
            </a:ln>
            <a:effectLst/>
          </c:spPr>
          <c:dPt>
            <c:idx val="0"/>
            <c:bubble3D val="0"/>
            <c:spPr>
              <a:solidFill>
                <a:srgbClr val="21D4FD"/>
              </a:solidFill>
              <a:effectLst/>
            </c:spPr>
            <c:extLst>
              <c:ext xmlns:c16="http://schemas.microsoft.com/office/drawing/2014/chart" uri="{C3380CC4-5D6E-409C-BE32-E72D297353CC}">
                <c16:uniqueId val="{00000001-96FB-8C4D-B263-AEAE604BC4F6}"/>
              </c:ext>
            </c:extLst>
          </c:dPt>
          <c:dPt>
            <c:idx val="1"/>
            <c:bubble3D val="0"/>
            <c:spPr>
              <a:solidFill>
                <a:srgbClr val="38BDF8"/>
              </a:solidFill>
              <a:effectLst/>
            </c:spPr>
            <c:extLst>
              <c:ext xmlns:c16="http://schemas.microsoft.com/office/drawing/2014/chart" uri="{C3380CC4-5D6E-409C-BE32-E72D297353CC}">
                <c16:uniqueId val="{00000003-96FB-8C4D-B263-AEAE604BC4F6}"/>
              </c:ext>
            </c:extLst>
          </c:dPt>
          <c:dPt>
            <c:idx val="2"/>
            <c:bubble3D val="0"/>
            <c:spPr>
              <a:solidFill>
                <a:srgbClr val="818CF8"/>
              </a:solidFill>
              <a:effectLst/>
            </c:spPr>
            <c:extLst>
              <c:ext xmlns:c16="http://schemas.microsoft.com/office/drawing/2014/chart" uri="{C3380CC4-5D6E-409C-BE32-E72D297353CC}">
                <c16:uniqueId val="{00000005-96FB-8C4D-B263-AEAE604BC4F6}"/>
              </c:ext>
            </c:extLst>
          </c:dPt>
          <c:dPt>
            <c:idx val="3"/>
            <c:bubble3D val="0"/>
            <c:spPr>
              <a:solidFill>
                <a:srgbClr val="1A3A5C"/>
              </a:solidFill>
              <a:effectLst/>
            </c:spPr>
            <c:extLst>
              <c:ext xmlns:c16="http://schemas.microsoft.com/office/drawing/2014/chart" uri="{C3380CC4-5D6E-409C-BE32-E72D297353CC}">
                <c16:uniqueId val="{00000007-96FB-8C4D-B263-AEAE604BC4F6}"/>
              </c:ext>
            </c:extLst>
          </c:dPt>
          <c:dLbls>
            <c:dLbl>
              <c:idx val="0"/>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96FB-8C4D-B263-AEAE604BC4F6}"/>
                </c:ext>
              </c:extLst>
            </c:dLbl>
            <c:dLbl>
              <c:idx val="1"/>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96FB-8C4D-B263-AEAE604BC4F6}"/>
                </c:ext>
              </c:extLst>
            </c:dLbl>
            <c:dLbl>
              <c:idx val="2"/>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96FB-8C4D-B263-AEAE604BC4F6}"/>
                </c:ext>
              </c:extLst>
            </c:dLbl>
            <c:dLbl>
              <c:idx val="3"/>
              <c:numFmt formatCode="0%" sourceLinked="0"/>
              <c:spPr/>
              <c:txPr>
                <a:bodyPr/>
                <a:lstStyle/>
                <a:p>
                  <a:pPr>
                    <a:defRPr sz="900" b="0"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96FB-8C4D-B263-AEAE604BC4F6}"/>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Sheet1!$A$2:$A$5</c:f>
              <c:strCache>
                <c:ptCount val="4"/>
                <c:pt idx="0">
                  <c:v>Kubernetes</c:v>
                </c:pt>
                <c:pt idx="1">
                  <c:v>Docker Swarm</c:v>
                </c:pt>
                <c:pt idx="2">
                  <c:v>Mesos</c:v>
                </c:pt>
                <c:pt idx="3">
                  <c:v>Other</c:v>
                </c:pt>
              </c:strCache>
            </c:strRef>
          </c:cat>
          <c:val>
            <c:numRef>
              <c:f>Sheet1!$B$2:$B$5</c:f>
              <c:numCache>
                <c:formatCode>General</c:formatCode>
                <c:ptCount val="4"/>
                <c:pt idx="0">
                  <c:v>67</c:v>
                </c:pt>
                <c:pt idx="1">
                  <c:v>12</c:v>
                </c:pt>
                <c:pt idx="2">
                  <c:v>6</c:v>
                </c:pt>
                <c:pt idx="3">
                  <c:v>15</c:v>
                </c:pt>
              </c:numCache>
            </c:numRef>
          </c:val>
          <c:extLst>
            <c:ext xmlns:c16="http://schemas.microsoft.com/office/drawing/2014/chart" uri="{C3380CC4-5D6E-409C-BE32-E72D297353CC}">
              <c16:uniqueId val="{00000008-96FB-8C4D-B263-AEAE604BC4F6}"/>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r"/>
      <c:overlay val="0"/>
      <c:txPr>
        <a:bodyPr/>
        <a:lstStyle/>
        <a:p>
          <a:pPr>
            <a:defRPr sz="900">
              <a:solidFill>
                <a:srgbClr val="94A3B8"/>
              </a:solidFill>
            </a:defRPr>
          </a:pPr>
          <a:endParaRPr lang="en-US"/>
        </a:p>
      </c:txPr>
    </c:legend>
    <c:plotVisOnly val="1"/>
    <c:dispBlanksAs val="span"/>
    <c:showDLblsOverMax val="1"/>
  </c:chart>
  <c:spPr>
    <a:solidFill>
      <a:srgbClr val="0F1B2D"/>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3398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473AF4-FE95-07E3-03A7-D8491DBB3969}"/>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0CF8F214-7D57-74C1-86F0-A12C2147A6A8}"/>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00EAD7E1-78C4-47E7-D3BE-6C2D32A98BB8}"/>
              </a:ext>
            </a:extLst>
          </p:cNvPr>
          <p:cNvSpPr>
            <a:spLocks noGrp="1"/>
          </p:cNvSpPr>
          <p:nvPr>
            <p:ph type="dt" sz="half" idx="10"/>
          </p:nvPr>
        </p:nvSpPr>
        <p:spPr/>
        <p:txBody>
          <a:bodyPr/>
          <a:lstStyle/>
          <a:p>
            <a:fld id="{0F3CFAD1-A876-C84C-A75C-A8AC49A4EEFA}" type="datetimeFigureOut">
              <a:rPr lang="en-US" smtClean="0"/>
              <a:t>5/6/26</a:t>
            </a:fld>
            <a:endParaRPr lang="en-US"/>
          </a:p>
        </p:txBody>
      </p:sp>
      <p:sp>
        <p:nvSpPr>
          <p:cNvPr id="5" name="Footer Placeholder 4">
            <a:extLst>
              <a:ext uri="{FF2B5EF4-FFF2-40B4-BE49-F238E27FC236}">
                <a16:creationId xmlns:a16="http://schemas.microsoft.com/office/drawing/2014/main" id="{B209BADC-185C-F150-92A2-D91D68B4FB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BD0F04-46D2-9230-A4BA-6FF1353B64B3}"/>
              </a:ext>
            </a:extLst>
          </p:cNvPr>
          <p:cNvSpPr>
            <a:spLocks noGrp="1"/>
          </p:cNvSpPr>
          <p:nvPr>
            <p:ph type="sldNum" sz="quarter" idx="12"/>
          </p:nvPr>
        </p:nvSpPr>
        <p:spPr/>
        <p:txBody>
          <a:bodyPr/>
          <a:lstStyle/>
          <a:p>
            <a:fld id="{8CF7B23C-4AC3-8D43-B705-1313E3753087}" type="slidenum">
              <a:rPr lang="en-US" smtClean="0"/>
              <a:t>‹#›</a:t>
            </a:fld>
            <a:endParaRPr lang="en-US"/>
          </a:p>
        </p:txBody>
      </p:sp>
    </p:spTree>
    <p:extLst>
      <p:ext uri="{BB962C8B-B14F-4D97-AF65-F5344CB8AC3E}">
        <p14:creationId xmlns:p14="http://schemas.microsoft.com/office/powerpoint/2010/main" val="23035629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AF4E5-D5CC-70EB-5CCC-B264250CBF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BE1ACC1-4FFA-DE03-F01D-63B560CAD3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5F58492-B11C-7400-8A40-456C4AA321EF}"/>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5" name="Footer Placeholder 4">
            <a:extLst>
              <a:ext uri="{FF2B5EF4-FFF2-40B4-BE49-F238E27FC236}">
                <a16:creationId xmlns:a16="http://schemas.microsoft.com/office/drawing/2014/main" id="{17D5A4AC-9516-EAAC-45E1-DC8FF94740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EAFB14-842E-E54D-B6AF-30F03C6DFEE4}"/>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797298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A74D2-5C15-02C8-34A1-540D28C4462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CBAFF-80CF-D2BB-4B59-22013E21E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81CB07-0F45-253B-DEBF-14D06D3703D6}"/>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5" name="Footer Placeholder 4">
            <a:extLst>
              <a:ext uri="{FF2B5EF4-FFF2-40B4-BE49-F238E27FC236}">
                <a16:creationId xmlns:a16="http://schemas.microsoft.com/office/drawing/2014/main" id="{5A856926-970C-BB63-8CC7-DC19FC6778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B7D07D-A499-CA69-9BA7-A19DE9E6DB0D}"/>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16837468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E6EED-6F85-A0F3-7186-B6978E5B95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8CD1BF1-2C96-BA27-411A-97CB7B80F9C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A495DAE-196E-891F-BC55-D6A81045963A}"/>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5" name="Footer Placeholder 4">
            <a:extLst>
              <a:ext uri="{FF2B5EF4-FFF2-40B4-BE49-F238E27FC236}">
                <a16:creationId xmlns:a16="http://schemas.microsoft.com/office/drawing/2014/main" id="{101DCCF4-A09F-58F4-567B-7D9C1E3728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A664AE-6FD7-09D4-5FA5-4E0A5E2ABB7B}"/>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663234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5E286-E5DA-7155-19C6-9F715E3E38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397486F-1F66-8AC1-261E-8AB46AE1341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A8DF0BB-4229-6ADB-68E5-781B7AA30E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BAC6A8-5922-FB3B-3CEB-57F22F9429BE}"/>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6" name="Footer Placeholder 5">
            <a:extLst>
              <a:ext uri="{FF2B5EF4-FFF2-40B4-BE49-F238E27FC236}">
                <a16:creationId xmlns:a16="http://schemas.microsoft.com/office/drawing/2014/main" id="{A84CF43E-D23D-75F6-6DF0-00A6D0B4F4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66646D-B60F-D69C-311E-0666F71C801A}"/>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8175875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DA04A-064A-F352-A0BB-791541F0133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3A8D15-B790-A22C-28DC-509294E679A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DA335AC-74B1-B5CF-410B-0EA5D67172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4E666E-4FCD-EE2A-803C-AEC49A3858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108FC4-834A-9393-E60F-5B30602145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74201E8-588E-4ED6-3D60-0F908FC8733B}"/>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8" name="Footer Placeholder 7">
            <a:extLst>
              <a:ext uri="{FF2B5EF4-FFF2-40B4-BE49-F238E27FC236}">
                <a16:creationId xmlns:a16="http://schemas.microsoft.com/office/drawing/2014/main" id="{D8D8A062-2C76-70BA-D409-EDF4D1DA0F7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CDD846F-008B-BB82-4271-7D6A6568D6D3}"/>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12780901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F9FC1-8EBA-10CF-A1C3-5B36E4C78D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CC66FD2-B266-B240-59BE-2F24AAB5A3B1}"/>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4" name="Footer Placeholder 3">
            <a:extLst>
              <a:ext uri="{FF2B5EF4-FFF2-40B4-BE49-F238E27FC236}">
                <a16:creationId xmlns:a16="http://schemas.microsoft.com/office/drawing/2014/main" id="{882F3989-7CA2-9234-8176-1EC01706684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BB1B1E3-82D5-A385-5BB1-0C4372AAD9CF}"/>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999169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45AACC-C765-D671-A4B9-AFA846B4D7A8}"/>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3" name="Footer Placeholder 2">
            <a:extLst>
              <a:ext uri="{FF2B5EF4-FFF2-40B4-BE49-F238E27FC236}">
                <a16:creationId xmlns:a16="http://schemas.microsoft.com/office/drawing/2014/main" id="{FD0D75B2-F271-4AB4-EBEC-022929CF71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2B83C48-82A7-0C64-817B-D7BBFFBF9F48}"/>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22523312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3CB12-E453-B8AB-0455-2703803129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A94E6F8-1BC9-7A89-A3B1-9FB031C6002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E8D6FEA-C6AA-D532-B3A9-6BA9E17D4D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67BFD5-2017-348A-B2FF-4FE18C1C3332}"/>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6" name="Footer Placeholder 5">
            <a:extLst>
              <a:ext uri="{FF2B5EF4-FFF2-40B4-BE49-F238E27FC236}">
                <a16:creationId xmlns:a16="http://schemas.microsoft.com/office/drawing/2014/main" id="{EC901616-E60E-D9D2-9D4F-B97FA601AA1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523D9F-7657-00EC-B80C-8BA0E6263022}"/>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1624343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44C2F-8E8B-964F-EF6E-3295079436D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34282DE-6CB3-AD9A-3F5D-B0B649829E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1542814-C72E-5BAD-9133-7DFAC4456C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342A6B-8EB2-567C-83B2-8EB64AD3AC0E}"/>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6" name="Footer Placeholder 5">
            <a:extLst>
              <a:ext uri="{FF2B5EF4-FFF2-40B4-BE49-F238E27FC236}">
                <a16:creationId xmlns:a16="http://schemas.microsoft.com/office/drawing/2014/main" id="{76E0FBC5-94EF-88BB-738F-3C97E2CED0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C2B952-17CB-F828-0868-05F1FA81BF1F}"/>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2372575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72255F-3C4E-CE8A-B029-AF1EE413B7D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96C0511-3E40-5DA7-D059-1EC03C8EFC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850AEC-3D8C-86D1-75C6-9FFCAD100663}"/>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5" name="Footer Placeholder 4">
            <a:extLst>
              <a:ext uri="{FF2B5EF4-FFF2-40B4-BE49-F238E27FC236}">
                <a16:creationId xmlns:a16="http://schemas.microsoft.com/office/drawing/2014/main" id="{AA6D6DFB-0622-53E3-81FA-3CBB1508B4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73BB93-BAFF-1A77-5617-C7D911FBA3EF}"/>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41278611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47FF8E-63A9-009D-5F32-5F88F3FAF15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6F65DB7-B596-982C-71D7-7102ACEFA9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F048A5-C01F-40EB-1B07-4CF9A6340FC5}"/>
              </a:ext>
            </a:extLst>
          </p:cNvPr>
          <p:cNvSpPr>
            <a:spLocks noGrp="1"/>
          </p:cNvSpPr>
          <p:nvPr>
            <p:ph type="dt" sz="half" idx="10"/>
          </p:nvPr>
        </p:nvSpPr>
        <p:spPr/>
        <p:txBody>
          <a:bodyPr/>
          <a:lstStyle/>
          <a:p>
            <a:fld id="{C2379810-950C-1B49-A583-1056A4EBE064}" type="datetimeFigureOut">
              <a:rPr lang="en-US" smtClean="0"/>
              <a:t>5/6/26</a:t>
            </a:fld>
            <a:endParaRPr lang="en-US"/>
          </a:p>
        </p:txBody>
      </p:sp>
      <p:sp>
        <p:nvSpPr>
          <p:cNvPr id="5" name="Footer Placeholder 4">
            <a:extLst>
              <a:ext uri="{FF2B5EF4-FFF2-40B4-BE49-F238E27FC236}">
                <a16:creationId xmlns:a16="http://schemas.microsoft.com/office/drawing/2014/main" id="{EC358939-34C8-C196-7445-4458EAE824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F03797-54F3-D64A-D2FC-B4FE400FB33A}"/>
              </a:ext>
            </a:extLst>
          </p:cNvPr>
          <p:cNvSpPr>
            <a:spLocks noGrp="1"/>
          </p:cNvSpPr>
          <p:nvPr>
            <p:ph type="sldNum" sz="quarter" idx="12"/>
          </p:nvPr>
        </p:nvSpPr>
        <p:spPr/>
        <p:txBody>
          <a:bodyPr/>
          <a:lstStyle/>
          <a:p>
            <a:fld id="{66C3AED5-59BA-9B44-8D12-589F7CF581E7}" type="slidenum">
              <a:rPr lang="en-US" smtClean="0"/>
              <a:t>‹#›</a:t>
            </a:fld>
            <a:endParaRPr lang="en-US"/>
          </a:p>
        </p:txBody>
      </p:sp>
    </p:spTree>
    <p:extLst>
      <p:ext uri="{BB962C8B-B14F-4D97-AF65-F5344CB8AC3E}">
        <p14:creationId xmlns:p14="http://schemas.microsoft.com/office/powerpoint/2010/main" val="369953797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7B84DF-B9AC-3779-9555-B07D2415AC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83E74D5-873C-E239-C9D1-2DE84B868C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52C839-B729-D4D3-8B68-F8FE6FACF7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2379810-950C-1B49-A583-1056A4EBE064}" type="datetimeFigureOut">
              <a:rPr lang="en-US" smtClean="0"/>
              <a:t>5/6/26</a:t>
            </a:fld>
            <a:endParaRPr lang="en-US"/>
          </a:p>
        </p:txBody>
      </p:sp>
      <p:sp>
        <p:nvSpPr>
          <p:cNvPr id="5" name="Footer Placeholder 4">
            <a:extLst>
              <a:ext uri="{FF2B5EF4-FFF2-40B4-BE49-F238E27FC236}">
                <a16:creationId xmlns:a16="http://schemas.microsoft.com/office/drawing/2014/main" id="{43B34417-08FB-AED1-5A2C-48840BD954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382911A-FFB0-6F57-376F-8FDF4E5164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C3AED5-59BA-9B44-8D12-589F7CF581E7}" type="slidenum">
              <a:rPr lang="en-US" smtClean="0"/>
              <a:t>‹#›</a:t>
            </a:fld>
            <a:endParaRPr lang="en-US"/>
          </a:p>
        </p:txBody>
      </p:sp>
    </p:spTree>
    <p:extLst>
      <p:ext uri="{BB962C8B-B14F-4D97-AF65-F5344CB8AC3E}">
        <p14:creationId xmlns:p14="http://schemas.microsoft.com/office/powerpoint/2010/main" val="1944492954"/>
      </p:ext>
    </p:extLst>
  </p:cSld>
  <p:clrMap bg1="lt1" tx1="dk1" bg2="lt2" tx2="dk2" accent1="accent1" accent2="accent2" accent3="accent3" accent4="accent4" accent5="accent5" accent6="accent6" hlink="hlink" folHlink="folHlink"/>
  <p:sldLayoutIdLst>
    <p:sldLayoutId id="2147483661"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jpg"/><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alpha val="55000"/>
            </a:srgbClr>
          </a:solidFill>
          <a:ln/>
        </p:spPr>
        <p:txBody>
          <a:bodyPr/>
          <a:lstStyle/>
          <a:p>
            <a:endParaRPr lang="en-US"/>
          </a:p>
        </p:txBody>
      </p:sp>
      <p:sp>
        <p:nvSpPr>
          <p:cNvPr id="3" name="Text 1"/>
          <p:cNvSpPr/>
          <p:nvPr/>
        </p:nvSpPr>
        <p:spPr>
          <a:xfrm>
            <a:off x="731520" y="914400"/>
            <a:ext cx="7680960" cy="2011680"/>
          </a:xfrm>
          <a:prstGeom prst="rect">
            <a:avLst/>
          </a:prstGeom>
          <a:noFill/>
          <a:ln/>
        </p:spPr>
        <p:txBody>
          <a:bodyPr wrap="square" lIns="0" tIns="0" rIns="0" bIns="0" rtlCol="0" anchor="ctr"/>
          <a:lstStyle/>
          <a:p>
            <a:pPr marL="0" indent="0" algn="l">
              <a:lnSpc>
                <a:spcPct val="110000"/>
              </a:lnSpc>
              <a:buNone/>
            </a:pPr>
            <a:r>
              <a:rPr lang="en-US" sz="4200" b="1" dirty="0">
                <a:solidFill>
                  <a:srgbClr val="FFFFFF"/>
                </a:solidFill>
                <a:latin typeface="Trebuchet MS" pitchFamily="34" charset="0"/>
                <a:ea typeface="Trebuchet MS" pitchFamily="34" charset="-122"/>
                <a:cs typeface="Trebuchet MS" pitchFamily="34" charset="-120"/>
              </a:rPr>
              <a:t>Container Orchestration</a:t>
            </a:r>
            <a:endParaRPr lang="en-US" sz="4200" dirty="0"/>
          </a:p>
          <a:p>
            <a:pPr marL="0" indent="0" algn="l">
              <a:lnSpc>
                <a:spcPct val="110000"/>
              </a:lnSpc>
              <a:buNone/>
            </a:pPr>
            <a:r>
              <a:rPr lang="en-US" sz="4200" b="1" dirty="0">
                <a:solidFill>
                  <a:srgbClr val="FFFFFF"/>
                </a:solidFill>
                <a:latin typeface="Trebuchet MS" pitchFamily="34" charset="0"/>
                <a:ea typeface="Trebuchet MS" pitchFamily="34" charset="-122"/>
                <a:cs typeface="Trebuchet MS" pitchFamily="34" charset="-120"/>
              </a:rPr>
              <a:t>Technologies</a:t>
            </a:r>
            <a:endParaRPr lang="en-US" sz="4200" dirty="0"/>
          </a:p>
        </p:txBody>
      </p:sp>
      <p:sp>
        <p:nvSpPr>
          <p:cNvPr id="4" name="Text 2"/>
          <p:cNvSpPr/>
          <p:nvPr/>
        </p:nvSpPr>
        <p:spPr>
          <a:xfrm>
            <a:off x="731520" y="3108960"/>
            <a:ext cx="6400800" cy="640080"/>
          </a:xfrm>
          <a:prstGeom prst="rect">
            <a:avLst/>
          </a:prstGeom>
          <a:noFill/>
          <a:ln/>
        </p:spPr>
        <p:txBody>
          <a:bodyPr wrap="square" lIns="0" tIns="0" rIns="0" bIns="0" rtlCol="0" anchor="t"/>
          <a:lstStyle/>
          <a:p>
            <a:pPr marL="0" indent="0" algn="l">
              <a:buNone/>
            </a:pPr>
            <a:r>
              <a:rPr lang="en-US" sz="1600" dirty="0">
                <a:solidFill>
                  <a:srgbClr val="21D4FD"/>
                </a:solidFill>
                <a:latin typeface="Calibri" pitchFamily="34" charset="0"/>
                <a:ea typeface="Calibri" pitchFamily="34" charset="-122"/>
                <a:cs typeface="Calibri" pitchFamily="34" charset="-120"/>
              </a:rPr>
              <a:t>Introduction into Kubernetes, Docker Swarm, Managed Services &amp; Enterprise Platforms</a:t>
            </a:r>
            <a:endParaRPr lang="en-US" sz="1600" dirty="0"/>
          </a:p>
        </p:txBody>
      </p:sp>
      <p:sp>
        <p:nvSpPr>
          <p:cNvPr id="5" name="Text 3"/>
          <p:cNvSpPr/>
          <p:nvPr/>
        </p:nvSpPr>
        <p:spPr>
          <a:xfrm>
            <a:off x="731520" y="4114800"/>
            <a:ext cx="2743200" cy="365760"/>
          </a:xfrm>
          <a:prstGeom prst="rect">
            <a:avLst/>
          </a:prstGeom>
          <a:noFill/>
          <a:ln/>
        </p:spPr>
        <p:txBody>
          <a:bodyPr wrap="square" lIns="0" tIns="0" rIns="0" bIns="0" rtlCol="0" anchor="ctr"/>
          <a:lstStyle/>
          <a:p>
            <a:pPr marL="0" indent="0" algn="l">
              <a:buNone/>
            </a:pPr>
            <a:r>
              <a:rPr lang="en-US" sz="1300" dirty="0">
                <a:solidFill>
                  <a:srgbClr val="CBD5E1"/>
                </a:solidFill>
                <a:latin typeface="Calibri" pitchFamily="34" charset="0"/>
                <a:ea typeface="Calibri" pitchFamily="34" charset="-122"/>
                <a:cs typeface="Calibri" pitchFamily="34" charset="-120"/>
              </a:rPr>
              <a:t>May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Core Orchestration Platforms</a:t>
            </a:r>
            <a:endParaRPr lang="en-US" sz="2800" dirty="0"/>
          </a:p>
        </p:txBody>
      </p:sp>
      <p:sp>
        <p:nvSpPr>
          <p:cNvPr id="3" name="Shape 1"/>
          <p:cNvSpPr/>
          <p:nvPr/>
        </p:nvSpPr>
        <p:spPr>
          <a:xfrm>
            <a:off x="685800" y="960120"/>
            <a:ext cx="2468880" cy="3749040"/>
          </a:xfrm>
          <a:prstGeom prst="rect">
            <a:avLst/>
          </a:prstGeom>
          <a:solidFill>
            <a:srgbClr val="0D2137"/>
          </a:solidFill>
          <a:ln/>
          <a:effectLst>
            <a:outerShdw blurRad="101600" dist="38100" dir="8100000" algn="bl" rotWithShape="0">
              <a:srgbClr val="000000">
                <a:alpha val="30000"/>
              </a:srgbClr>
            </a:outerShdw>
          </a:effectLst>
        </p:spPr>
        <p:txBody>
          <a:bodyPr/>
          <a:lstStyle/>
          <a:p>
            <a:endParaRPr lang="en-US"/>
          </a:p>
        </p:txBody>
      </p:sp>
      <p:pic>
        <p:nvPicPr>
          <p:cNvPr id="4" name="Image 0" descr="preencoded.png"/>
          <p:cNvPicPr>
            <a:picLocks noChangeAspect="1"/>
          </p:cNvPicPr>
          <p:nvPr/>
        </p:nvPicPr>
        <p:blipFill>
          <a:blip r:embed="rId3"/>
          <a:stretch>
            <a:fillRect/>
          </a:stretch>
        </p:blipFill>
        <p:spPr>
          <a:xfrm>
            <a:off x="960120" y="1188720"/>
            <a:ext cx="365760" cy="365760"/>
          </a:xfrm>
          <a:prstGeom prst="rect">
            <a:avLst/>
          </a:prstGeom>
        </p:spPr>
      </p:pic>
      <p:sp>
        <p:nvSpPr>
          <p:cNvPr id="5" name="Text 2"/>
          <p:cNvSpPr/>
          <p:nvPr/>
        </p:nvSpPr>
        <p:spPr>
          <a:xfrm>
            <a:off x="1417320" y="1143000"/>
            <a:ext cx="1645920" cy="411480"/>
          </a:xfrm>
          <a:prstGeom prst="rect">
            <a:avLst/>
          </a:prstGeom>
          <a:noFill/>
          <a:ln/>
        </p:spPr>
        <p:txBody>
          <a:bodyPr wrap="square" lIns="0" tIns="0" rIns="0" bIns="0" rtlCol="0" anchor="ctr"/>
          <a:lstStyle/>
          <a:p>
            <a:pPr marL="0" indent="0" algn="l">
              <a:buNone/>
            </a:pPr>
            <a:r>
              <a:rPr lang="en-US" sz="1800" b="1" dirty="0">
                <a:solidFill>
                  <a:srgbClr val="FFFFFF"/>
                </a:solidFill>
                <a:latin typeface="Trebuchet MS" pitchFamily="34" charset="0"/>
                <a:ea typeface="Trebuchet MS" pitchFamily="34" charset="-122"/>
                <a:cs typeface="Trebuchet MS" pitchFamily="34" charset="-120"/>
              </a:rPr>
              <a:t>Kubernetes</a:t>
            </a:r>
            <a:endParaRPr lang="en-US" sz="1800" dirty="0"/>
          </a:p>
        </p:txBody>
      </p:sp>
      <p:sp>
        <p:nvSpPr>
          <p:cNvPr id="6" name="Shape 3"/>
          <p:cNvSpPr/>
          <p:nvPr/>
        </p:nvSpPr>
        <p:spPr>
          <a:xfrm>
            <a:off x="960120" y="1691640"/>
            <a:ext cx="1920240" cy="256032"/>
          </a:xfrm>
          <a:prstGeom prst="rect">
            <a:avLst/>
          </a:prstGeom>
          <a:solidFill>
            <a:srgbClr val="21D4FD">
              <a:alpha val="20000"/>
            </a:srgbClr>
          </a:solidFill>
          <a:ln/>
        </p:spPr>
        <p:txBody>
          <a:bodyPr/>
          <a:lstStyle/>
          <a:p>
            <a:endParaRPr lang="en-US"/>
          </a:p>
        </p:txBody>
      </p:sp>
      <p:sp>
        <p:nvSpPr>
          <p:cNvPr id="7" name="Text 4"/>
          <p:cNvSpPr/>
          <p:nvPr/>
        </p:nvSpPr>
        <p:spPr>
          <a:xfrm>
            <a:off x="960120" y="1673352"/>
            <a:ext cx="1920240" cy="292608"/>
          </a:xfrm>
          <a:prstGeom prst="rect">
            <a:avLst/>
          </a:prstGeom>
          <a:noFill/>
          <a:ln/>
        </p:spPr>
        <p:txBody>
          <a:bodyPr wrap="square" lIns="0" tIns="0" rIns="0" bIns="0" rtlCol="0" anchor="ctr"/>
          <a:lstStyle/>
          <a:p>
            <a:pPr marL="0" indent="0" algn="ctr">
              <a:buNone/>
            </a:pPr>
            <a:r>
              <a:rPr lang="en-US" sz="1000" b="1" dirty="0">
                <a:solidFill>
                  <a:srgbClr val="21D4FD"/>
                </a:solidFill>
                <a:latin typeface="Calibri" pitchFamily="34" charset="0"/>
                <a:ea typeface="Calibri" pitchFamily="34" charset="-122"/>
                <a:cs typeface="Calibri" pitchFamily="34" charset="-120"/>
              </a:rPr>
              <a:t>Industry Standard</a:t>
            </a:r>
            <a:endParaRPr lang="en-US" sz="1000" dirty="0"/>
          </a:p>
        </p:txBody>
      </p:sp>
      <p:sp>
        <p:nvSpPr>
          <p:cNvPr id="8" name="Text 5"/>
          <p:cNvSpPr/>
          <p:nvPr/>
        </p:nvSpPr>
        <p:spPr>
          <a:xfrm>
            <a:off x="960120" y="2148840"/>
            <a:ext cx="1920240" cy="23774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Most widely adopted orchestration platform</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Massive ecosystem &amp; community</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Hybrid and multicloud support</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Highly extensible (CRDs, Operators, GitOps)</a:t>
            </a:r>
            <a:endParaRPr lang="en-US" sz="1100" dirty="0"/>
          </a:p>
        </p:txBody>
      </p:sp>
      <p:sp>
        <p:nvSpPr>
          <p:cNvPr id="9" name="Shape 6"/>
          <p:cNvSpPr/>
          <p:nvPr/>
        </p:nvSpPr>
        <p:spPr>
          <a:xfrm>
            <a:off x="3566160" y="960120"/>
            <a:ext cx="2468880" cy="3749040"/>
          </a:xfrm>
          <a:prstGeom prst="rect">
            <a:avLst/>
          </a:prstGeom>
          <a:solidFill>
            <a:srgbClr val="0D2137"/>
          </a:solidFill>
          <a:ln/>
          <a:effectLst>
            <a:outerShdw blurRad="101600" dist="38100" dir="8100000" algn="bl" rotWithShape="0">
              <a:srgbClr val="000000">
                <a:alpha val="30000"/>
              </a:srgbClr>
            </a:outerShdw>
          </a:effectLst>
        </p:spPr>
        <p:txBody>
          <a:bodyPr/>
          <a:lstStyle/>
          <a:p>
            <a:endParaRPr lang="en-US"/>
          </a:p>
        </p:txBody>
      </p:sp>
      <p:pic>
        <p:nvPicPr>
          <p:cNvPr id="10" name="Image 1" descr="preencoded.png"/>
          <p:cNvPicPr>
            <a:picLocks noChangeAspect="1"/>
          </p:cNvPicPr>
          <p:nvPr/>
        </p:nvPicPr>
        <p:blipFill>
          <a:blip r:embed="rId4"/>
          <a:stretch>
            <a:fillRect/>
          </a:stretch>
        </p:blipFill>
        <p:spPr>
          <a:xfrm>
            <a:off x="3840480" y="1188720"/>
            <a:ext cx="365760" cy="365760"/>
          </a:xfrm>
          <a:prstGeom prst="rect">
            <a:avLst/>
          </a:prstGeom>
        </p:spPr>
      </p:pic>
      <p:sp>
        <p:nvSpPr>
          <p:cNvPr id="11" name="Text 7"/>
          <p:cNvSpPr/>
          <p:nvPr/>
        </p:nvSpPr>
        <p:spPr>
          <a:xfrm>
            <a:off x="4297680" y="1143000"/>
            <a:ext cx="1645920" cy="411480"/>
          </a:xfrm>
          <a:prstGeom prst="rect">
            <a:avLst/>
          </a:prstGeom>
          <a:noFill/>
          <a:ln/>
        </p:spPr>
        <p:txBody>
          <a:bodyPr wrap="square" lIns="0" tIns="0" rIns="0" bIns="0" rtlCol="0" anchor="ctr"/>
          <a:lstStyle/>
          <a:p>
            <a:pPr marL="0" indent="0" algn="l">
              <a:buNone/>
            </a:pPr>
            <a:r>
              <a:rPr lang="en-US" sz="1800" b="1" dirty="0">
                <a:solidFill>
                  <a:srgbClr val="FFFFFF"/>
                </a:solidFill>
                <a:latin typeface="Trebuchet MS" pitchFamily="34" charset="0"/>
                <a:ea typeface="Trebuchet MS" pitchFamily="34" charset="-122"/>
                <a:cs typeface="Trebuchet MS" pitchFamily="34" charset="-120"/>
              </a:rPr>
              <a:t>Docker Swarm</a:t>
            </a:r>
            <a:endParaRPr lang="en-US" sz="1800" dirty="0"/>
          </a:p>
        </p:txBody>
      </p:sp>
      <p:sp>
        <p:nvSpPr>
          <p:cNvPr id="12" name="Shape 8"/>
          <p:cNvSpPr/>
          <p:nvPr/>
        </p:nvSpPr>
        <p:spPr>
          <a:xfrm>
            <a:off x="3840480" y="1691640"/>
            <a:ext cx="1920240" cy="256032"/>
          </a:xfrm>
          <a:prstGeom prst="rect">
            <a:avLst/>
          </a:prstGeom>
          <a:solidFill>
            <a:srgbClr val="38BDF8">
              <a:alpha val="20000"/>
            </a:srgbClr>
          </a:solidFill>
          <a:ln/>
        </p:spPr>
        <p:txBody>
          <a:bodyPr/>
          <a:lstStyle/>
          <a:p>
            <a:endParaRPr lang="en-US"/>
          </a:p>
        </p:txBody>
      </p:sp>
      <p:sp>
        <p:nvSpPr>
          <p:cNvPr id="13" name="Text 9"/>
          <p:cNvSpPr/>
          <p:nvPr/>
        </p:nvSpPr>
        <p:spPr>
          <a:xfrm>
            <a:off x="3840480" y="1673352"/>
            <a:ext cx="1920240" cy="292608"/>
          </a:xfrm>
          <a:prstGeom prst="rect">
            <a:avLst/>
          </a:prstGeom>
          <a:noFill/>
          <a:ln/>
        </p:spPr>
        <p:txBody>
          <a:bodyPr wrap="square" lIns="0" tIns="0" rIns="0" bIns="0" rtlCol="0" anchor="ctr"/>
          <a:lstStyle/>
          <a:p>
            <a:pPr marL="0" indent="0" algn="ctr">
              <a:buNone/>
            </a:pPr>
            <a:r>
              <a:rPr lang="en-US" sz="1000" b="1" dirty="0">
                <a:solidFill>
                  <a:srgbClr val="38BDF8"/>
                </a:solidFill>
                <a:latin typeface="Calibri" pitchFamily="34" charset="0"/>
                <a:ea typeface="Calibri" pitchFamily="34" charset="-122"/>
                <a:cs typeface="Calibri" pitchFamily="34" charset="-120"/>
              </a:rPr>
              <a:t>Simple &amp; Native</a:t>
            </a:r>
            <a:endParaRPr lang="en-US" sz="1000" dirty="0"/>
          </a:p>
        </p:txBody>
      </p:sp>
      <p:sp>
        <p:nvSpPr>
          <p:cNvPr id="14" name="Text 10"/>
          <p:cNvSpPr/>
          <p:nvPr/>
        </p:nvSpPr>
        <p:spPr>
          <a:xfrm>
            <a:off x="3840480" y="2148840"/>
            <a:ext cx="1920240" cy="23774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Docker's built-in clustering tool</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Simpler than K8s, lower learning curve</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Best for small teams &amp; simple deployments</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Less feature-rich at scale</a:t>
            </a:r>
            <a:endParaRPr lang="en-US" sz="1100" dirty="0"/>
          </a:p>
        </p:txBody>
      </p:sp>
      <p:sp>
        <p:nvSpPr>
          <p:cNvPr id="15" name="Shape 11"/>
          <p:cNvSpPr/>
          <p:nvPr/>
        </p:nvSpPr>
        <p:spPr>
          <a:xfrm>
            <a:off x="6446520" y="960120"/>
            <a:ext cx="2468880" cy="3749040"/>
          </a:xfrm>
          <a:prstGeom prst="rect">
            <a:avLst/>
          </a:prstGeom>
          <a:solidFill>
            <a:srgbClr val="0D2137"/>
          </a:solidFill>
          <a:ln/>
          <a:effectLst>
            <a:outerShdw blurRad="101600" dist="38100" dir="8100000" algn="bl" rotWithShape="0">
              <a:srgbClr val="000000">
                <a:alpha val="30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6720840" y="1188720"/>
            <a:ext cx="365760" cy="365760"/>
          </a:xfrm>
          <a:prstGeom prst="rect">
            <a:avLst/>
          </a:prstGeom>
        </p:spPr>
      </p:pic>
      <p:sp>
        <p:nvSpPr>
          <p:cNvPr id="17" name="Text 12"/>
          <p:cNvSpPr/>
          <p:nvPr/>
        </p:nvSpPr>
        <p:spPr>
          <a:xfrm>
            <a:off x="7178040" y="1143000"/>
            <a:ext cx="1645920" cy="411480"/>
          </a:xfrm>
          <a:prstGeom prst="rect">
            <a:avLst/>
          </a:prstGeom>
          <a:noFill/>
          <a:ln/>
        </p:spPr>
        <p:txBody>
          <a:bodyPr wrap="square" lIns="0" tIns="0" rIns="0" bIns="0" rtlCol="0" anchor="ctr"/>
          <a:lstStyle/>
          <a:p>
            <a:pPr marL="0" indent="0" algn="l">
              <a:buNone/>
            </a:pPr>
            <a:r>
              <a:rPr lang="en-US" sz="1800" b="1" dirty="0">
                <a:solidFill>
                  <a:srgbClr val="FFFFFF"/>
                </a:solidFill>
                <a:latin typeface="Trebuchet MS" pitchFamily="34" charset="0"/>
                <a:ea typeface="Trebuchet MS" pitchFamily="34" charset="-122"/>
                <a:cs typeface="Trebuchet MS" pitchFamily="34" charset="-120"/>
              </a:rPr>
              <a:t>Apache Mesos</a:t>
            </a:r>
            <a:endParaRPr lang="en-US" sz="1800" dirty="0"/>
          </a:p>
        </p:txBody>
      </p:sp>
      <p:sp>
        <p:nvSpPr>
          <p:cNvPr id="18" name="Shape 13"/>
          <p:cNvSpPr/>
          <p:nvPr/>
        </p:nvSpPr>
        <p:spPr>
          <a:xfrm>
            <a:off x="6720840" y="1691640"/>
            <a:ext cx="1920240" cy="256032"/>
          </a:xfrm>
          <a:prstGeom prst="rect">
            <a:avLst/>
          </a:prstGeom>
          <a:solidFill>
            <a:srgbClr val="818CF8">
              <a:alpha val="20000"/>
            </a:srgbClr>
          </a:solidFill>
          <a:ln/>
        </p:spPr>
        <p:txBody>
          <a:bodyPr/>
          <a:lstStyle/>
          <a:p>
            <a:endParaRPr lang="en-US"/>
          </a:p>
        </p:txBody>
      </p:sp>
      <p:sp>
        <p:nvSpPr>
          <p:cNvPr id="19" name="Text 14"/>
          <p:cNvSpPr/>
          <p:nvPr/>
        </p:nvSpPr>
        <p:spPr>
          <a:xfrm>
            <a:off x="6720840" y="1673352"/>
            <a:ext cx="1920240" cy="292608"/>
          </a:xfrm>
          <a:prstGeom prst="rect">
            <a:avLst/>
          </a:prstGeom>
          <a:noFill/>
          <a:ln/>
        </p:spPr>
        <p:txBody>
          <a:bodyPr wrap="square" lIns="0" tIns="0" rIns="0" bIns="0" rtlCol="0" anchor="ctr"/>
          <a:lstStyle/>
          <a:p>
            <a:pPr marL="0" indent="0" algn="ctr">
              <a:buNone/>
            </a:pPr>
            <a:r>
              <a:rPr lang="en-US" sz="1000" b="1" dirty="0">
                <a:solidFill>
                  <a:srgbClr val="818CF8"/>
                </a:solidFill>
                <a:latin typeface="Calibri" pitchFamily="34" charset="0"/>
                <a:ea typeface="Calibri" pitchFamily="34" charset="-122"/>
                <a:cs typeface="Calibri" pitchFamily="34" charset="-120"/>
              </a:rPr>
              <a:t>Mixed Workloads</a:t>
            </a:r>
            <a:endParaRPr lang="en-US" sz="1000" dirty="0"/>
          </a:p>
        </p:txBody>
      </p:sp>
      <p:sp>
        <p:nvSpPr>
          <p:cNvPr id="20" name="Text 15"/>
          <p:cNvSpPr/>
          <p:nvPr/>
        </p:nvSpPr>
        <p:spPr>
          <a:xfrm>
            <a:off x="6720840" y="2148840"/>
            <a:ext cx="1920240" cy="237744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Distributed systems kernel</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Paired with Marathon for containers</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Handles containers + VMs + big data</a:t>
            </a:r>
            <a:endParaRPr lang="en-US" sz="1100" dirty="0"/>
          </a:p>
          <a:p>
            <a:pPr marL="342900" indent="-342900">
              <a:spcAft>
                <a:spcPts val="600"/>
              </a:spcAft>
              <a:buSzPct val="100000"/>
              <a:buChar char="•"/>
            </a:pPr>
            <a:r>
              <a:rPr lang="en-US" sz="1100" dirty="0">
                <a:solidFill>
                  <a:srgbClr val="CBD5E1"/>
                </a:solidFill>
                <a:latin typeface="Calibri" pitchFamily="34" charset="0"/>
                <a:ea typeface="Calibri" pitchFamily="34" charset="-122"/>
                <a:cs typeface="Calibri" pitchFamily="34" charset="-120"/>
              </a:rPr>
              <a:t>Highly scalable for large clusters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pic>
        <p:nvPicPr>
          <p:cNvPr id="2" name="Image 0" descr="/agent/turn1/workspace/images/abstract-flat-illustration-of-container-shipping-c_2026-05-05T04-48-51_image_DAS_0.jpg"/>
          <p:cNvPicPr>
            <a:picLocks noChangeAspect="1"/>
          </p:cNvPicPr>
          <p:nvPr/>
        </p:nvPicPr>
        <p:blipFill>
          <a:blip r:embed="rId3"/>
          <a:srcRect l="29259" r="29259"/>
          <a:stretch/>
        </p:blipFill>
        <p:spPr>
          <a:xfrm>
            <a:off x="0" y="0"/>
            <a:ext cx="3200400" cy="5143500"/>
          </a:xfrm>
          <a:prstGeom prst="rect">
            <a:avLst/>
          </a:prstGeom>
        </p:spPr>
      </p:pic>
      <p:sp>
        <p:nvSpPr>
          <p:cNvPr id="3" name="Shape 0"/>
          <p:cNvSpPr/>
          <p:nvPr/>
        </p:nvSpPr>
        <p:spPr>
          <a:xfrm>
            <a:off x="0" y="0"/>
            <a:ext cx="3200400" cy="5143500"/>
          </a:xfrm>
          <a:prstGeom prst="rect">
            <a:avLst/>
          </a:prstGeom>
          <a:solidFill>
            <a:srgbClr val="0F1B2D">
              <a:alpha val="60000"/>
            </a:srgbClr>
          </a:solidFill>
          <a:ln/>
        </p:spPr>
        <p:txBody>
          <a:bodyPr/>
          <a:lstStyle/>
          <a:p>
            <a:endParaRPr lang="en-US"/>
          </a:p>
        </p:txBody>
      </p:sp>
      <p:sp>
        <p:nvSpPr>
          <p:cNvPr id="4" name="Text 1"/>
          <p:cNvSpPr/>
          <p:nvPr/>
        </p:nvSpPr>
        <p:spPr>
          <a:xfrm>
            <a:off x="365760" y="1645920"/>
            <a:ext cx="2560320" cy="1463040"/>
          </a:xfrm>
          <a:prstGeom prst="rect">
            <a:avLst/>
          </a:prstGeom>
          <a:noFill/>
          <a:ln/>
        </p:spPr>
        <p:txBody>
          <a:bodyPr wrap="square" lIns="0" tIns="0" rIns="0" bIns="0" rtlCol="0" anchor="ctr"/>
          <a:lstStyle/>
          <a:p>
            <a:pPr marL="0" indent="0" algn="l">
              <a:lnSpc>
                <a:spcPct val="110000"/>
              </a:lnSpc>
              <a:buNone/>
            </a:pPr>
            <a:r>
              <a:rPr lang="en-US" sz="2600" b="1" dirty="0">
                <a:solidFill>
                  <a:srgbClr val="FFFFFF"/>
                </a:solidFill>
                <a:latin typeface="Trebuchet MS" pitchFamily="34" charset="0"/>
                <a:ea typeface="Trebuchet MS" pitchFamily="34" charset="-122"/>
                <a:cs typeface="Trebuchet MS" pitchFamily="34" charset="-120"/>
              </a:rPr>
              <a:t>Cloud &amp; Enterprise</a:t>
            </a:r>
            <a:endParaRPr lang="en-US" sz="2600" dirty="0"/>
          </a:p>
          <a:p>
            <a:pPr marL="0" indent="0" algn="l">
              <a:lnSpc>
                <a:spcPct val="110000"/>
              </a:lnSpc>
              <a:buNone/>
            </a:pPr>
            <a:r>
              <a:rPr lang="en-US" sz="2600" b="1" dirty="0">
                <a:solidFill>
                  <a:srgbClr val="FFFFFF"/>
                </a:solidFill>
                <a:latin typeface="Trebuchet MS" pitchFamily="34" charset="0"/>
                <a:ea typeface="Trebuchet MS" pitchFamily="34" charset="-122"/>
                <a:cs typeface="Trebuchet MS" pitchFamily="34" charset="-120"/>
              </a:rPr>
              <a:t>Kubernetes</a:t>
            </a:r>
            <a:endParaRPr lang="en-US" sz="2600" dirty="0"/>
          </a:p>
        </p:txBody>
      </p:sp>
      <p:sp>
        <p:nvSpPr>
          <p:cNvPr id="5" name="Text 2"/>
          <p:cNvSpPr/>
          <p:nvPr/>
        </p:nvSpPr>
        <p:spPr>
          <a:xfrm>
            <a:off x="365760" y="3108960"/>
            <a:ext cx="2560320" cy="731520"/>
          </a:xfrm>
          <a:prstGeom prst="rect">
            <a:avLst/>
          </a:prstGeom>
          <a:noFill/>
          <a:ln/>
        </p:spPr>
        <p:txBody>
          <a:bodyPr wrap="square" lIns="0" tIns="0" rIns="0" bIns="0" rtlCol="0" anchor="t"/>
          <a:lstStyle/>
          <a:p>
            <a:pPr marL="0" indent="0" algn="l">
              <a:buNone/>
            </a:pPr>
            <a:r>
              <a:rPr lang="en-US" sz="1200" dirty="0">
                <a:solidFill>
                  <a:srgbClr val="0EA5E9"/>
                </a:solidFill>
                <a:latin typeface="Calibri" pitchFamily="34" charset="0"/>
                <a:ea typeface="Calibri" pitchFamily="34" charset="-122"/>
                <a:cs typeface="Calibri" pitchFamily="34" charset="-120"/>
              </a:rPr>
              <a:t>Reducing operational overhead</a:t>
            </a:r>
            <a:endParaRPr lang="en-US" sz="1200" dirty="0"/>
          </a:p>
          <a:p>
            <a:pPr marL="0" indent="0" algn="l">
              <a:buNone/>
            </a:pPr>
            <a:r>
              <a:rPr lang="en-US" sz="1200" dirty="0">
                <a:solidFill>
                  <a:srgbClr val="0EA5E9"/>
                </a:solidFill>
                <a:latin typeface="Calibri" pitchFamily="34" charset="0"/>
                <a:ea typeface="Calibri" pitchFamily="34" charset="-122"/>
                <a:cs typeface="Calibri" pitchFamily="34" charset="-120"/>
              </a:rPr>
              <a:t>with managed platforms</a:t>
            </a:r>
            <a:endParaRPr lang="en-US" sz="1200" dirty="0"/>
          </a:p>
        </p:txBody>
      </p:sp>
      <p:sp>
        <p:nvSpPr>
          <p:cNvPr id="6" name="Text 3"/>
          <p:cNvSpPr/>
          <p:nvPr/>
        </p:nvSpPr>
        <p:spPr>
          <a:xfrm>
            <a:off x="3566160" y="457200"/>
            <a:ext cx="5212080" cy="411480"/>
          </a:xfrm>
          <a:prstGeom prst="rect">
            <a:avLst/>
          </a:prstGeom>
          <a:noFill/>
          <a:ln/>
        </p:spPr>
        <p:txBody>
          <a:bodyPr wrap="square" lIns="0" tIns="0" rIns="0" bIns="0" rtlCol="0" anchor="ctr"/>
          <a:lstStyle/>
          <a:p>
            <a:pPr marL="0" indent="0" algn="l">
              <a:buNone/>
            </a:pPr>
            <a:r>
              <a:rPr lang="en-US" sz="1800" b="1" dirty="0">
                <a:solidFill>
                  <a:srgbClr val="21D4FD"/>
                </a:solidFill>
                <a:latin typeface="Trebuchet MS" pitchFamily="34" charset="0"/>
                <a:ea typeface="Trebuchet MS" pitchFamily="34" charset="-122"/>
                <a:cs typeface="Trebuchet MS" pitchFamily="34" charset="-120"/>
              </a:rPr>
              <a:t>Managed Kubernetes Services</a:t>
            </a:r>
            <a:endParaRPr lang="en-US" sz="1800" dirty="0"/>
          </a:p>
        </p:txBody>
      </p:sp>
      <p:sp>
        <p:nvSpPr>
          <p:cNvPr id="7" name="Shape 4"/>
          <p:cNvSpPr/>
          <p:nvPr/>
        </p:nvSpPr>
        <p:spPr>
          <a:xfrm>
            <a:off x="3566160" y="914400"/>
            <a:ext cx="5212080" cy="402336"/>
          </a:xfrm>
          <a:prstGeom prst="rect">
            <a:avLst/>
          </a:prstGeom>
          <a:solidFill>
            <a:srgbClr val="0D2137"/>
          </a:solidFill>
          <a:ln/>
        </p:spPr>
        <p:txBody>
          <a:bodyPr/>
          <a:lstStyle/>
          <a:p>
            <a:endParaRPr lang="en-US"/>
          </a:p>
        </p:txBody>
      </p:sp>
      <p:sp>
        <p:nvSpPr>
          <p:cNvPr id="8" name="Text 5"/>
          <p:cNvSpPr/>
          <p:nvPr/>
        </p:nvSpPr>
        <p:spPr>
          <a:xfrm>
            <a:off x="3749040" y="914400"/>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Amazon EKS</a:t>
            </a:r>
            <a:endParaRPr lang="en-US" sz="1300" dirty="0"/>
          </a:p>
        </p:txBody>
      </p:sp>
      <p:sp>
        <p:nvSpPr>
          <p:cNvPr id="9" name="Text 6"/>
          <p:cNvSpPr/>
          <p:nvPr/>
        </p:nvSpPr>
        <p:spPr>
          <a:xfrm>
            <a:off x="5577840" y="914400"/>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AWS-managed K8s with deep AWS integration</a:t>
            </a:r>
            <a:endParaRPr lang="en-US" sz="1100" dirty="0"/>
          </a:p>
        </p:txBody>
      </p:sp>
      <p:sp>
        <p:nvSpPr>
          <p:cNvPr id="10" name="Shape 7"/>
          <p:cNvSpPr/>
          <p:nvPr/>
        </p:nvSpPr>
        <p:spPr>
          <a:xfrm>
            <a:off x="3566160" y="1389888"/>
            <a:ext cx="5212080" cy="402336"/>
          </a:xfrm>
          <a:prstGeom prst="rect">
            <a:avLst/>
          </a:prstGeom>
          <a:solidFill>
            <a:srgbClr val="0D2137"/>
          </a:solidFill>
          <a:ln/>
        </p:spPr>
        <p:txBody>
          <a:bodyPr/>
          <a:lstStyle/>
          <a:p>
            <a:endParaRPr lang="en-US"/>
          </a:p>
        </p:txBody>
      </p:sp>
      <p:sp>
        <p:nvSpPr>
          <p:cNvPr id="11" name="Text 8"/>
          <p:cNvSpPr/>
          <p:nvPr/>
        </p:nvSpPr>
        <p:spPr>
          <a:xfrm>
            <a:off x="3749040" y="1389888"/>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Google GKE</a:t>
            </a:r>
            <a:endParaRPr lang="en-US" sz="1300" dirty="0"/>
          </a:p>
        </p:txBody>
      </p:sp>
      <p:sp>
        <p:nvSpPr>
          <p:cNvPr id="12" name="Text 9"/>
          <p:cNvSpPr/>
          <p:nvPr/>
        </p:nvSpPr>
        <p:spPr>
          <a:xfrm>
            <a:off x="5577840" y="1389888"/>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Most mature managed K8s, early pioneer</a:t>
            </a:r>
            <a:endParaRPr lang="en-US" sz="1100" dirty="0"/>
          </a:p>
        </p:txBody>
      </p:sp>
      <p:sp>
        <p:nvSpPr>
          <p:cNvPr id="13" name="Shape 10"/>
          <p:cNvSpPr/>
          <p:nvPr/>
        </p:nvSpPr>
        <p:spPr>
          <a:xfrm>
            <a:off x="3566160" y="1865376"/>
            <a:ext cx="5212080" cy="402336"/>
          </a:xfrm>
          <a:prstGeom prst="rect">
            <a:avLst/>
          </a:prstGeom>
          <a:solidFill>
            <a:srgbClr val="0D2137"/>
          </a:solidFill>
          <a:ln/>
        </p:spPr>
        <p:txBody>
          <a:bodyPr/>
          <a:lstStyle/>
          <a:p>
            <a:endParaRPr lang="en-US"/>
          </a:p>
        </p:txBody>
      </p:sp>
      <p:sp>
        <p:nvSpPr>
          <p:cNvPr id="14" name="Text 11"/>
          <p:cNvSpPr/>
          <p:nvPr/>
        </p:nvSpPr>
        <p:spPr>
          <a:xfrm>
            <a:off x="3749040" y="1865376"/>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Azure AKS</a:t>
            </a:r>
            <a:endParaRPr lang="en-US" sz="1300" dirty="0"/>
          </a:p>
        </p:txBody>
      </p:sp>
      <p:sp>
        <p:nvSpPr>
          <p:cNvPr id="15" name="Text 12"/>
          <p:cNvSpPr/>
          <p:nvPr/>
        </p:nvSpPr>
        <p:spPr>
          <a:xfrm>
            <a:off x="5577840" y="1865376"/>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Microsoft's managed K8s platform</a:t>
            </a:r>
            <a:endParaRPr lang="en-US" sz="1100" dirty="0"/>
          </a:p>
        </p:txBody>
      </p:sp>
      <p:sp>
        <p:nvSpPr>
          <p:cNvPr id="16" name="Shape 13"/>
          <p:cNvSpPr/>
          <p:nvPr/>
        </p:nvSpPr>
        <p:spPr>
          <a:xfrm>
            <a:off x="3566160" y="2340864"/>
            <a:ext cx="5212080" cy="402336"/>
          </a:xfrm>
          <a:prstGeom prst="rect">
            <a:avLst/>
          </a:prstGeom>
          <a:solidFill>
            <a:srgbClr val="0D2137"/>
          </a:solidFill>
          <a:ln/>
        </p:spPr>
        <p:txBody>
          <a:bodyPr/>
          <a:lstStyle/>
          <a:p>
            <a:endParaRPr lang="en-US"/>
          </a:p>
        </p:txBody>
      </p:sp>
      <p:sp>
        <p:nvSpPr>
          <p:cNvPr id="17" name="Text 14"/>
          <p:cNvSpPr/>
          <p:nvPr/>
        </p:nvSpPr>
        <p:spPr>
          <a:xfrm>
            <a:off x="3749040" y="2340864"/>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IBM Cloud K8s</a:t>
            </a:r>
            <a:endParaRPr lang="en-US" sz="1300" dirty="0"/>
          </a:p>
        </p:txBody>
      </p:sp>
      <p:sp>
        <p:nvSpPr>
          <p:cNvPr id="18" name="Text 15"/>
          <p:cNvSpPr/>
          <p:nvPr/>
        </p:nvSpPr>
        <p:spPr>
          <a:xfrm>
            <a:off x="5577840" y="2340864"/>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IBM's managed Kubernetes offering</a:t>
            </a:r>
            <a:endParaRPr lang="en-US" sz="1100" dirty="0"/>
          </a:p>
        </p:txBody>
      </p:sp>
      <p:sp>
        <p:nvSpPr>
          <p:cNvPr id="19" name="Text 16"/>
          <p:cNvSpPr/>
          <p:nvPr/>
        </p:nvSpPr>
        <p:spPr>
          <a:xfrm>
            <a:off x="3566160" y="2999232"/>
            <a:ext cx="5212080" cy="411480"/>
          </a:xfrm>
          <a:prstGeom prst="rect">
            <a:avLst/>
          </a:prstGeom>
          <a:noFill/>
          <a:ln/>
        </p:spPr>
        <p:txBody>
          <a:bodyPr wrap="square" lIns="0" tIns="0" rIns="0" bIns="0" rtlCol="0" anchor="ctr"/>
          <a:lstStyle/>
          <a:p>
            <a:pPr marL="0" indent="0" algn="l">
              <a:buNone/>
            </a:pPr>
            <a:r>
              <a:rPr lang="en-US" sz="1800" b="1" dirty="0">
                <a:solidFill>
                  <a:srgbClr val="21D4FD"/>
                </a:solidFill>
                <a:latin typeface="Trebuchet MS" pitchFamily="34" charset="0"/>
                <a:ea typeface="Trebuchet MS" pitchFamily="34" charset="-122"/>
                <a:cs typeface="Trebuchet MS" pitchFamily="34" charset="-120"/>
              </a:rPr>
              <a:t>Enterprise Platforms</a:t>
            </a:r>
            <a:endParaRPr lang="en-US" sz="1800" dirty="0"/>
          </a:p>
        </p:txBody>
      </p:sp>
      <p:sp>
        <p:nvSpPr>
          <p:cNvPr id="20" name="Shape 17"/>
          <p:cNvSpPr/>
          <p:nvPr/>
        </p:nvSpPr>
        <p:spPr>
          <a:xfrm>
            <a:off x="3566160" y="3456432"/>
            <a:ext cx="5212080" cy="402336"/>
          </a:xfrm>
          <a:prstGeom prst="rect">
            <a:avLst/>
          </a:prstGeom>
          <a:solidFill>
            <a:srgbClr val="0D2137"/>
          </a:solidFill>
          <a:ln/>
        </p:spPr>
        <p:txBody>
          <a:bodyPr/>
          <a:lstStyle/>
          <a:p>
            <a:endParaRPr lang="en-US"/>
          </a:p>
        </p:txBody>
      </p:sp>
      <p:sp>
        <p:nvSpPr>
          <p:cNvPr id="21" name="Text 18"/>
          <p:cNvSpPr/>
          <p:nvPr/>
        </p:nvSpPr>
        <p:spPr>
          <a:xfrm>
            <a:off x="3749040" y="3456432"/>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Red Hat OpenShift</a:t>
            </a:r>
            <a:endParaRPr lang="en-US" sz="1300" dirty="0"/>
          </a:p>
        </p:txBody>
      </p:sp>
      <p:sp>
        <p:nvSpPr>
          <p:cNvPr id="22" name="Text 19"/>
          <p:cNvSpPr/>
          <p:nvPr/>
        </p:nvSpPr>
        <p:spPr>
          <a:xfrm>
            <a:off x="5577840" y="3456432"/>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Enterprise K8s with strong security &amp; CI/CD</a:t>
            </a:r>
            <a:endParaRPr lang="en-US" sz="1100" dirty="0"/>
          </a:p>
        </p:txBody>
      </p:sp>
      <p:sp>
        <p:nvSpPr>
          <p:cNvPr id="23" name="Shape 20"/>
          <p:cNvSpPr/>
          <p:nvPr/>
        </p:nvSpPr>
        <p:spPr>
          <a:xfrm>
            <a:off x="3566160" y="3931920"/>
            <a:ext cx="5212080" cy="402336"/>
          </a:xfrm>
          <a:prstGeom prst="rect">
            <a:avLst/>
          </a:prstGeom>
          <a:solidFill>
            <a:srgbClr val="0D2137"/>
          </a:solidFill>
          <a:ln/>
        </p:spPr>
        <p:txBody>
          <a:bodyPr/>
          <a:lstStyle/>
          <a:p>
            <a:endParaRPr lang="en-US"/>
          </a:p>
        </p:txBody>
      </p:sp>
      <p:sp>
        <p:nvSpPr>
          <p:cNvPr id="24" name="Text 21"/>
          <p:cNvSpPr/>
          <p:nvPr/>
        </p:nvSpPr>
        <p:spPr>
          <a:xfrm>
            <a:off x="3749040" y="3931920"/>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VMware Tanzu</a:t>
            </a:r>
            <a:endParaRPr lang="en-US" sz="1300" dirty="0"/>
          </a:p>
        </p:txBody>
      </p:sp>
      <p:sp>
        <p:nvSpPr>
          <p:cNvPr id="25" name="Text 22"/>
          <p:cNvSpPr/>
          <p:nvPr/>
        </p:nvSpPr>
        <p:spPr>
          <a:xfrm>
            <a:off x="5577840" y="3931920"/>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K8s management across on-prem and cloud</a:t>
            </a:r>
            <a:endParaRPr lang="en-US" sz="1100" dirty="0"/>
          </a:p>
        </p:txBody>
      </p:sp>
      <p:sp>
        <p:nvSpPr>
          <p:cNvPr id="26" name="Shape 23"/>
          <p:cNvSpPr/>
          <p:nvPr/>
        </p:nvSpPr>
        <p:spPr>
          <a:xfrm>
            <a:off x="3566160" y="4407408"/>
            <a:ext cx="5212080" cy="402336"/>
          </a:xfrm>
          <a:prstGeom prst="rect">
            <a:avLst/>
          </a:prstGeom>
          <a:solidFill>
            <a:srgbClr val="0D2137"/>
          </a:solidFill>
          <a:ln/>
        </p:spPr>
        <p:txBody>
          <a:bodyPr/>
          <a:lstStyle/>
          <a:p>
            <a:endParaRPr lang="en-US"/>
          </a:p>
        </p:txBody>
      </p:sp>
      <p:sp>
        <p:nvSpPr>
          <p:cNvPr id="27" name="Text 24"/>
          <p:cNvSpPr/>
          <p:nvPr/>
        </p:nvSpPr>
        <p:spPr>
          <a:xfrm>
            <a:off x="3749040" y="4407408"/>
            <a:ext cx="1828800" cy="402336"/>
          </a:xfrm>
          <a:prstGeom prst="rect">
            <a:avLst/>
          </a:prstGeom>
          <a:noFill/>
          <a:ln/>
        </p:spPr>
        <p:txBody>
          <a:bodyPr wrap="square" lIns="0" tIns="0" rIns="0" bIns="0" rtlCol="0" anchor="ct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SUSE Rancher</a:t>
            </a:r>
            <a:endParaRPr lang="en-US" sz="1300" dirty="0"/>
          </a:p>
        </p:txBody>
      </p:sp>
      <p:sp>
        <p:nvSpPr>
          <p:cNvPr id="28" name="Text 25"/>
          <p:cNvSpPr/>
          <p:nvPr/>
        </p:nvSpPr>
        <p:spPr>
          <a:xfrm>
            <a:off x="5577840" y="4407408"/>
            <a:ext cx="2926080" cy="402336"/>
          </a:xfrm>
          <a:prstGeom prst="rect">
            <a:avLst/>
          </a:prstGeom>
          <a:noFill/>
          <a:ln/>
        </p:spPr>
        <p:txBody>
          <a:bodyPr wrap="square" lIns="0" tIns="0" rIns="0" bIns="0" rtlCol="0" anchor="ctr"/>
          <a:lstStyle/>
          <a:p>
            <a:pPr marL="0" indent="0" algn="l">
              <a:buNone/>
            </a:pPr>
            <a:r>
              <a:rPr lang="en-US" sz="1100" dirty="0">
                <a:solidFill>
                  <a:srgbClr val="CBD5E1"/>
                </a:solidFill>
                <a:latin typeface="Calibri" pitchFamily="34" charset="0"/>
                <a:ea typeface="Calibri" pitchFamily="34" charset="-122"/>
                <a:cs typeface="Calibri" pitchFamily="34" charset="-120"/>
              </a:rPr>
              <a:t>Multi-cluster K8s for hybrid/multicloud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Technology Landscape at a Glance</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8046720" cy="1463040"/>
        </p:xfrm>
        <a:graphic>
          <a:graphicData uri="http://schemas.openxmlformats.org/drawingml/2006/table">
            <a:tbl>
              <a:tblPr/>
              <a:tblGrid>
                <a:gridCol w="21945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  Category</a:t>
                      </a:r>
                      <a:endParaRPr lang="en-US" sz="1300" dirty="0">
                        <a:latin typeface="Trebuchet MS" charset="0"/>
                        <a:ea typeface="Trebuchet MS" charset="0"/>
                        <a:cs typeface="Trebuchet MS"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65A82"/>
                    </a:solidFill>
                  </a:tcPr>
                </a:tc>
                <a:tc>
                  <a:txBody>
                    <a:bodyP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  Technologies</a:t>
                      </a:r>
                      <a:endParaRPr lang="en-US" sz="1300" dirty="0">
                        <a:latin typeface="Trebuchet MS" charset="0"/>
                        <a:ea typeface="Trebuchet MS" charset="0"/>
                        <a:cs typeface="Trebuchet MS"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65A82"/>
                    </a:solidFill>
                  </a:tcPr>
                </a:tc>
                <a:tc>
                  <a:txBody>
                    <a:bodyPr/>
                    <a:lstStyle/>
                    <a:p>
                      <a:pPr marL="0" indent="0" algn="l">
                        <a:buNone/>
                      </a:pPr>
                      <a:r>
                        <a:rPr lang="en-US" sz="1300" b="1" dirty="0">
                          <a:solidFill>
                            <a:srgbClr val="FFFFFF"/>
                          </a:solidFill>
                          <a:latin typeface="Trebuchet MS" pitchFamily="34" charset="0"/>
                          <a:ea typeface="Trebuchet MS" pitchFamily="34" charset="-122"/>
                          <a:cs typeface="Trebuchet MS" pitchFamily="34" charset="-120"/>
                        </a:rPr>
                        <a:t>  Best For</a:t>
                      </a:r>
                      <a:endParaRPr lang="en-US" sz="1300" dirty="0">
                        <a:latin typeface="Trebuchet MS" charset="0"/>
                        <a:ea typeface="Trebuchet MS" charset="0"/>
                        <a:cs typeface="Trebuchet MS"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65760">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Core Orchestrators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Kubernetes, Docker Swarm, Apache Mesos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Running containers at scale, automation</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extLst>
                  <a:ext uri="{0D108BD9-81ED-4DB2-BD59-A6C34878D82A}">
                    <a16:rowId xmlns:a16="http://schemas.microsoft.com/office/drawing/2014/main" val="10001"/>
                  </a:ext>
                </a:extLst>
              </a:tr>
              <a:tr h="365760">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Managed Kubernetes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A1929"/>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EKS, GKE, AKS, IBM Cloud K8s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A1929"/>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Reduced ops overhead for teams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A1929"/>
                    </a:solidFill>
                  </a:tcPr>
                </a:tc>
                <a:extLst>
                  <a:ext uri="{0D108BD9-81ED-4DB2-BD59-A6C34878D82A}">
                    <a16:rowId xmlns:a16="http://schemas.microsoft.com/office/drawing/2014/main" val="10002"/>
                  </a:ext>
                </a:extLst>
              </a:tr>
              <a:tr h="365760">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Enterprise Platforms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OpenShift, Tanzu, Rancher</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tc>
                  <a:txBody>
                    <a:bodyPr/>
                    <a:lstStyle/>
                    <a:p>
                      <a:pPr marL="0" indent="0" algn="l">
                        <a:buNone/>
                      </a:pPr>
                      <a:r>
                        <a:rPr lang="en-US" sz="1100" dirty="0">
                          <a:solidFill>
                            <a:srgbClr val="E2E8F0"/>
                          </a:solidFill>
                          <a:latin typeface="Calibri" pitchFamily="34" charset="0"/>
                          <a:ea typeface="Calibri" pitchFamily="34" charset="-122"/>
                          <a:cs typeface="Calibri" pitchFamily="34" charset="-120"/>
                        </a:rPr>
                        <a:t>  Governance, security, large enterprises</a:t>
                      </a:r>
                      <a:endParaRPr lang="en-US" sz="1100" dirty="0">
                        <a:latin typeface="Calibri" charset="0"/>
                        <a:ea typeface="Calibri" charset="0"/>
                        <a:cs typeface="Calibri" charset="0"/>
                      </a:endParaRPr>
                    </a:p>
                  </a:txBody>
                  <a:tcPr anchor="ctr">
                    <a:lnL w="6350" cap="flat" cmpd="sng" algn="ctr">
                      <a:solidFill>
                        <a:srgbClr val="1A3A5C"/>
                      </a:solidFill>
                      <a:prstDash val="solid"/>
                      <a:round/>
                      <a:headEnd type="none" w="med" len="med"/>
                      <a:tailEnd type="none" w="med" len="med"/>
                    </a:lnL>
                    <a:lnR w="6350" cap="flat" cmpd="sng" algn="ctr">
                      <a:solidFill>
                        <a:srgbClr val="1A3A5C"/>
                      </a:solidFill>
                      <a:prstDash val="solid"/>
                      <a:round/>
                      <a:headEnd type="none" w="med" len="med"/>
                      <a:tailEnd type="none" w="med" len="med"/>
                    </a:lnR>
                    <a:lnT w="6350" cap="flat" cmpd="sng" algn="ctr">
                      <a:solidFill>
                        <a:srgbClr val="1A3A5C"/>
                      </a:solidFill>
                      <a:prstDash val="solid"/>
                      <a:round/>
                      <a:headEnd type="none" w="med" len="med"/>
                      <a:tailEnd type="none" w="med" len="med"/>
                    </a:lnT>
                    <a:lnB w="6350" cap="flat" cmpd="sng" algn="ctr">
                      <a:solidFill>
                        <a:srgbClr val="1A3A5C"/>
                      </a:solidFill>
                      <a:prstDash val="solid"/>
                      <a:round/>
                      <a:headEnd type="none" w="med" len="med"/>
                      <a:tailEnd type="none" w="med" len="med"/>
                    </a:lnB>
                    <a:solidFill>
                      <a:srgbClr val="0D2137"/>
                    </a:solidFill>
                  </a:tcPr>
                </a:tc>
                <a:extLst>
                  <a:ext uri="{0D108BD9-81ED-4DB2-BD59-A6C34878D82A}">
                    <a16:rowId xmlns:a16="http://schemas.microsoft.com/office/drawing/2014/main" val="10003"/>
                  </a:ext>
                </a:extLst>
              </a:tr>
            </a:tbl>
          </a:graphicData>
        </a:graphic>
      </p:graphicFrame>
      <p:sp>
        <p:nvSpPr>
          <p:cNvPr id="4" name="Text 1"/>
          <p:cNvSpPr/>
          <p:nvPr/>
        </p:nvSpPr>
        <p:spPr>
          <a:xfrm>
            <a:off x="548640" y="2606040"/>
            <a:ext cx="3657600" cy="365760"/>
          </a:xfrm>
          <a:prstGeom prst="rect">
            <a:avLst/>
          </a:prstGeom>
          <a:noFill/>
          <a:ln/>
        </p:spPr>
        <p:txBody>
          <a:bodyPr wrap="square" lIns="0" tIns="0" rIns="0" bIns="0" rtlCol="0" anchor="ctr"/>
          <a:lstStyle/>
          <a:p>
            <a:pPr marL="0" indent="0" algn="l">
              <a:buNone/>
            </a:pPr>
            <a:r>
              <a:rPr lang="en-US" sz="1600" b="1" dirty="0">
                <a:solidFill>
                  <a:srgbClr val="21D4FD"/>
                </a:solidFill>
                <a:latin typeface="Trebuchet MS" pitchFamily="34" charset="0"/>
                <a:ea typeface="Trebuchet MS" pitchFamily="34" charset="-122"/>
                <a:cs typeface="Trebuchet MS" pitchFamily="34" charset="-120"/>
              </a:rPr>
              <a:t>Market Adoption</a:t>
            </a:r>
            <a:endParaRPr lang="en-US" sz="1600" dirty="0"/>
          </a:p>
        </p:txBody>
      </p:sp>
      <p:graphicFrame>
        <p:nvGraphicFramePr>
          <p:cNvPr id="3" name="Chart 0"/>
          <p:cNvGraphicFramePr/>
          <p:nvPr/>
        </p:nvGraphicFramePr>
        <p:xfrm>
          <a:off x="640080" y="3017520"/>
          <a:ext cx="3200400" cy="173736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4389120" y="2606040"/>
            <a:ext cx="4206240" cy="2103120"/>
          </a:xfrm>
          <a:prstGeom prst="rect">
            <a:avLst/>
          </a:prstGeom>
          <a:solidFill>
            <a:srgbClr val="065A82">
              <a:alpha val="40000"/>
            </a:srgbClr>
          </a:solidFill>
          <a:ln/>
        </p:spPr>
        <p:txBody>
          <a:bodyPr/>
          <a:lstStyle/>
          <a:p>
            <a:endParaRPr lang="en-US"/>
          </a:p>
        </p:txBody>
      </p:sp>
      <p:sp>
        <p:nvSpPr>
          <p:cNvPr id="7" name="Text 3"/>
          <p:cNvSpPr/>
          <p:nvPr/>
        </p:nvSpPr>
        <p:spPr>
          <a:xfrm>
            <a:off x="4663440" y="2743200"/>
            <a:ext cx="3657600" cy="320040"/>
          </a:xfrm>
          <a:prstGeom prst="rect">
            <a:avLst/>
          </a:prstGeom>
          <a:noFill/>
          <a:ln/>
        </p:spPr>
        <p:txBody>
          <a:bodyPr wrap="square" lIns="0" tIns="0" rIns="0" bIns="0" rtlCol="0" anchor="ctr"/>
          <a:lstStyle/>
          <a:p>
            <a:pPr marL="0" indent="0" algn="l">
              <a:buNone/>
            </a:pPr>
            <a:r>
              <a:rPr lang="en-US" sz="1500" b="1" dirty="0">
                <a:solidFill>
                  <a:srgbClr val="21D4FD"/>
                </a:solidFill>
                <a:latin typeface="Trebuchet MS" pitchFamily="34" charset="0"/>
                <a:ea typeface="Trebuchet MS" pitchFamily="34" charset="-122"/>
                <a:cs typeface="Trebuchet MS" pitchFamily="34" charset="-120"/>
              </a:rPr>
              <a:t>Key Insight</a:t>
            </a:r>
            <a:endParaRPr lang="en-US" sz="1500" dirty="0"/>
          </a:p>
        </p:txBody>
      </p:sp>
      <p:sp>
        <p:nvSpPr>
          <p:cNvPr id="8" name="Text 4"/>
          <p:cNvSpPr/>
          <p:nvPr/>
        </p:nvSpPr>
        <p:spPr>
          <a:xfrm>
            <a:off x="4663440" y="3108960"/>
            <a:ext cx="3657600" cy="1371600"/>
          </a:xfrm>
          <a:prstGeom prst="rect">
            <a:avLst/>
          </a:prstGeom>
          <a:noFill/>
          <a:ln/>
        </p:spPr>
        <p:txBody>
          <a:bodyPr wrap="square" lIns="0" tIns="0" rIns="0" bIns="0" rtlCol="0" anchor="t"/>
          <a:lstStyle/>
          <a:p>
            <a:pPr marL="0" indent="0" algn="l">
              <a:lnSpc>
                <a:spcPct val="130000"/>
              </a:lnSpc>
              <a:buNone/>
            </a:pPr>
            <a:r>
              <a:rPr lang="en-US" sz="1100" dirty="0">
                <a:solidFill>
                  <a:srgbClr val="E2E8F0"/>
                </a:solidFill>
                <a:latin typeface="Calibri" pitchFamily="34" charset="0"/>
                <a:ea typeface="Calibri" pitchFamily="34" charset="-122"/>
                <a:cs typeface="Calibri" pitchFamily="34" charset="-120"/>
              </a:rPr>
              <a:t>Kubernetes is the clear industry leader, with most cloud and enterprise platforms built directly on top of it. Whether managed (EKS, GKE, AKS) or extended (OpenShift, Tanzu, Rancher), the K8s ecosystem dominates container orchestration across all segments.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622A5-0F38-C0F8-1B09-FBF26093C9DF}"/>
              </a:ext>
            </a:extLst>
          </p:cNvPr>
          <p:cNvSpPr>
            <a:spLocks noGrp="1"/>
          </p:cNvSpPr>
          <p:nvPr>
            <p:ph type="ctrTitle"/>
          </p:nvPr>
        </p:nvSpPr>
        <p:spPr/>
        <p:txBody>
          <a:bodyPr/>
          <a:lstStyle/>
          <a:p>
            <a:r>
              <a:rPr lang="en-US" sz="4400" b="1" dirty="0">
                <a:solidFill>
                  <a:srgbClr val="FFFFFF"/>
                </a:solidFill>
                <a:latin typeface="Trebuchet MS" pitchFamily="34" charset="0"/>
              </a:rPr>
              <a:t>Kubernetes</a:t>
            </a:r>
          </a:p>
        </p:txBody>
      </p:sp>
      <p:sp>
        <p:nvSpPr>
          <p:cNvPr id="3" name="Subtitle 2">
            <a:extLst>
              <a:ext uri="{FF2B5EF4-FFF2-40B4-BE49-F238E27FC236}">
                <a16:creationId xmlns:a16="http://schemas.microsoft.com/office/drawing/2014/main" id="{EB068E37-8A26-4114-0B71-EF0362255F95}"/>
              </a:ext>
            </a:extLst>
          </p:cNvPr>
          <p:cNvSpPr>
            <a:spLocks noGrp="1"/>
          </p:cNvSpPr>
          <p:nvPr>
            <p:ph type="subTitle" idx="1"/>
          </p:nvPr>
        </p:nvSpPr>
        <p:spPr/>
        <p:txBody>
          <a:bodyPr/>
          <a:lstStyle/>
          <a:p>
            <a:r>
              <a:rPr lang="en-US" sz="2000" dirty="0">
                <a:solidFill>
                  <a:srgbClr val="21D4FD"/>
                </a:solidFill>
                <a:latin typeface="Calibri" pitchFamily="34" charset="0"/>
              </a:rPr>
              <a:t>Container Orchestration at Scale</a:t>
            </a:r>
          </a:p>
        </p:txBody>
      </p:sp>
    </p:spTree>
    <p:extLst>
      <p:ext uri="{BB962C8B-B14F-4D97-AF65-F5344CB8AC3E}">
        <p14:creationId xmlns:p14="http://schemas.microsoft.com/office/powerpoint/2010/main" val="464772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pic>
        <p:nvPicPr>
          <p:cNvPr id="2" name="Image 0" descr="/agent/turn2/workspace/images/isometric-3d-illustration-of-kubernetes-cluster-ar_2026-05-05T05-10-09_image_DAS_0.jpg"/>
          <p:cNvPicPr>
            <a:picLocks noChangeAspect="1"/>
          </p:cNvPicPr>
          <p:nvPr/>
        </p:nvPicPr>
        <p:blipFill>
          <a:blip r:embed="rId2"/>
          <a:srcRect l="27481" r="27481"/>
          <a:stretch/>
        </p:blipFill>
        <p:spPr>
          <a:xfrm>
            <a:off x="5669280" y="0"/>
            <a:ext cx="3474720" cy="5143500"/>
          </a:xfrm>
          <a:prstGeom prst="rect">
            <a:avLst/>
          </a:prstGeom>
        </p:spPr>
      </p:pic>
      <p:sp>
        <p:nvSpPr>
          <p:cNvPr id="3" name="Shape 0"/>
          <p:cNvSpPr/>
          <p:nvPr/>
        </p:nvSpPr>
        <p:spPr>
          <a:xfrm>
            <a:off x="5669280" y="0"/>
            <a:ext cx="3474720" cy="5143500"/>
          </a:xfrm>
          <a:prstGeom prst="rect">
            <a:avLst/>
          </a:prstGeom>
          <a:solidFill>
            <a:srgbClr val="0F1B2D">
              <a:alpha val="65000"/>
            </a:srgbClr>
          </a:solidFill>
          <a:ln/>
        </p:spPr>
        <p:txBody>
          <a:bodyPr/>
          <a:lstStyle/>
          <a:p>
            <a:endParaRPr lang="en-US"/>
          </a:p>
        </p:txBody>
      </p:sp>
      <p:sp>
        <p:nvSpPr>
          <p:cNvPr id="4" name="Text 1"/>
          <p:cNvSpPr/>
          <p:nvPr/>
        </p:nvSpPr>
        <p:spPr>
          <a:xfrm>
            <a:off x="548640" y="274320"/>
            <a:ext cx="493776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Kubernetes Architecture</a:t>
            </a:r>
            <a:endParaRPr lang="en-US" sz="2800" dirty="0"/>
          </a:p>
        </p:txBody>
      </p:sp>
      <p:sp>
        <p:nvSpPr>
          <p:cNvPr id="5" name="Text 2"/>
          <p:cNvSpPr/>
          <p:nvPr/>
        </p:nvSpPr>
        <p:spPr>
          <a:xfrm>
            <a:off x="548640" y="822960"/>
            <a:ext cx="4937760" cy="32004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How the control plane and worker nodes collaborate</a:t>
            </a:r>
            <a:endParaRPr lang="en-US" sz="1200" dirty="0"/>
          </a:p>
        </p:txBody>
      </p:sp>
      <p:pic>
        <p:nvPicPr>
          <p:cNvPr id="6" name="Image 1" descr="preencoded.png"/>
          <p:cNvPicPr>
            <a:picLocks noChangeAspect="1"/>
          </p:cNvPicPr>
          <p:nvPr/>
        </p:nvPicPr>
        <p:blipFill>
          <a:blip r:embed="rId3"/>
          <a:stretch>
            <a:fillRect/>
          </a:stretch>
        </p:blipFill>
        <p:spPr>
          <a:xfrm>
            <a:off x="548640" y="1280160"/>
            <a:ext cx="274320" cy="274320"/>
          </a:xfrm>
          <a:prstGeom prst="rect">
            <a:avLst/>
          </a:prstGeom>
        </p:spPr>
      </p:pic>
      <p:sp>
        <p:nvSpPr>
          <p:cNvPr id="7" name="Text 3"/>
          <p:cNvSpPr/>
          <p:nvPr/>
        </p:nvSpPr>
        <p:spPr>
          <a:xfrm>
            <a:off x="914400" y="1234440"/>
            <a:ext cx="27432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Trebuchet MS" pitchFamily="34" charset="0"/>
                <a:ea typeface="Trebuchet MS" pitchFamily="34" charset="-122"/>
                <a:cs typeface="Trebuchet MS" pitchFamily="34" charset="-120"/>
              </a:rPr>
              <a:t>Control Plane</a:t>
            </a:r>
            <a:endParaRPr lang="en-US" sz="1500" dirty="0"/>
          </a:p>
        </p:txBody>
      </p:sp>
      <p:sp>
        <p:nvSpPr>
          <p:cNvPr id="8" name="Shape 4"/>
          <p:cNvSpPr/>
          <p:nvPr/>
        </p:nvSpPr>
        <p:spPr>
          <a:xfrm>
            <a:off x="548640" y="1691640"/>
            <a:ext cx="4754880" cy="329184"/>
          </a:xfrm>
          <a:prstGeom prst="rect">
            <a:avLst/>
          </a:prstGeom>
          <a:solidFill>
            <a:srgbClr val="0D2137"/>
          </a:solidFill>
          <a:ln/>
        </p:spPr>
        <p:txBody>
          <a:bodyPr/>
          <a:lstStyle/>
          <a:p>
            <a:endParaRPr lang="en-US"/>
          </a:p>
        </p:txBody>
      </p:sp>
      <p:sp>
        <p:nvSpPr>
          <p:cNvPr id="9" name="Text 5"/>
          <p:cNvSpPr/>
          <p:nvPr/>
        </p:nvSpPr>
        <p:spPr>
          <a:xfrm>
            <a:off x="731520" y="1691640"/>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API Server</a:t>
            </a:r>
            <a:endParaRPr lang="en-US" sz="1100" dirty="0"/>
          </a:p>
        </p:txBody>
      </p:sp>
      <p:sp>
        <p:nvSpPr>
          <p:cNvPr id="10" name="Text 6"/>
          <p:cNvSpPr/>
          <p:nvPr/>
        </p:nvSpPr>
        <p:spPr>
          <a:xfrm>
            <a:off x="2286000" y="1691640"/>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Central gateway for all cluster operations</a:t>
            </a:r>
            <a:endParaRPr lang="en-US" sz="1000" dirty="0"/>
          </a:p>
        </p:txBody>
      </p:sp>
      <p:sp>
        <p:nvSpPr>
          <p:cNvPr id="11" name="Shape 7"/>
          <p:cNvSpPr/>
          <p:nvPr/>
        </p:nvSpPr>
        <p:spPr>
          <a:xfrm>
            <a:off x="548640" y="2075688"/>
            <a:ext cx="4754880" cy="329184"/>
          </a:xfrm>
          <a:prstGeom prst="rect">
            <a:avLst/>
          </a:prstGeom>
          <a:solidFill>
            <a:srgbClr val="0D2137"/>
          </a:solidFill>
          <a:ln/>
        </p:spPr>
        <p:txBody>
          <a:bodyPr/>
          <a:lstStyle/>
          <a:p>
            <a:endParaRPr lang="en-US"/>
          </a:p>
        </p:txBody>
      </p:sp>
      <p:sp>
        <p:nvSpPr>
          <p:cNvPr id="12" name="Text 8"/>
          <p:cNvSpPr/>
          <p:nvPr/>
        </p:nvSpPr>
        <p:spPr>
          <a:xfrm>
            <a:off x="731520" y="2075688"/>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etcd</a:t>
            </a:r>
            <a:endParaRPr lang="en-US" sz="1100" dirty="0"/>
          </a:p>
        </p:txBody>
      </p:sp>
      <p:sp>
        <p:nvSpPr>
          <p:cNvPr id="13" name="Text 9"/>
          <p:cNvSpPr/>
          <p:nvPr/>
        </p:nvSpPr>
        <p:spPr>
          <a:xfrm>
            <a:off x="2286000" y="2075688"/>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Distributed key-value store for cluster state</a:t>
            </a:r>
            <a:endParaRPr lang="en-US" sz="1000" dirty="0"/>
          </a:p>
        </p:txBody>
      </p:sp>
      <p:sp>
        <p:nvSpPr>
          <p:cNvPr id="14" name="Shape 10"/>
          <p:cNvSpPr/>
          <p:nvPr/>
        </p:nvSpPr>
        <p:spPr>
          <a:xfrm>
            <a:off x="548640" y="2459736"/>
            <a:ext cx="4754880" cy="329184"/>
          </a:xfrm>
          <a:prstGeom prst="rect">
            <a:avLst/>
          </a:prstGeom>
          <a:solidFill>
            <a:srgbClr val="0D2137"/>
          </a:solidFill>
          <a:ln/>
        </p:spPr>
        <p:txBody>
          <a:bodyPr/>
          <a:lstStyle/>
          <a:p>
            <a:endParaRPr lang="en-US"/>
          </a:p>
        </p:txBody>
      </p:sp>
      <p:sp>
        <p:nvSpPr>
          <p:cNvPr id="15" name="Text 11"/>
          <p:cNvSpPr/>
          <p:nvPr/>
        </p:nvSpPr>
        <p:spPr>
          <a:xfrm>
            <a:off x="731520" y="2459736"/>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Scheduler</a:t>
            </a:r>
            <a:endParaRPr lang="en-US" sz="1100" dirty="0"/>
          </a:p>
        </p:txBody>
      </p:sp>
      <p:sp>
        <p:nvSpPr>
          <p:cNvPr id="16" name="Text 12"/>
          <p:cNvSpPr/>
          <p:nvPr/>
        </p:nvSpPr>
        <p:spPr>
          <a:xfrm>
            <a:off x="2286000" y="2459736"/>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Assigns pods to nodes based on resources</a:t>
            </a:r>
            <a:endParaRPr lang="en-US" sz="1000" dirty="0"/>
          </a:p>
        </p:txBody>
      </p:sp>
      <p:sp>
        <p:nvSpPr>
          <p:cNvPr id="17" name="Shape 13"/>
          <p:cNvSpPr/>
          <p:nvPr/>
        </p:nvSpPr>
        <p:spPr>
          <a:xfrm>
            <a:off x="548640" y="2843784"/>
            <a:ext cx="4754880" cy="329184"/>
          </a:xfrm>
          <a:prstGeom prst="rect">
            <a:avLst/>
          </a:prstGeom>
          <a:solidFill>
            <a:srgbClr val="0D2137"/>
          </a:solidFill>
          <a:ln/>
        </p:spPr>
        <p:txBody>
          <a:bodyPr/>
          <a:lstStyle/>
          <a:p>
            <a:endParaRPr lang="en-US"/>
          </a:p>
        </p:txBody>
      </p:sp>
      <p:sp>
        <p:nvSpPr>
          <p:cNvPr id="18" name="Text 14"/>
          <p:cNvSpPr/>
          <p:nvPr/>
        </p:nvSpPr>
        <p:spPr>
          <a:xfrm>
            <a:off x="731520" y="2843784"/>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Controller Mgr</a:t>
            </a:r>
            <a:endParaRPr lang="en-US" sz="1100" dirty="0"/>
          </a:p>
        </p:txBody>
      </p:sp>
      <p:sp>
        <p:nvSpPr>
          <p:cNvPr id="19" name="Text 15"/>
          <p:cNvSpPr/>
          <p:nvPr/>
        </p:nvSpPr>
        <p:spPr>
          <a:xfrm>
            <a:off x="2286000" y="2843784"/>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Maintains desired state via control loops</a:t>
            </a:r>
            <a:endParaRPr lang="en-US" sz="1000" dirty="0"/>
          </a:p>
        </p:txBody>
      </p:sp>
      <p:pic>
        <p:nvPicPr>
          <p:cNvPr id="20" name="Image 2" descr="preencoded.png"/>
          <p:cNvPicPr>
            <a:picLocks noChangeAspect="1"/>
          </p:cNvPicPr>
          <p:nvPr/>
        </p:nvPicPr>
        <p:blipFill>
          <a:blip r:embed="rId4"/>
          <a:stretch>
            <a:fillRect/>
          </a:stretch>
        </p:blipFill>
        <p:spPr>
          <a:xfrm>
            <a:off x="548640" y="3410712"/>
            <a:ext cx="274320" cy="274320"/>
          </a:xfrm>
          <a:prstGeom prst="rect">
            <a:avLst/>
          </a:prstGeom>
        </p:spPr>
      </p:pic>
      <p:sp>
        <p:nvSpPr>
          <p:cNvPr id="21" name="Text 16"/>
          <p:cNvSpPr/>
          <p:nvPr/>
        </p:nvSpPr>
        <p:spPr>
          <a:xfrm>
            <a:off x="914400" y="3364992"/>
            <a:ext cx="2743200" cy="365760"/>
          </a:xfrm>
          <a:prstGeom prst="rect">
            <a:avLst/>
          </a:prstGeom>
          <a:noFill/>
          <a:ln/>
        </p:spPr>
        <p:txBody>
          <a:bodyPr wrap="square" lIns="0" tIns="0" rIns="0" bIns="0" rtlCol="0" anchor="ctr"/>
          <a:lstStyle/>
          <a:p>
            <a:pPr marL="0" indent="0" algn="l">
              <a:buNone/>
            </a:pPr>
            <a:r>
              <a:rPr lang="en-US" sz="1500" b="1" dirty="0">
                <a:solidFill>
                  <a:srgbClr val="FFFFFF"/>
                </a:solidFill>
                <a:latin typeface="Trebuchet MS" pitchFamily="34" charset="0"/>
                <a:ea typeface="Trebuchet MS" pitchFamily="34" charset="-122"/>
                <a:cs typeface="Trebuchet MS" pitchFamily="34" charset="-120"/>
              </a:rPr>
              <a:t>Worker Nodes</a:t>
            </a:r>
            <a:endParaRPr lang="en-US" sz="1500" dirty="0"/>
          </a:p>
        </p:txBody>
      </p:sp>
      <p:sp>
        <p:nvSpPr>
          <p:cNvPr id="22" name="Shape 17"/>
          <p:cNvSpPr/>
          <p:nvPr/>
        </p:nvSpPr>
        <p:spPr>
          <a:xfrm>
            <a:off x="548640" y="3822192"/>
            <a:ext cx="4754880" cy="329184"/>
          </a:xfrm>
          <a:prstGeom prst="rect">
            <a:avLst/>
          </a:prstGeom>
          <a:solidFill>
            <a:srgbClr val="0D2137"/>
          </a:solidFill>
          <a:ln/>
        </p:spPr>
        <p:txBody>
          <a:bodyPr/>
          <a:lstStyle/>
          <a:p>
            <a:endParaRPr lang="en-US"/>
          </a:p>
        </p:txBody>
      </p:sp>
      <p:sp>
        <p:nvSpPr>
          <p:cNvPr id="23" name="Text 18"/>
          <p:cNvSpPr/>
          <p:nvPr/>
        </p:nvSpPr>
        <p:spPr>
          <a:xfrm>
            <a:off x="731520" y="3822192"/>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kubelet</a:t>
            </a:r>
            <a:endParaRPr lang="en-US" sz="1100" dirty="0"/>
          </a:p>
        </p:txBody>
      </p:sp>
      <p:sp>
        <p:nvSpPr>
          <p:cNvPr id="24" name="Text 19"/>
          <p:cNvSpPr/>
          <p:nvPr/>
        </p:nvSpPr>
        <p:spPr>
          <a:xfrm>
            <a:off x="2286000" y="3822192"/>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Agent ensuring containers run in pods</a:t>
            </a:r>
            <a:endParaRPr lang="en-US" sz="1000" dirty="0"/>
          </a:p>
        </p:txBody>
      </p:sp>
      <p:sp>
        <p:nvSpPr>
          <p:cNvPr id="25" name="Shape 20"/>
          <p:cNvSpPr/>
          <p:nvPr/>
        </p:nvSpPr>
        <p:spPr>
          <a:xfrm>
            <a:off x="548640" y="4206240"/>
            <a:ext cx="4754880" cy="329184"/>
          </a:xfrm>
          <a:prstGeom prst="rect">
            <a:avLst/>
          </a:prstGeom>
          <a:solidFill>
            <a:srgbClr val="0D2137"/>
          </a:solidFill>
          <a:ln/>
        </p:spPr>
        <p:txBody>
          <a:bodyPr/>
          <a:lstStyle/>
          <a:p>
            <a:endParaRPr lang="en-US"/>
          </a:p>
        </p:txBody>
      </p:sp>
      <p:sp>
        <p:nvSpPr>
          <p:cNvPr id="26" name="Text 21"/>
          <p:cNvSpPr/>
          <p:nvPr/>
        </p:nvSpPr>
        <p:spPr>
          <a:xfrm>
            <a:off x="731520" y="4206240"/>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kube-proxy</a:t>
            </a:r>
            <a:endParaRPr lang="en-US" sz="1100" dirty="0"/>
          </a:p>
        </p:txBody>
      </p:sp>
      <p:sp>
        <p:nvSpPr>
          <p:cNvPr id="27" name="Text 22"/>
          <p:cNvSpPr/>
          <p:nvPr/>
        </p:nvSpPr>
        <p:spPr>
          <a:xfrm>
            <a:off x="2286000" y="4206240"/>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Network proxy managing service routing</a:t>
            </a:r>
            <a:endParaRPr lang="en-US" sz="1000" dirty="0"/>
          </a:p>
        </p:txBody>
      </p:sp>
      <p:sp>
        <p:nvSpPr>
          <p:cNvPr id="28" name="Shape 23"/>
          <p:cNvSpPr/>
          <p:nvPr/>
        </p:nvSpPr>
        <p:spPr>
          <a:xfrm>
            <a:off x="548640" y="4590288"/>
            <a:ext cx="4754880" cy="329184"/>
          </a:xfrm>
          <a:prstGeom prst="rect">
            <a:avLst/>
          </a:prstGeom>
          <a:solidFill>
            <a:srgbClr val="0D2137"/>
          </a:solidFill>
          <a:ln/>
        </p:spPr>
        <p:txBody>
          <a:bodyPr/>
          <a:lstStyle/>
          <a:p>
            <a:endParaRPr lang="en-US"/>
          </a:p>
        </p:txBody>
      </p:sp>
      <p:sp>
        <p:nvSpPr>
          <p:cNvPr id="29" name="Text 24"/>
          <p:cNvSpPr/>
          <p:nvPr/>
        </p:nvSpPr>
        <p:spPr>
          <a:xfrm>
            <a:off x="731520" y="4590288"/>
            <a:ext cx="1463040" cy="329184"/>
          </a:xfrm>
          <a:prstGeom prst="rect">
            <a:avLst/>
          </a:prstGeom>
          <a:noFill/>
          <a:ln/>
        </p:spPr>
        <p:txBody>
          <a:bodyPr wrap="square" lIns="0" tIns="0" rIns="0" bIns="0" rtlCol="0" anchor="ctr"/>
          <a:lstStyle/>
          <a:p>
            <a:pPr marL="0" indent="0" algn="l">
              <a:buNone/>
            </a:pPr>
            <a:r>
              <a:rPr lang="en-US" sz="1100" b="1" dirty="0">
                <a:solidFill>
                  <a:srgbClr val="21D4FD"/>
                </a:solidFill>
                <a:latin typeface="Trebuchet MS" pitchFamily="34" charset="0"/>
                <a:ea typeface="Trebuchet MS" pitchFamily="34" charset="-122"/>
                <a:cs typeface="Trebuchet MS" pitchFamily="34" charset="-120"/>
              </a:rPr>
              <a:t>Container Runtime</a:t>
            </a:r>
            <a:endParaRPr lang="en-US" sz="1100" dirty="0"/>
          </a:p>
        </p:txBody>
      </p:sp>
      <p:sp>
        <p:nvSpPr>
          <p:cNvPr id="30" name="Text 25"/>
          <p:cNvSpPr/>
          <p:nvPr/>
        </p:nvSpPr>
        <p:spPr>
          <a:xfrm>
            <a:off x="2286000" y="4590288"/>
            <a:ext cx="2834640" cy="329184"/>
          </a:xfrm>
          <a:prstGeom prst="rect">
            <a:avLst/>
          </a:prstGeom>
          <a:noFill/>
          <a:ln/>
        </p:spPr>
        <p:txBody>
          <a:bodyPr wrap="square" lIns="0" tIns="0" rIns="0" bIns="0" rtlCol="0" anchor="ctr"/>
          <a:lstStyle/>
          <a:p>
            <a:pPr marL="0" indent="0" algn="l">
              <a:buNone/>
            </a:pPr>
            <a:r>
              <a:rPr lang="en-US" sz="1000" dirty="0">
                <a:solidFill>
                  <a:srgbClr val="CBD5E1"/>
                </a:solidFill>
                <a:latin typeface="Calibri" pitchFamily="34" charset="0"/>
                <a:ea typeface="Calibri" pitchFamily="34" charset="-122"/>
                <a:cs typeface="Calibri" pitchFamily="34" charset="-120"/>
              </a:rPr>
              <a:t>Runs containers (containerd, CRI-O)</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Core Kubernetes Components</a:t>
            </a:r>
            <a:endParaRPr lang="en-US" sz="2800" dirty="0"/>
          </a:p>
        </p:txBody>
      </p:sp>
      <p:sp>
        <p:nvSpPr>
          <p:cNvPr id="3" name="Shape 1"/>
          <p:cNvSpPr/>
          <p:nvPr/>
        </p:nvSpPr>
        <p:spPr>
          <a:xfrm>
            <a:off x="548640" y="10515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4" name="Image 0" descr="preencoded.png"/>
          <p:cNvPicPr>
            <a:picLocks noChangeAspect="1"/>
          </p:cNvPicPr>
          <p:nvPr/>
        </p:nvPicPr>
        <p:blipFill>
          <a:blip r:embed="rId2"/>
          <a:stretch>
            <a:fillRect/>
          </a:stretch>
        </p:blipFill>
        <p:spPr>
          <a:xfrm>
            <a:off x="731520" y="1188720"/>
            <a:ext cx="320040" cy="320040"/>
          </a:xfrm>
          <a:prstGeom prst="rect">
            <a:avLst/>
          </a:prstGeom>
        </p:spPr>
      </p:pic>
      <p:sp>
        <p:nvSpPr>
          <p:cNvPr id="5" name="Text 2"/>
          <p:cNvSpPr/>
          <p:nvPr/>
        </p:nvSpPr>
        <p:spPr>
          <a:xfrm>
            <a:off x="1143000" y="1161288"/>
            <a:ext cx="178308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Pods</a:t>
            </a:r>
            <a:endParaRPr lang="en-US" sz="1400" dirty="0"/>
          </a:p>
        </p:txBody>
      </p:sp>
      <p:sp>
        <p:nvSpPr>
          <p:cNvPr id="6" name="Text 3"/>
          <p:cNvSpPr/>
          <p:nvPr/>
        </p:nvSpPr>
        <p:spPr>
          <a:xfrm>
            <a:off x="731520" y="16002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Smallest deployable unit — one or more containers sharing network and storage</a:t>
            </a:r>
            <a:endParaRPr lang="en-US" sz="1000" dirty="0"/>
          </a:p>
        </p:txBody>
      </p:sp>
      <p:sp>
        <p:nvSpPr>
          <p:cNvPr id="7" name="Shape 4"/>
          <p:cNvSpPr/>
          <p:nvPr/>
        </p:nvSpPr>
        <p:spPr>
          <a:xfrm>
            <a:off x="3383280" y="10515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8" name="Image 1" descr="preencoded.png"/>
          <p:cNvPicPr>
            <a:picLocks noChangeAspect="1"/>
          </p:cNvPicPr>
          <p:nvPr/>
        </p:nvPicPr>
        <p:blipFill>
          <a:blip r:embed="rId3"/>
          <a:stretch>
            <a:fillRect/>
          </a:stretch>
        </p:blipFill>
        <p:spPr>
          <a:xfrm>
            <a:off x="3566160" y="1188720"/>
            <a:ext cx="320040" cy="320040"/>
          </a:xfrm>
          <a:prstGeom prst="rect">
            <a:avLst/>
          </a:prstGeom>
        </p:spPr>
      </p:pic>
      <p:sp>
        <p:nvSpPr>
          <p:cNvPr id="9" name="Text 5"/>
          <p:cNvSpPr/>
          <p:nvPr/>
        </p:nvSpPr>
        <p:spPr>
          <a:xfrm>
            <a:off x="3977640" y="1161288"/>
            <a:ext cx="1783080" cy="365760"/>
          </a:xfrm>
          <a:prstGeom prst="rect">
            <a:avLst/>
          </a:prstGeom>
          <a:noFill/>
          <a:ln/>
        </p:spPr>
        <p:txBody>
          <a:bodyPr wrap="square" lIns="0" tIns="0" rIns="0" bIns="0" rtlCol="0" anchor="ctr"/>
          <a:lstStyle/>
          <a:p>
            <a:pPr marL="0" indent="0" algn="l">
              <a:buNone/>
            </a:pPr>
            <a:r>
              <a:rPr lang="en-US" sz="1400" b="1" dirty="0">
                <a:solidFill>
                  <a:srgbClr val="38BDF8"/>
                </a:solidFill>
                <a:latin typeface="Trebuchet MS" pitchFamily="34" charset="0"/>
                <a:ea typeface="Trebuchet MS" pitchFamily="34" charset="-122"/>
                <a:cs typeface="Trebuchet MS" pitchFamily="34" charset="-120"/>
              </a:rPr>
              <a:t>Services</a:t>
            </a:r>
            <a:endParaRPr lang="en-US" sz="1400" dirty="0"/>
          </a:p>
        </p:txBody>
      </p:sp>
      <p:sp>
        <p:nvSpPr>
          <p:cNvPr id="10" name="Text 6"/>
          <p:cNvSpPr/>
          <p:nvPr/>
        </p:nvSpPr>
        <p:spPr>
          <a:xfrm>
            <a:off x="3566160" y="16002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Stable network endpoint that routes traffic to a set of pods via selectors</a:t>
            </a:r>
            <a:endParaRPr lang="en-US" sz="1000" dirty="0"/>
          </a:p>
        </p:txBody>
      </p:sp>
      <p:sp>
        <p:nvSpPr>
          <p:cNvPr id="11" name="Shape 7"/>
          <p:cNvSpPr/>
          <p:nvPr/>
        </p:nvSpPr>
        <p:spPr>
          <a:xfrm>
            <a:off x="6217920" y="10515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12" name="Image 2" descr="preencoded.png"/>
          <p:cNvPicPr>
            <a:picLocks noChangeAspect="1"/>
          </p:cNvPicPr>
          <p:nvPr/>
        </p:nvPicPr>
        <p:blipFill>
          <a:blip r:embed="rId4"/>
          <a:stretch>
            <a:fillRect/>
          </a:stretch>
        </p:blipFill>
        <p:spPr>
          <a:xfrm>
            <a:off x="6400800" y="1188720"/>
            <a:ext cx="320040" cy="320040"/>
          </a:xfrm>
          <a:prstGeom prst="rect">
            <a:avLst/>
          </a:prstGeom>
        </p:spPr>
      </p:pic>
      <p:sp>
        <p:nvSpPr>
          <p:cNvPr id="13" name="Text 8"/>
          <p:cNvSpPr/>
          <p:nvPr/>
        </p:nvSpPr>
        <p:spPr>
          <a:xfrm>
            <a:off x="6812280" y="1161288"/>
            <a:ext cx="1783080" cy="365760"/>
          </a:xfrm>
          <a:prstGeom prst="rect">
            <a:avLst/>
          </a:prstGeom>
          <a:noFill/>
          <a:ln/>
        </p:spPr>
        <p:txBody>
          <a:bodyPr wrap="square" lIns="0" tIns="0" rIns="0" bIns="0" rtlCol="0" anchor="ctr"/>
          <a:lstStyle/>
          <a:p>
            <a:pPr marL="0" indent="0" algn="l">
              <a:buNone/>
            </a:pPr>
            <a:r>
              <a:rPr lang="en-US" sz="1400" b="1" dirty="0">
                <a:solidFill>
                  <a:srgbClr val="818CF8"/>
                </a:solidFill>
                <a:latin typeface="Trebuchet MS" pitchFamily="34" charset="0"/>
                <a:ea typeface="Trebuchet MS" pitchFamily="34" charset="-122"/>
                <a:cs typeface="Trebuchet MS" pitchFamily="34" charset="-120"/>
              </a:rPr>
              <a:t>Deployments</a:t>
            </a:r>
            <a:endParaRPr lang="en-US" sz="1400" dirty="0"/>
          </a:p>
        </p:txBody>
      </p:sp>
      <p:sp>
        <p:nvSpPr>
          <p:cNvPr id="14" name="Text 9"/>
          <p:cNvSpPr/>
          <p:nvPr/>
        </p:nvSpPr>
        <p:spPr>
          <a:xfrm>
            <a:off x="6400800" y="16002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Declarative updates for pods and ReplicaSets with rolling update strategy</a:t>
            </a:r>
            <a:endParaRPr lang="en-US" sz="1000" dirty="0"/>
          </a:p>
        </p:txBody>
      </p:sp>
      <p:sp>
        <p:nvSpPr>
          <p:cNvPr id="15" name="Shape 10"/>
          <p:cNvSpPr/>
          <p:nvPr/>
        </p:nvSpPr>
        <p:spPr>
          <a:xfrm>
            <a:off x="548640" y="26517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16" name="Image 3" descr="preencoded.png"/>
          <p:cNvPicPr>
            <a:picLocks noChangeAspect="1"/>
          </p:cNvPicPr>
          <p:nvPr/>
        </p:nvPicPr>
        <p:blipFill>
          <a:blip r:embed="rId5"/>
          <a:stretch>
            <a:fillRect/>
          </a:stretch>
        </p:blipFill>
        <p:spPr>
          <a:xfrm>
            <a:off x="731520" y="2788920"/>
            <a:ext cx="320040" cy="320040"/>
          </a:xfrm>
          <a:prstGeom prst="rect">
            <a:avLst/>
          </a:prstGeom>
        </p:spPr>
      </p:pic>
      <p:sp>
        <p:nvSpPr>
          <p:cNvPr id="17" name="Text 11"/>
          <p:cNvSpPr/>
          <p:nvPr/>
        </p:nvSpPr>
        <p:spPr>
          <a:xfrm>
            <a:off x="1143000" y="2761488"/>
            <a:ext cx="1783080" cy="365760"/>
          </a:xfrm>
          <a:prstGeom prst="rect">
            <a:avLst/>
          </a:prstGeom>
          <a:noFill/>
          <a:ln/>
        </p:spPr>
        <p:txBody>
          <a:bodyPr wrap="square" lIns="0" tIns="0" rIns="0" bIns="0" rtlCol="0" anchor="ctr"/>
          <a:lstStyle/>
          <a:p>
            <a:pPr marL="0" indent="0" algn="l">
              <a:buNone/>
            </a:pPr>
            <a:r>
              <a:rPr lang="en-US" sz="1400" b="1" dirty="0">
                <a:solidFill>
                  <a:srgbClr val="34D399"/>
                </a:solidFill>
                <a:latin typeface="Trebuchet MS" pitchFamily="34" charset="0"/>
                <a:ea typeface="Trebuchet MS" pitchFamily="34" charset="-122"/>
                <a:cs typeface="Trebuchet MS" pitchFamily="34" charset="-120"/>
              </a:rPr>
              <a:t>Config &amp; Secrets</a:t>
            </a:r>
            <a:endParaRPr lang="en-US" sz="1400" dirty="0"/>
          </a:p>
        </p:txBody>
      </p:sp>
      <p:sp>
        <p:nvSpPr>
          <p:cNvPr id="18" name="Text 12"/>
          <p:cNvSpPr/>
          <p:nvPr/>
        </p:nvSpPr>
        <p:spPr>
          <a:xfrm>
            <a:off x="731520" y="32004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Decouple configuration and sensitive data from container images</a:t>
            </a:r>
            <a:endParaRPr lang="en-US" sz="1000" dirty="0"/>
          </a:p>
        </p:txBody>
      </p:sp>
      <p:sp>
        <p:nvSpPr>
          <p:cNvPr id="19" name="Shape 13"/>
          <p:cNvSpPr/>
          <p:nvPr/>
        </p:nvSpPr>
        <p:spPr>
          <a:xfrm>
            <a:off x="3383280" y="26517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20" name="Image 4" descr="preencoded.png"/>
          <p:cNvPicPr>
            <a:picLocks noChangeAspect="1"/>
          </p:cNvPicPr>
          <p:nvPr/>
        </p:nvPicPr>
        <p:blipFill>
          <a:blip r:embed="rId6"/>
          <a:stretch>
            <a:fillRect/>
          </a:stretch>
        </p:blipFill>
        <p:spPr>
          <a:xfrm>
            <a:off x="3566160" y="2788920"/>
            <a:ext cx="320040" cy="320040"/>
          </a:xfrm>
          <a:prstGeom prst="rect">
            <a:avLst/>
          </a:prstGeom>
        </p:spPr>
      </p:pic>
      <p:sp>
        <p:nvSpPr>
          <p:cNvPr id="21" name="Text 14"/>
          <p:cNvSpPr/>
          <p:nvPr/>
        </p:nvSpPr>
        <p:spPr>
          <a:xfrm>
            <a:off x="3977640" y="2761488"/>
            <a:ext cx="1783080" cy="365760"/>
          </a:xfrm>
          <a:prstGeom prst="rect">
            <a:avLst/>
          </a:prstGeom>
          <a:noFill/>
          <a:ln/>
        </p:spPr>
        <p:txBody>
          <a:bodyPr wrap="square" lIns="0" tIns="0" rIns="0" bIns="0" rtlCol="0" anchor="ctr"/>
          <a:lstStyle/>
          <a:p>
            <a:pPr marL="0" indent="0" algn="l">
              <a:buNone/>
            </a:pPr>
            <a:r>
              <a:rPr lang="en-US" sz="1400" b="1" dirty="0">
                <a:solidFill>
                  <a:srgbClr val="F59E0B"/>
                </a:solidFill>
                <a:latin typeface="Trebuchet MS" pitchFamily="34" charset="0"/>
                <a:ea typeface="Trebuchet MS" pitchFamily="34" charset="-122"/>
                <a:cs typeface="Trebuchet MS" pitchFamily="34" charset="-120"/>
              </a:rPr>
              <a:t>Namespaces</a:t>
            </a:r>
            <a:endParaRPr lang="en-US" sz="1400" dirty="0"/>
          </a:p>
        </p:txBody>
      </p:sp>
      <p:sp>
        <p:nvSpPr>
          <p:cNvPr id="22" name="Text 15"/>
          <p:cNvSpPr/>
          <p:nvPr/>
        </p:nvSpPr>
        <p:spPr>
          <a:xfrm>
            <a:off x="3566160" y="32004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Virtual clusters for resource isolation and multi-tenancy within a cluster</a:t>
            </a:r>
            <a:endParaRPr lang="en-US" sz="1000" dirty="0"/>
          </a:p>
        </p:txBody>
      </p:sp>
      <p:sp>
        <p:nvSpPr>
          <p:cNvPr id="23" name="Shape 16"/>
          <p:cNvSpPr/>
          <p:nvPr/>
        </p:nvSpPr>
        <p:spPr>
          <a:xfrm>
            <a:off x="6217920" y="2651760"/>
            <a:ext cx="2560320" cy="1325880"/>
          </a:xfrm>
          <a:prstGeom prst="rect">
            <a:avLst/>
          </a:prstGeom>
          <a:solidFill>
            <a:srgbClr val="0D2137"/>
          </a:solidFill>
          <a:ln/>
          <a:effectLst>
            <a:outerShdw blurRad="76200" dist="25400" dir="8100000" algn="bl" rotWithShape="0">
              <a:srgbClr val="000000">
                <a:alpha val="20000"/>
              </a:srgbClr>
            </a:outerShdw>
          </a:effectLst>
        </p:spPr>
        <p:txBody>
          <a:bodyPr/>
          <a:lstStyle/>
          <a:p>
            <a:endParaRPr lang="en-US"/>
          </a:p>
        </p:txBody>
      </p:sp>
      <p:pic>
        <p:nvPicPr>
          <p:cNvPr id="24" name="Image 5" descr="preencoded.png"/>
          <p:cNvPicPr>
            <a:picLocks noChangeAspect="1"/>
          </p:cNvPicPr>
          <p:nvPr/>
        </p:nvPicPr>
        <p:blipFill>
          <a:blip r:embed="rId7"/>
          <a:stretch>
            <a:fillRect/>
          </a:stretch>
        </p:blipFill>
        <p:spPr>
          <a:xfrm>
            <a:off x="6400800" y="2788920"/>
            <a:ext cx="320040" cy="320040"/>
          </a:xfrm>
          <a:prstGeom prst="rect">
            <a:avLst/>
          </a:prstGeom>
        </p:spPr>
      </p:pic>
      <p:sp>
        <p:nvSpPr>
          <p:cNvPr id="25" name="Text 17"/>
          <p:cNvSpPr/>
          <p:nvPr/>
        </p:nvSpPr>
        <p:spPr>
          <a:xfrm>
            <a:off x="6812280" y="2761488"/>
            <a:ext cx="1783080" cy="365760"/>
          </a:xfrm>
          <a:prstGeom prst="rect">
            <a:avLst/>
          </a:prstGeom>
          <a:noFill/>
          <a:ln/>
        </p:spPr>
        <p:txBody>
          <a:bodyPr wrap="square" lIns="0" tIns="0" rIns="0" bIns="0" rtlCol="0" anchor="ctr"/>
          <a:lstStyle/>
          <a:p>
            <a:pPr marL="0" indent="0" algn="l">
              <a:buNone/>
            </a:pPr>
            <a:r>
              <a:rPr lang="en-US" sz="1400" b="1" dirty="0">
                <a:solidFill>
                  <a:srgbClr val="F472B6"/>
                </a:solidFill>
                <a:latin typeface="Trebuchet MS" pitchFamily="34" charset="0"/>
                <a:ea typeface="Trebuchet MS" pitchFamily="34" charset="-122"/>
                <a:cs typeface="Trebuchet MS" pitchFamily="34" charset="-120"/>
              </a:rPr>
              <a:t>Persistent Volumes</a:t>
            </a:r>
            <a:endParaRPr lang="en-US" sz="1400" dirty="0"/>
          </a:p>
        </p:txBody>
      </p:sp>
      <p:sp>
        <p:nvSpPr>
          <p:cNvPr id="26" name="Text 18"/>
          <p:cNvSpPr/>
          <p:nvPr/>
        </p:nvSpPr>
        <p:spPr>
          <a:xfrm>
            <a:off x="6400800" y="3200400"/>
            <a:ext cx="2194560" cy="777240"/>
          </a:xfrm>
          <a:prstGeom prst="rect">
            <a:avLst/>
          </a:prstGeom>
          <a:noFill/>
          <a:ln/>
        </p:spPr>
        <p:txBody>
          <a:bodyPr wrap="square" lIns="0" tIns="0" rIns="0" bIns="0" rtlCol="0" anchor="t"/>
          <a:lstStyle/>
          <a:p>
            <a:pPr marL="0" indent="0" algn="l">
              <a:lnSpc>
                <a:spcPct val="120000"/>
              </a:lnSpc>
              <a:buNone/>
            </a:pPr>
            <a:r>
              <a:rPr lang="en-US" sz="1000" dirty="0">
                <a:solidFill>
                  <a:srgbClr val="CBD5E1"/>
                </a:solidFill>
                <a:latin typeface="Calibri" pitchFamily="34" charset="0"/>
                <a:ea typeface="Calibri" pitchFamily="34" charset="-122"/>
                <a:cs typeface="Calibri" pitchFamily="34" charset="-120"/>
              </a:rPr>
              <a:t>Storage resources decoupled from pod lifecycle for stateful workloads</a:t>
            </a:r>
            <a:endParaRPr lang="en-US" sz="1000" dirty="0"/>
          </a:p>
        </p:txBody>
      </p:sp>
      <p:pic>
        <p:nvPicPr>
          <p:cNvPr id="27" name="Image 6" descr="/agent/turn2/workspace/images/abstract-digital-illustration-of-interconnected-mi_2026-05-05T05-10-01_image_DAS_0.jpg"/>
          <p:cNvPicPr>
            <a:picLocks noChangeAspect="1"/>
          </p:cNvPicPr>
          <p:nvPr/>
        </p:nvPicPr>
        <p:blipFill>
          <a:blip r:embed="rId8"/>
          <a:srcRect t="40839" b="40839"/>
          <a:stretch/>
        </p:blipFill>
        <p:spPr>
          <a:xfrm>
            <a:off x="0" y="4069080"/>
            <a:ext cx="9144000" cy="1074420"/>
          </a:xfrm>
          <a:prstGeom prst="rect">
            <a:avLst/>
          </a:prstGeom>
        </p:spPr>
      </p:pic>
      <p:sp>
        <p:nvSpPr>
          <p:cNvPr id="28" name="Shape 19"/>
          <p:cNvSpPr/>
          <p:nvPr/>
        </p:nvSpPr>
        <p:spPr>
          <a:xfrm>
            <a:off x="0" y="4069080"/>
            <a:ext cx="9144000" cy="1074420"/>
          </a:xfrm>
          <a:prstGeom prst="rect">
            <a:avLst/>
          </a:prstGeom>
          <a:solidFill>
            <a:srgbClr val="0F1B2D">
              <a:alpha val="60000"/>
            </a:srgbClr>
          </a:solidFill>
          <a:ln/>
        </p:spPr>
        <p:txBody>
          <a:bodyPr/>
          <a:lstStyle/>
          <a:p>
            <a:endParaRPr lang="en-US"/>
          </a:p>
        </p:txBody>
      </p:sp>
      <p:sp>
        <p:nvSpPr>
          <p:cNvPr id="29" name="Text 20"/>
          <p:cNvSpPr/>
          <p:nvPr/>
        </p:nvSpPr>
        <p:spPr>
          <a:xfrm>
            <a:off x="548640" y="4206240"/>
            <a:ext cx="8046720" cy="640080"/>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Each component works together to provide self-healing, auto-scaling container orchestration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90A954-EB40-0623-734D-E437C0F48F96}"/>
              </a:ext>
            </a:extLst>
          </p:cNvPr>
          <p:cNvPicPr>
            <a:picLocks noChangeAspect="1"/>
          </p:cNvPicPr>
          <p:nvPr/>
        </p:nvPicPr>
        <p:blipFill>
          <a:blip r:embed="rId2"/>
          <a:stretch>
            <a:fillRect/>
          </a:stretch>
        </p:blipFill>
        <p:spPr>
          <a:xfrm>
            <a:off x="685800" y="98714"/>
            <a:ext cx="7772400" cy="4946072"/>
          </a:xfrm>
          <a:prstGeom prst="rect">
            <a:avLst/>
          </a:prstGeom>
        </p:spPr>
      </p:pic>
    </p:spTree>
    <p:extLst>
      <p:ext uri="{BB962C8B-B14F-4D97-AF65-F5344CB8AC3E}">
        <p14:creationId xmlns:p14="http://schemas.microsoft.com/office/powerpoint/2010/main" val="42041580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FD3A0D-74F6-6379-962D-E17B06C18C51}"/>
              </a:ext>
            </a:extLst>
          </p:cNvPr>
          <p:cNvSpPr/>
          <p:nvPr/>
        </p:nvSpPr>
        <p:spPr>
          <a:xfrm>
            <a:off x="542261" y="215309"/>
            <a:ext cx="8277446" cy="4433777"/>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350" dirty="0"/>
          </a:p>
        </p:txBody>
      </p:sp>
      <p:sp>
        <p:nvSpPr>
          <p:cNvPr id="4" name="Rounded Rectangle 3">
            <a:extLst>
              <a:ext uri="{FF2B5EF4-FFF2-40B4-BE49-F238E27FC236}">
                <a16:creationId xmlns:a16="http://schemas.microsoft.com/office/drawing/2014/main" id="{DD27C621-DF8C-35D4-904C-C5A9335912BA}"/>
              </a:ext>
            </a:extLst>
          </p:cNvPr>
          <p:cNvSpPr/>
          <p:nvPr/>
        </p:nvSpPr>
        <p:spPr>
          <a:xfrm>
            <a:off x="1307805" y="933007"/>
            <a:ext cx="3405077" cy="3397103"/>
          </a:xfrm>
          <a:prstGeom prst="roundRect">
            <a:avLst/>
          </a:prstGeom>
          <a:ln w="57150">
            <a:solidFill>
              <a:schemeClr val="accent5">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350" dirty="0"/>
              <a:t>Master</a:t>
            </a:r>
          </a:p>
        </p:txBody>
      </p:sp>
      <p:sp>
        <p:nvSpPr>
          <p:cNvPr id="5" name="Rounded Rectangle 4">
            <a:extLst>
              <a:ext uri="{FF2B5EF4-FFF2-40B4-BE49-F238E27FC236}">
                <a16:creationId xmlns:a16="http://schemas.microsoft.com/office/drawing/2014/main" id="{10A9843E-1811-A2F9-E0EA-CD765ECC5B26}"/>
              </a:ext>
            </a:extLst>
          </p:cNvPr>
          <p:cNvSpPr/>
          <p:nvPr/>
        </p:nvSpPr>
        <p:spPr>
          <a:xfrm>
            <a:off x="5130209" y="933007"/>
            <a:ext cx="1719816" cy="33971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350" dirty="0"/>
          </a:p>
        </p:txBody>
      </p:sp>
      <p:sp>
        <p:nvSpPr>
          <p:cNvPr id="6" name="TextBox 5">
            <a:extLst>
              <a:ext uri="{FF2B5EF4-FFF2-40B4-BE49-F238E27FC236}">
                <a16:creationId xmlns:a16="http://schemas.microsoft.com/office/drawing/2014/main" id="{151992C7-92EB-A487-D789-56E9B558CB8E}"/>
              </a:ext>
            </a:extLst>
          </p:cNvPr>
          <p:cNvSpPr txBox="1"/>
          <p:nvPr/>
        </p:nvSpPr>
        <p:spPr>
          <a:xfrm>
            <a:off x="1251984" y="494414"/>
            <a:ext cx="1977656" cy="300082"/>
          </a:xfrm>
          <a:prstGeom prst="rect">
            <a:avLst/>
          </a:prstGeom>
          <a:noFill/>
        </p:spPr>
        <p:txBody>
          <a:bodyPr wrap="square" rtlCol="0">
            <a:spAutoFit/>
          </a:bodyPr>
          <a:lstStyle/>
          <a:p>
            <a:r>
              <a:rPr lang="en-US" sz="1350" dirty="0"/>
              <a:t>Control-Plane - Brain</a:t>
            </a:r>
          </a:p>
        </p:txBody>
      </p:sp>
      <p:sp>
        <p:nvSpPr>
          <p:cNvPr id="7" name="TextBox 6">
            <a:extLst>
              <a:ext uri="{FF2B5EF4-FFF2-40B4-BE49-F238E27FC236}">
                <a16:creationId xmlns:a16="http://schemas.microsoft.com/office/drawing/2014/main" id="{19DB8691-2EA6-4C3D-C40A-DDC384EE4930}"/>
              </a:ext>
            </a:extLst>
          </p:cNvPr>
          <p:cNvSpPr txBox="1"/>
          <p:nvPr/>
        </p:nvSpPr>
        <p:spPr>
          <a:xfrm>
            <a:off x="5422605" y="494414"/>
            <a:ext cx="1977655" cy="300082"/>
          </a:xfrm>
          <a:prstGeom prst="rect">
            <a:avLst/>
          </a:prstGeom>
          <a:noFill/>
        </p:spPr>
        <p:txBody>
          <a:bodyPr wrap="square" rtlCol="0">
            <a:spAutoFit/>
          </a:bodyPr>
          <a:lstStyle/>
          <a:p>
            <a:r>
              <a:rPr lang="en-US" sz="1350" dirty="0"/>
              <a:t>Worker Nodes - Muscles</a:t>
            </a:r>
          </a:p>
        </p:txBody>
      </p:sp>
      <p:sp>
        <p:nvSpPr>
          <p:cNvPr id="8" name="Oval 7">
            <a:extLst>
              <a:ext uri="{FF2B5EF4-FFF2-40B4-BE49-F238E27FC236}">
                <a16:creationId xmlns:a16="http://schemas.microsoft.com/office/drawing/2014/main" id="{3ED3BE5B-97FD-35CE-5070-26813FFB0A11}"/>
              </a:ext>
            </a:extLst>
          </p:cNvPr>
          <p:cNvSpPr/>
          <p:nvPr/>
        </p:nvSpPr>
        <p:spPr>
          <a:xfrm>
            <a:off x="5510324" y="1299831"/>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Container1</a:t>
            </a:r>
          </a:p>
        </p:txBody>
      </p:sp>
      <p:sp>
        <p:nvSpPr>
          <p:cNvPr id="9" name="Oval 8">
            <a:extLst>
              <a:ext uri="{FF2B5EF4-FFF2-40B4-BE49-F238E27FC236}">
                <a16:creationId xmlns:a16="http://schemas.microsoft.com/office/drawing/2014/main" id="{19C28D9C-BE08-D072-7432-E651D3F56D63}"/>
              </a:ext>
            </a:extLst>
          </p:cNvPr>
          <p:cNvSpPr/>
          <p:nvPr/>
        </p:nvSpPr>
        <p:spPr>
          <a:xfrm>
            <a:off x="5510324" y="2081324"/>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Container2</a:t>
            </a:r>
          </a:p>
        </p:txBody>
      </p:sp>
      <p:sp>
        <p:nvSpPr>
          <p:cNvPr id="10" name="Oval 9">
            <a:extLst>
              <a:ext uri="{FF2B5EF4-FFF2-40B4-BE49-F238E27FC236}">
                <a16:creationId xmlns:a16="http://schemas.microsoft.com/office/drawing/2014/main" id="{0C0C85A8-7F05-2394-5F07-AF2834C52602}"/>
              </a:ext>
            </a:extLst>
          </p:cNvPr>
          <p:cNvSpPr/>
          <p:nvPr/>
        </p:nvSpPr>
        <p:spPr>
          <a:xfrm>
            <a:off x="5510324" y="2976564"/>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Container3</a:t>
            </a:r>
          </a:p>
        </p:txBody>
      </p:sp>
      <p:sp>
        <p:nvSpPr>
          <p:cNvPr id="12" name="TextBox 11">
            <a:extLst>
              <a:ext uri="{FF2B5EF4-FFF2-40B4-BE49-F238E27FC236}">
                <a16:creationId xmlns:a16="http://schemas.microsoft.com/office/drawing/2014/main" id="{C61ED95A-0AB6-FCC6-467F-93A90D03C6F2}"/>
              </a:ext>
            </a:extLst>
          </p:cNvPr>
          <p:cNvSpPr txBox="1"/>
          <p:nvPr/>
        </p:nvSpPr>
        <p:spPr>
          <a:xfrm>
            <a:off x="478465" y="0"/>
            <a:ext cx="2296633" cy="300082"/>
          </a:xfrm>
          <a:prstGeom prst="rect">
            <a:avLst/>
          </a:prstGeom>
          <a:noFill/>
        </p:spPr>
        <p:txBody>
          <a:bodyPr wrap="square" rtlCol="0">
            <a:spAutoFit/>
          </a:bodyPr>
          <a:lstStyle/>
          <a:p>
            <a:r>
              <a:rPr lang="en-US" sz="1350" dirty="0"/>
              <a:t>Kubernetes Cluster</a:t>
            </a:r>
          </a:p>
        </p:txBody>
      </p:sp>
      <p:sp>
        <p:nvSpPr>
          <p:cNvPr id="14" name="Rounded Rectangle 13">
            <a:extLst>
              <a:ext uri="{FF2B5EF4-FFF2-40B4-BE49-F238E27FC236}">
                <a16:creationId xmlns:a16="http://schemas.microsoft.com/office/drawing/2014/main" id="{0724E84E-6258-A424-07E2-AD2821C21AD6}"/>
              </a:ext>
            </a:extLst>
          </p:cNvPr>
          <p:cNvSpPr/>
          <p:nvPr/>
        </p:nvSpPr>
        <p:spPr>
          <a:xfrm>
            <a:off x="6982933" y="933007"/>
            <a:ext cx="1719816" cy="339710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350" dirty="0"/>
          </a:p>
        </p:txBody>
      </p:sp>
      <p:sp>
        <p:nvSpPr>
          <p:cNvPr id="15" name="Oval 14">
            <a:extLst>
              <a:ext uri="{FF2B5EF4-FFF2-40B4-BE49-F238E27FC236}">
                <a16:creationId xmlns:a16="http://schemas.microsoft.com/office/drawing/2014/main" id="{B75C01FE-E96E-0495-1319-B5C8555C664F}"/>
              </a:ext>
            </a:extLst>
          </p:cNvPr>
          <p:cNvSpPr/>
          <p:nvPr/>
        </p:nvSpPr>
        <p:spPr>
          <a:xfrm>
            <a:off x="7122485" y="1299830"/>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Container1</a:t>
            </a:r>
          </a:p>
        </p:txBody>
      </p:sp>
      <p:sp>
        <p:nvSpPr>
          <p:cNvPr id="16" name="Oval 15">
            <a:extLst>
              <a:ext uri="{FF2B5EF4-FFF2-40B4-BE49-F238E27FC236}">
                <a16:creationId xmlns:a16="http://schemas.microsoft.com/office/drawing/2014/main" id="{551E781B-4320-0C68-52F6-7C8C803C77AC}"/>
              </a:ext>
            </a:extLst>
          </p:cNvPr>
          <p:cNvSpPr/>
          <p:nvPr/>
        </p:nvSpPr>
        <p:spPr>
          <a:xfrm>
            <a:off x="7122485" y="2195070"/>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Container2</a:t>
            </a:r>
          </a:p>
        </p:txBody>
      </p:sp>
      <p:sp>
        <p:nvSpPr>
          <p:cNvPr id="17" name="Oval 16">
            <a:extLst>
              <a:ext uri="{FF2B5EF4-FFF2-40B4-BE49-F238E27FC236}">
                <a16:creationId xmlns:a16="http://schemas.microsoft.com/office/drawing/2014/main" id="{DD02FC06-94AD-60D1-045A-C88401DFFAFB}"/>
              </a:ext>
            </a:extLst>
          </p:cNvPr>
          <p:cNvSpPr/>
          <p:nvPr/>
        </p:nvSpPr>
        <p:spPr>
          <a:xfrm>
            <a:off x="7122485" y="3144025"/>
            <a:ext cx="1092495" cy="733646"/>
          </a:xfrm>
          <a:prstGeom prst="ellipse">
            <a:avLst/>
          </a:prstGeom>
          <a:ln>
            <a:solidFill>
              <a:schemeClr val="accent1">
                <a:lumMod val="75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825" dirty="0"/>
              <a:t>Container3</a:t>
            </a:r>
          </a:p>
        </p:txBody>
      </p:sp>
    </p:spTree>
    <p:extLst>
      <p:ext uri="{BB962C8B-B14F-4D97-AF65-F5344CB8AC3E}">
        <p14:creationId xmlns:p14="http://schemas.microsoft.com/office/powerpoint/2010/main" val="36440999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alpha val="65000"/>
            </a:srgbClr>
          </a:solidFill>
          <a:ln/>
        </p:spPr>
        <p:txBody>
          <a:bodyPr/>
          <a:lstStyle/>
          <a:p>
            <a:endParaRPr lang="en-US"/>
          </a:p>
        </p:txBody>
      </p:sp>
      <p:sp>
        <p:nvSpPr>
          <p:cNvPr id="3" name="Text 1"/>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Kubernetes in Practice</a:t>
            </a:r>
            <a:endParaRPr lang="en-US" sz="2800" dirty="0"/>
          </a:p>
        </p:txBody>
      </p:sp>
      <p:sp>
        <p:nvSpPr>
          <p:cNvPr id="4" name="Text 2"/>
          <p:cNvSpPr/>
          <p:nvPr/>
        </p:nvSpPr>
        <p:spPr>
          <a:xfrm>
            <a:off x="548640" y="777240"/>
            <a:ext cx="82296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Common use cases and deployment patterns</a:t>
            </a:r>
            <a:endParaRPr lang="en-US" sz="1200" dirty="0"/>
          </a:p>
        </p:txBody>
      </p:sp>
      <p:sp>
        <p:nvSpPr>
          <p:cNvPr id="5" name="Shape 3"/>
          <p:cNvSpPr/>
          <p:nvPr/>
        </p:nvSpPr>
        <p:spPr>
          <a:xfrm>
            <a:off x="548640" y="123444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1520" y="1371600"/>
            <a:ext cx="320040" cy="320040"/>
          </a:xfrm>
          <a:prstGeom prst="rect">
            <a:avLst/>
          </a:prstGeom>
        </p:spPr>
      </p:pic>
      <p:sp>
        <p:nvSpPr>
          <p:cNvPr id="7" name="Text 4"/>
          <p:cNvSpPr/>
          <p:nvPr/>
        </p:nvSpPr>
        <p:spPr>
          <a:xfrm>
            <a:off x="1143000" y="134416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Microservices Orchestration</a:t>
            </a:r>
            <a:endParaRPr lang="en-US" sz="1400" dirty="0"/>
          </a:p>
        </p:txBody>
      </p:sp>
      <p:sp>
        <p:nvSpPr>
          <p:cNvPr id="8" name="Text 5"/>
          <p:cNvSpPr/>
          <p:nvPr/>
        </p:nvSpPr>
        <p:spPr>
          <a:xfrm>
            <a:off x="731520" y="178308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Deploy, manage, and scale independent services with service discovery, load balancing, and health monitoring built in.</a:t>
            </a:r>
            <a:endParaRPr lang="en-US" sz="1050" dirty="0"/>
          </a:p>
        </p:txBody>
      </p:sp>
      <p:sp>
        <p:nvSpPr>
          <p:cNvPr id="9" name="Shape 6"/>
          <p:cNvSpPr/>
          <p:nvPr/>
        </p:nvSpPr>
        <p:spPr>
          <a:xfrm>
            <a:off x="4846320" y="123444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10" name="Image 1" descr="preencoded.png"/>
          <p:cNvPicPr>
            <a:picLocks noChangeAspect="1"/>
          </p:cNvPicPr>
          <p:nvPr/>
        </p:nvPicPr>
        <p:blipFill>
          <a:blip r:embed="rId4"/>
          <a:stretch>
            <a:fillRect/>
          </a:stretch>
        </p:blipFill>
        <p:spPr>
          <a:xfrm>
            <a:off x="5029200" y="1371600"/>
            <a:ext cx="320040" cy="320040"/>
          </a:xfrm>
          <a:prstGeom prst="rect">
            <a:avLst/>
          </a:prstGeom>
        </p:spPr>
      </p:pic>
      <p:sp>
        <p:nvSpPr>
          <p:cNvPr id="11" name="Text 7"/>
          <p:cNvSpPr/>
          <p:nvPr/>
        </p:nvSpPr>
        <p:spPr>
          <a:xfrm>
            <a:off x="5440680" y="134416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CI/CD &amp; GitOps</a:t>
            </a:r>
            <a:endParaRPr lang="en-US" sz="1400" dirty="0"/>
          </a:p>
        </p:txBody>
      </p:sp>
      <p:sp>
        <p:nvSpPr>
          <p:cNvPr id="12" name="Text 8"/>
          <p:cNvSpPr/>
          <p:nvPr/>
        </p:nvSpPr>
        <p:spPr>
          <a:xfrm>
            <a:off x="5029200" y="178308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Automate deployments with rolling updates, canary releases, and rollbacks. Integrate with ArgoCD, Flux, and Jenkins.</a:t>
            </a:r>
            <a:endParaRPr lang="en-US" sz="1050" dirty="0"/>
          </a:p>
        </p:txBody>
      </p:sp>
      <p:sp>
        <p:nvSpPr>
          <p:cNvPr id="13" name="Shape 9"/>
          <p:cNvSpPr/>
          <p:nvPr/>
        </p:nvSpPr>
        <p:spPr>
          <a:xfrm>
            <a:off x="548640" y="288036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14" name="Image 2" descr="preencoded.png"/>
          <p:cNvPicPr>
            <a:picLocks noChangeAspect="1"/>
          </p:cNvPicPr>
          <p:nvPr/>
        </p:nvPicPr>
        <p:blipFill>
          <a:blip r:embed="rId5"/>
          <a:stretch>
            <a:fillRect/>
          </a:stretch>
        </p:blipFill>
        <p:spPr>
          <a:xfrm>
            <a:off x="731520" y="3017520"/>
            <a:ext cx="320040" cy="320040"/>
          </a:xfrm>
          <a:prstGeom prst="rect">
            <a:avLst/>
          </a:prstGeom>
        </p:spPr>
      </p:pic>
      <p:sp>
        <p:nvSpPr>
          <p:cNvPr id="15" name="Text 10"/>
          <p:cNvSpPr/>
          <p:nvPr/>
        </p:nvSpPr>
        <p:spPr>
          <a:xfrm>
            <a:off x="1143000" y="299008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Auto-Scaling Workloads</a:t>
            </a:r>
            <a:endParaRPr lang="en-US" sz="1400" dirty="0"/>
          </a:p>
        </p:txBody>
      </p:sp>
      <p:sp>
        <p:nvSpPr>
          <p:cNvPr id="16" name="Text 11"/>
          <p:cNvSpPr/>
          <p:nvPr/>
        </p:nvSpPr>
        <p:spPr>
          <a:xfrm>
            <a:off x="731520" y="342900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Horizontal Pod Autoscaler adjusts replicas based on CPU, memory, or custom metrics. Cluster autoscaler adds nodes.</a:t>
            </a:r>
            <a:endParaRPr lang="en-US" sz="1050" dirty="0"/>
          </a:p>
        </p:txBody>
      </p:sp>
      <p:sp>
        <p:nvSpPr>
          <p:cNvPr id="17" name="Shape 12"/>
          <p:cNvSpPr/>
          <p:nvPr/>
        </p:nvSpPr>
        <p:spPr>
          <a:xfrm>
            <a:off x="4846320" y="2880360"/>
            <a:ext cx="3840480" cy="1371600"/>
          </a:xfrm>
          <a:prstGeom prst="rect">
            <a:avLst/>
          </a:prstGeom>
          <a:solidFill>
            <a:srgbClr val="0F1B2D">
              <a:alpha val="75000"/>
            </a:srgbClr>
          </a:solidFill>
          <a:ln/>
          <a:effectLst>
            <a:outerShdw blurRad="101600" dist="38100" dir="8100000" algn="bl" rotWithShape="0">
              <a:srgbClr val="000000">
                <a:alpha val="25000"/>
              </a:srgbClr>
            </a:outerShdw>
          </a:effectLst>
        </p:spPr>
        <p:txBody>
          <a:bodyPr/>
          <a:lstStyle/>
          <a:p>
            <a:endParaRPr lang="en-US"/>
          </a:p>
        </p:txBody>
      </p:sp>
      <p:pic>
        <p:nvPicPr>
          <p:cNvPr id="18" name="Image 3" descr="preencoded.png"/>
          <p:cNvPicPr>
            <a:picLocks noChangeAspect="1"/>
          </p:cNvPicPr>
          <p:nvPr/>
        </p:nvPicPr>
        <p:blipFill>
          <a:blip r:embed="rId6"/>
          <a:stretch>
            <a:fillRect/>
          </a:stretch>
        </p:blipFill>
        <p:spPr>
          <a:xfrm>
            <a:off x="5029200" y="3017520"/>
            <a:ext cx="320040" cy="320040"/>
          </a:xfrm>
          <a:prstGeom prst="rect">
            <a:avLst/>
          </a:prstGeom>
        </p:spPr>
      </p:pic>
      <p:sp>
        <p:nvSpPr>
          <p:cNvPr id="19" name="Text 13"/>
          <p:cNvSpPr/>
          <p:nvPr/>
        </p:nvSpPr>
        <p:spPr>
          <a:xfrm>
            <a:off x="5440680" y="2990088"/>
            <a:ext cx="3063240" cy="365760"/>
          </a:xfrm>
          <a:prstGeom prst="rect">
            <a:avLst/>
          </a:prstGeom>
          <a:noFill/>
          <a:ln/>
        </p:spPr>
        <p:txBody>
          <a:bodyPr wrap="square" lIns="0" tIns="0" rIns="0" bIns="0" rtlCol="0" anchor="ctr"/>
          <a:lstStyle/>
          <a:p>
            <a:pPr marL="0" indent="0" algn="l">
              <a:buNone/>
            </a:pPr>
            <a:r>
              <a:rPr lang="en-US" sz="1400" b="1" dirty="0">
                <a:solidFill>
                  <a:srgbClr val="21D4FD"/>
                </a:solidFill>
                <a:latin typeface="Trebuchet MS" pitchFamily="34" charset="0"/>
                <a:ea typeface="Trebuchet MS" pitchFamily="34" charset="-122"/>
                <a:cs typeface="Trebuchet MS" pitchFamily="34" charset="-120"/>
              </a:rPr>
              <a:t>Hybrid &amp; Multi-Cloud</a:t>
            </a:r>
            <a:endParaRPr lang="en-US" sz="1400" dirty="0"/>
          </a:p>
        </p:txBody>
      </p:sp>
      <p:sp>
        <p:nvSpPr>
          <p:cNvPr id="20" name="Text 14"/>
          <p:cNvSpPr/>
          <p:nvPr/>
        </p:nvSpPr>
        <p:spPr>
          <a:xfrm>
            <a:off x="5029200" y="3429000"/>
            <a:ext cx="3474720" cy="777240"/>
          </a:xfrm>
          <a:prstGeom prst="rect">
            <a:avLst/>
          </a:prstGeom>
          <a:noFill/>
          <a:ln/>
        </p:spPr>
        <p:txBody>
          <a:bodyPr wrap="square" lIns="0" tIns="0" rIns="0" bIns="0" rtlCol="0" anchor="t"/>
          <a:lstStyle/>
          <a:p>
            <a:pPr marL="0" indent="0" algn="l">
              <a:lnSpc>
                <a:spcPct val="125000"/>
              </a:lnSpc>
              <a:buNone/>
            </a:pPr>
            <a:r>
              <a:rPr lang="en-US" sz="1050" dirty="0">
                <a:solidFill>
                  <a:srgbClr val="CBD5E1"/>
                </a:solidFill>
                <a:latin typeface="Calibri" pitchFamily="34" charset="0"/>
                <a:ea typeface="Calibri" pitchFamily="34" charset="-122"/>
                <a:cs typeface="Calibri" pitchFamily="34" charset="-120"/>
              </a:rPr>
              <a:t>Run consistent workloads across on-premises, AWS, Azure, and GCP with federation and service mesh integration.</a:t>
            </a:r>
            <a:endParaRPr lang="en-US" sz="1050" dirty="0"/>
          </a:p>
        </p:txBody>
      </p:sp>
      <p:sp>
        <p:nvSpPr>
          <p:cNvPr id="21" name="Text 15"/>
          <p:cNvSpPr/>
          <p:nvPr/>
        </p:nvSpPr>
        <p:spPr>
          <a:xfrm>
            <a:off x="548640" y="4572000"/>
            <a:ext cx="8046720" cy="320040"/>
          </a:xfrm>
          <a:prstGeom prst="rect">
            <a:avLst/>
          </a:prstGeom>
          <a:noFill/>
          <a:ln/>
        </p:spPr>
        <p:txBody>
          <a:bodyPr wrap="square" lIns="0" tIns="0" rIns="0" bIns="0" rtlCol="0" anchor="ctr"/>
          <a:lstStyle/>
          <a:p>
            <a:pPr marL="0" indent="0" algn="ctr">
              <a:buNone/>
            </a:pPr>
            <a:r>
              <a:rPr lang="en-US" sz="1000" i="1" dirty="0">
                <a:solidFill>
                  <a:srgbClr val="CBD5E1"/>
                </a:solidFill>
                <a:latin typeface="Calibri" pitchFamily="34" charset="0"/>
                <a:ea typeface="Calibri" pitchFamily="34" charset="-122"/>
                <a:cs typeface="Calibri" pitchFamily="34" charset="-120"/>
              </a:rPr>
              <a:t>Kubernetes powers 96% of organizations using containers in production (CNCF Survey 2024)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50292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Prerequisites &amp; Setup</a:t>
            </a:r>
            <a:endParaRPr lang="en-US" sz="2800" dirty="0"/>
          </a:p>
        </p:txBody>
      </p:sp>
      <p:sp>
        <p:nvSpPr>
          <p:cNvPr id="3" name="Text 1"/>
          <p:cNvSpPr/>
          <p:nvPr/>
        </p:nvSpPr>
        <p:spPr>
          <a:xfrm>
            <a:off x="548640" y="777240"/>
            <a:ext cx="50292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What you need before enabling Kubernetes</a:t>
            </a:r>
            <a:endParaRPr lang="en-US" sz="1200" dirty="0"/>
          </a:p>
        </p:txBody>
      </p:sp>
      <p:pic>
        <p:nvPicPr>
          <p:cNvPr id="4" name="Image 0" descr="/agent/turn3/workspace/images/flat-isometric-illustration-of-a-macbook-laptop-sc_2026-05-05T05-30-22_image_DAS_0.jpg"/>
          <p:cNvPicPr>
            <a:picLocks noChangeAspect="1"/>
          </p:cNvPicPr>
          <p:nvPr/>
        </p:nvPicPr>
        <p:blipFill>
          <a:blip r:embed="rId2"/>
          <a:srcRect l="28074" r="28074"/>
          <a:stretch/>
        </p:blipFill>
        <p:spPr>
          <a:xfrm>
            <a:off x="5760720" y="0"/>
            <a:ext cx="3383280" cy="5143500"/>
          </a:xfrm>
          <a:prstGeom prst="rect">
            <a:avLst/>
          </a:prstGeom>
        </p:spPr>
      </p:pic>
      <p:sp>
        <p:nvSpPr>
          <p:cNvPr id="5" name="Shape 2"/>
          <p:cNvSpPr/>
          <p:nvPr/>
        </p:nvSpPr>
        <p:spPr>
          <a:xfrm>
            <a:off x="5760720" y="0"/>
            <a:ext cx="3383280" cy="5143500"/>
          </a:xfrm>
          <a:prstGeom prst="rect">
            <a:avLst/>
          </a:prstGeom>
          <a:solidFill>
            <a:srgbClr val="0F1B2D">
              <a:alpha val="70000"/>
            </a:srgbClr>
          </a:solidFill>
          <a:ln/>
        </p:spPr>
        <p:txBody>
          <a:bodyPr/>
          <a:lstStyle/>
          <a:p>
            <a:endParaRPr lang="en-US"/>
          </a:p>
        </p:txBody>
      </p:sp>
      <p:sp>
        <p:nvSpPr>
          <p:cNvPr id="6" name="Shape 3"/>
          <p:cNvSpPr/>
          <p:nvPr/>
        </p:nvSpPr>
        <p:spPr>
          <a:xfrm>
            <a:off x="548640" y="1234440"/>
            <a:ext cx="4937760" cy="640080"/>
          </a:xfrm>
          <a:prstGeom prst="rect">
            <a:avLst/>
          </a:prstGeom>
          <a:solidFill>
            <a:srgbClr val="0D2137"/>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731520" y="1371600"/>
            <a:ext cx="365760" cy="365760"/>
          </a:xfrm>
          <a:prstGeom prst="rect">
            <a:avLst/>
          </a:prstGeom>
        </p:spPr>
      </p:pic>
      <p:sp>
        <p:nvSpPr>
          <p:cNvPr id="8" name="Text 4"/>
          <p:cNvSpPr/>
          <p:nvPr/>
        </p:nvSpPr>
        <p:spPr>
          <a:xfrm>
            <a:off x="1234440" y="1280160"/>
            <a:ext cx="1828800" cy="320040"/>
          </a:xfrm>
          <a:prstGeom prst="rect">
            <a:avLst/>
          </a:prstGeom>
          <a:noFill/>
          <a:ln/>
        </p:spPr>
        <p:txBody>
          <a:bodyPr wrap="square" lIns="0" tIns="0" rIns="0" bIns="0" rtlCol="0" anchor="ctr"/>
          <a:lstStyle/>
          <a:p>
            <a:pPr marL="0" indent="0" algn="l">
              <a:buNone/>
            </a:pPr>
            <a:r>
              <a:rPr lang="en-US" sz="1400" b="1" dirty="0">
                <a:solidFill>
                  <a:srgbClr val="CBD5E1"/>
                </a:solidFill>
                <a:latin typeface="Trebuchet MS" pitchFamily="34" charset="0"/>
                <a:ea typeface="Trebuchet MS" pitchFamily="34" charset="-122"/>
                <a:cs typeface="Trebuchet MS" pitchFamily="34" charset="-120"/>
              </a:rPr>
              <a:t>macOS</a:t>
            </a:r>
            <a:endParaRPr lang="en-US" sz="1400" dirty="0"/>
          </a:p>
        </p:txBody>
      </p:sp>
      <p:sp>
        <p:nvSpPr>
          <p:cNvPr id="9" name="Text 5"/>
          <p:cNvSpPr/>
          <p:nvPr/>
        </p:nvSpPr>
        <p:spPr>
          <a:xfrm>
            <a:off x="1234440" y="1554480"/>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macOS 12 (Monterey) or later recommended</a:t>
            </a:r>
            <a:endParaRPr lang="en-US" sz="1000" dirty="0"/>
          </a:p>
        </p:txBody>
      </p:sp>
      <p:sp>
        <p:nvSpPr>
          <p:cNvPr id="10" name="Shape 6"/>
          <p:cNvSpPr/>
          <p:nvPr/>
        </p:nvSpPr>
        <p:spPr>
          <a:xfrm>
            <a:off x="548640" y="1984248"/>
            <a:ext cx="4937760" cy="640080"/>
          </a:xfrm>
          <a:prstGeom prst="rect">
            <a:avLst/>
          </a:prstGeom>
          <a:solidFill>
            <a:srgbClr val="0D2137"/>
          </a:solidFill>
          <a:ln/>
        </p:spPr>
        <p:txBody>
          <a:bodyPr/>
          <a:lstStyle/>
          <a:p>
            <a:endParaRPr lang="en-US"/>
          </a:p>
        </p:txBody>
      </p:sp>
      <p:pic>
        <p:nvPicPr>
          <p:cNvPr id="11" name="Image 2" descr="preencoded.png"/>
          <p:cNvPicPr>
            <a:picLocks noChangeAspect="1"/>
          </p:cNvPicPr>
          <p:nvPr/>
        </p:nvPicPr>
        <p:blipFill>
          <a:blip r:embed="rId4"/>
          <a:stretch>
            <a:fillRect/>
          </a:stretch>
        </p:blipFill>
        <p:spPr>
          <a:xfrm>
            <a:off x="731520" y="2121408"/>
            <a:ext cx="365760" cy="365760"/>
          </a:xfrm>
          <a:prstGeom prst="rect">
            <a:avLst/>
          </a:prstGeom>
        </p:spPr>
      </p:pic>
      <p:sp>
        <p:nvSpPr>
          <p:cNvPr id="12" name="Text 7"/>
          <p:cNvSpPr/>
          <p:nvPr/>
        </p:nvSpPr>
        <p:spPr>
          <a:xfrm>
            <a:off x="1234440" y="2029968"/>
            <a:ext cx="1828800" cy="320040"/>
          </a:xfrm>
          <a:prstGeom prst="rect">
            <a:avLst/>
          </a:prstGeom>
          <a:noFill/>
          <a:ln/>
        </p:spPr>
        <p:txBody>
          <a:bodyPr wrap="square" lIns="0" tIns="0" rIns="0" bIns="0" rtlCol="0" anchor="ctr"/>
          <a:lstStyle/>
          <a:p>
            <a:pPr marL="0" indent="0" algn="l">
              <a:buNone/>
            </a:pPr>
            <a:r>
              <a:rPr lang="en-US" sz="1400" b="1" dirty="0">
                <a:solidFill>
                  <a:srgbClr val="2496ED"/>
                </a:solidFill>
                <a:latin typeface="Trebuchet MS" pitchFamily="34" charset="0"/>
                <a:ea typeface="Trebuchet MS" pitchFamily="34" charset="-122"/>
                <a:cs typeface="Trebuchet MS" pitchFamily="34" charset="-120"/>
              </a:rPr>
              <a:t>Docker Desktop</a:t>
            </a:r>
            <a:endParaRPr lang="en-US" sz="1400" dirty="0"/>
          </a:p>
        </p:txBody>
      </p:sp>
      <p:sp>
        <p:nvSpPr>
          <p:cNvPr id="13" name="Text 8"/>
          <p:cNvSpPr/>
          <p:nvPr/>
        </p:nvSpPr>
        <p:spPr>
          <a:xfrm>
            <a:off x="1234440" y="2304288"/>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Version 4.x+ installed and running</a:t>
            </a:r>
            <a:endParaRPr lang="en-US" sz="1000" dirty="0"/>
          </a:p>
        </p:txBody>
      </p:sp>
      <p:sp>
        <p:nvSpPr>
          <p:cNvPr id="14" name="Shape 9"/>
          <p:cNvSpPr/>
          <p:nvPr/>
        </p:nvSpPr>
        <p:spPr>
          <a:xfrm>
            <a:off x="548640" y="2734056"/>
            <a:ext cx="4937760" cy="640080"/>
          </a:xfrm>
          <a:prstGeom prst="rect">
            <a:avLst/>
          </a:prstGeom>
          <a:solidFill>
            <a:srgbClr val="0D2137"/>
          </a:solidFill>
          <a:ln/>
        </p:spPr>
        <p:txBody>
          <a:bodyPr/>
          <a:lstStyle/>
          <a:p>
            <a:endParaRPr lang="en-US"/>
          </a:p>
        </p:txBody>
      </p:sp>
      <p:pic>
        <p:nvPicPr>
          <p:cNvPr id="15" name="Image 3" descr="preencoded.png"/>
          <p:cNvPicPr>
            <a:picLocks noChangeAspect="1"/>
          </p:cNvPicPr>
          <p:nvPr/>
        </p:nvPicPr>
        <p:blipFill>
          <a:blip r:embed="rId5"/>
          <a:stretch>
            <a:fillRect/>
          </a:stretch>
        </p:blipFill>
        <p:spPr>
          <a:xfrm>
            <a:off x="731520" y="2871216"/>
            <a:ext cx="365760" cy="365760"/>
          </a:xfrm>
          <a:prstGeom prst="rect">
            <a:avLst/>
          </a:prstGeom>
        </p:spPr>
      </p:pic>
      <p:sp>
        <p:nvSpPr>
          <p:cNvPr id="16" name="Text 10"/>
          <p:cNvSpPr/>
          <p:nvPr/>
        </p:nvSpPr>
        <p:spPr>
          <a:xfrm>
            <a:off x="1234440" y="2779776"/>
            <a:ext cx="1828800" cy="320040"/>
          </a:xfrm>
          <a:prstGeom prst="rect">
            <a:avLst/>
          </a:prstGeom>
          <a:noFill/>
          <a:ln/>
        </p:spPr>
        <p:txBody>
          <a:bodyPr wrap="square" lIns="0" tIns="0" rIns="0" bIns="0" rtlCol="0" anchor="ctr"/>
          <a:lstStyle/>
          <a:p>
            <a:pPr marL="0" indent="0" algn="l">
              <a:buNone/>
            </a:pPr>
            <a:r>
              <a:rPr lang="en-US" sz="1400" b="1" dirty="0">
                <a:solidFill>
                  <a:srgbClr val="F59E0B"/>
                </a:solidFill>
                <a:latin typeface="Trebuchet MS" pitchFamily="34" charset="0"/>
                <a:ea typeface="Trebuchet MS" pitchFamily="34" charset="-122"/>
                <a:cs typeface="Trebuchet MS" pitchFamily="34" charset="-120"/>
              </a:rPr>
              <a:t>Memory</a:t>
            </a:r>
            <a:endParaRPr lang="en-US" sz="1400" dirty="0"/>
          </a:p>
        </p:txBody>
      </p:sp>
      <p:sp>
        <p:nvSpPr>
          <p:cNvPr id="17" name="Text 11"/>
          <p:cNvSpPr/>
          <p:nvPr/>
        </p:nvSpPr>
        <p:spPr>
          <a:xfrm>
            <a:off x="1234440" y="3054096"/>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Minimum 4 GB RAM allocated to Docker (6 GB+ recommended)</a:t>
            </a:r>
            <a:endParaRPr lang="en-US" sz="1000" dirty="0"/>
          </a:p>
        </p:txBody>
      </p:sp>
      <p:sp>
        <p:nvSpPr>
          <p:cNvPr id="18" name="Shape 12"/>
          <p:cNvSpPr/>
          <p:nvPr/>
        </p:nvSpPr>
        <p:spPr>
          <a:xfrm>
            <a:off x="548640" y="3483864"/>
            <a:ext cx="4937760" cy="640080"/>
          </a:xfrm>
          <a:prstGeom prst="rect">
            <a:avLst/>
          </a:prstGeom>
          <a:solidFill>
            <a:srgbClr val="0D2137"/>
          </a:solidFill>
          <a:ln/>
        </p:spPr>
        <p:txBody>
          <a:bodyPr/>
          <a:lstStyle/>
          <a:p>
            <a:endParaRPr lang="en-US"/>
          </a:p>
        </p:txBody>
      </p:sp>
      <p:pic>
        <p:nvPicPr>
          <p:cNvPr id="19" name="Image 4" descr="preencoded.png"/>
          <p:cNvPicPr>
            <a:picLocks noChangeAspect="1"/>
          </p:cNvPicPr>
          <p:nvPr/>
        </p:nvPicPr>
        <p:blipFill>
          <a:blip r:embed="rId6"/>
          <a:stretch>
            <a:fillRect/>
          </a:stretch>
        </p:blipFill>
        <p:spPr>
          <a:xfrm>
            <a:off x="731520" y="3621024"/>
            <a:ext cx="365760" cy="365760"/>
          </a:xfrm>
          <a:prstGeom prst="rect">
            <a:avLst/>
          </a:prstGeom>
        </p:spPr>
      </p:pic>
      <p:sp>
        <p:nvSpPr>
          <p:cNvPr id="20" name="Text 13"/>
          <p:cNvSpPr/>
          <p:nvPr/>
        </p:nvSpPr>
        <p:spPr>
          <a:xfrm>
            <a:off x="1234440" y="3529584"/>
            <a:ext cx="1828800" cy="320040"/>
          </a:xfrm>
          <a:prstGeom prst="rect">
            <a:avLst/>
          </a:prstGeom>
          <a:noFill/>
          <a:ln/>
        </p:spPr>
        <p:txBody>
          <a:bodyPr wrap="square" lIns="0" tIns="0" rIns="0" bIns="0" rtlCol="0" anchor="ctr"/>
          <a:lstStyle/>
          <a:p>
            <a:pPr marL="0" indent="0" algn="l">
              <a:buNone/>
            </a:pPr>
            <a:r>
              <a:rPr lang="en-US" sz="1400" b="1" dirty="0">
                <a:solidFill>
                  <a:srgbClr val="818CF8"/>
                </a:solidFill>
                <a:latin typeface="Trebuchet MS" pitchFamily="34" charset="0"/>
                <a:ea typeface="Trebuchet MS" pitchFamily="34" charset="-122"/>
                <a:cs typeface="Trebuchet MS" pitchFamily="34" charset="-120"/>
              </a:rPr>
              <a:t>Disk Space</a:t>
            </a:r>
            <a:endParaRPr lang="en-US" sz="1400" dirty="0"/>
          </a:p>
        </p:txBody>
      </p:sp>
      <p:sp>
        <p:nvSpPr>
          <p:cNvPr id="21" name="Text 14"/>
          <p:cNvSpPr/>
          <p:nvPr/>
        </p:nvSpPr>
        <p:spPr>
          <a:xfrm>
            <a:off x="1234440" y="3803904"/>
            <a:ext cx="4023360" cy="274320"/>
          </a:xfrm>
          <a:prstGeom prst="rect">
            <a:avLst/>
          </a:prstGeom>
          <a:noFill/>
          <a:ln/>
        </p:spPr>
        <p:txBody>
          <a:bodyPr wrap="square" lIns="0" tIns="0" rIns="0" bIns="0" rtlCol="0" anchor="t"/>
          <a:lstStyle/>
          <a:p>
            <a:pPr marL="0" indent="0" algn="l">
              <a:buNone/>
            </a:pPr>
            <a:r>
              <a:rPr lang="en-US" sz="1000" dirty="0">
                <a:solidFill>
                  <a:srgbClr val="CBD5E1"/>
                </a:solidFill>
                <a:latin typeface="Calibri" pitchFamily="34" charset="0"/>
                <a:ea typeface="Calibri" pitchFamily="34" charset="-122"/>
                <a:cs typeface="Calibri" pitchFamily="34" charset="-120"/>
              </a:rPr>
              <a:t>At least 20 GB free for images and volumes</a:t>
            </a:r>
            <a:endParaRPr lang="en-US" sz="1000" dirty="0"/>
          </a:p>
        </p:txBody>
      </p:sp>
      <p:sp>
        <p:nvSpPr>
          <p:cNvPr id="22" name="Shape 15"/>
          <p:cNvSpPr/>
          <p:nvPr/>
        </p:nvSpPr>
        <p:spPr>
          <a:xfrm>
            <a:off x="548640" y="4325112"/>
            <a:ext cx="4937760" cy="502920"/>
          </a:xfrm>
          <a:prstGeom prst="rect">
            <a:avLst/>
          </a:prstGeom>
          <a:solidFill>
            <a:srgbClr val="065A82">
              <a:alpha val="50000"/>
            </a:srgbClr>
          </a:solidFill>
          <a:ln/>
        </p:spPr>
        <p:txBody>
          <a:bodyPr/>
          <a:lstStyle/>
          <a:p>
            <a:endParaRPr lang="en-US"/>
          </a:p>
        </p:txBody>
      </p:sp>
      <p:sp>
        <p:nvSpPr>
          <p:cNvPr id="23" name="Text 16"/>
          <p:cNvSpPr/>
          <p:nvPr/>
        </p:nvSpPr>
        <p:spPr>
          <a:xfrm>
            <a:off x="731520" y="4370832"/>
            <a:ext cx="4572000" cy="411480"/>
          </a:xfrm>
          <a:prstGeom prst="rect">
            <a:avLst/>
          </a:prstGeom>
          <a:noFill/>
          <a:ln/>
        </p:spPr>
        <p:txBody>
          <a:bodyPr wrap="square" lIns="0" tIns="0" rIns="0" bIns="0" rtlCol="0" anchor="ctr"/>
          <a:lstStyle/>
          <a:p>
            <a:pPr marL="0" indent="0" algn="l">
              <a:lnSpc>
                <a:spcPct val="120000"/>
              </a:lnSpc>
              <a:buNone/>
            </a:pPr>
            <a:r>
              <a:rPr lang="en-US" sz="1000" i="1" dirty="0">
                <a:solidFill>
                  <a:srgbClr val="21D4FD"/>
                </a:solidFill>
                <a:latin typeface="Calibri" pitchFamily="34" charset="0"/>
                <a:ea typeface="Calibri" pitchFamily="34" charset="-122"/>
                <a:cs typeface="Calibri" pitchFamily="34" charset="-120"/>
              </a:rPr>
              <a:t>Tip: Open Docker Desktop &gt; Settings &gt; Resources to allocate CPU and memory before enabling Kubernetes.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82296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Enable Kubernetes in Docker Desktop</a:t>
            </a:r>
            <a:endParaRPr lang="en-US" sz="2800" dirty="0"/>
          </a:p>
        </p:txBody>
      </p:sp>
      <p:sp>
        <p:nvSpPr>
          <p:cNvPr id="3" name="Text 1"/>
          <p:cNvSpPr/>
          <p:nvPr/>
        </p:nvSpPr>
        <p:spPr>
          <a:xfrm>
            <a:off x="548640" y="777240"/>
            <a:ext cx="82296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Step-by-step walkthrough</a:t>
            </a:r>
            <a:endParaRPr lang="en-US" sz="1200" dirty="0"/>
          </a:p>
        </p:txBody>
      </p:sp>
      <p:sp>
        <p:nvSpPr>
          <p:cNvPr id="4" name="Shape 2"/>
          <p:cNvSpPr/>
          <p:nvPr/>
        </p:nvSpPr>
        <p:spPr>
          <a:xfrm>
            <a:off x="548640" y="1234440"/>
            <a:ext cx="365760" cy="365760"/>
          </a:xfrm>
          <a:prstGeom prst="ellipse">
            <a:avLst/>
          </a:prstGeom>
          <a:solidFill>
            <a:srgbClr val="21D4FD"/>
          </a:solidFill>
          <a:ln/>
        </p:spPr>
        <p:txBody>
          <a:bodyPr/>
          <a:lstStyle/>
          <a:p>
            <a:endParaRPr lang="en-US"/>
          </a:p>
        </p:txBody>
      </p:sp>
      <p:sp>
        <p:nvSpPr>
          <p:cNvPr id="5" name="Text 3"/>
          <p:cNvSpPr/>
          <p:nvPr/>
        </p:nvSpPr>
        <p:spPr>
          <a:xfrm>
            <a:off x="548640" y="1234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1</a:t>
            </a:r>
            <a:endParaRPr lang="en-US" sz="1600" dirty="0"/>
          </a:p>
        </p:txBody>
      </p:sp>
      <p:sp>
        <p:nvSpPr>
          <p:cNvPr id="6" name="Text 4"/>
          <p:cNvSpPr/>
          <p:nvPr/>
        </p:nvSpPr>
        <p:spPr>
          <a:xfrm>
            <a:off x="1051560" y="1216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Open Docker Desktop</a:t>
            </a:r>
            <a:endParaRPr lang="en-US" sz="1400" dirty="0"/>
          </a:p>
        </p:txBody>
      </p:sp>
      <p:sp>
        <p:nvSpPr>
          <p:cNvPr id="7" name="Text 5"/>
          <p:cNvSpPr/>
          <p:nvPr/>
        </p:nvSpPr>
        <p:spPr>
          <a:xfrm>
            <a:off x="1051560" y="1554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Click the Docker whale icon in your macOS menu bar, or launch from Applications.</a:t>
            </a:r>
            <a:endParaRPr lang="en-US" sz="1000" dirty="0"/>
          </a:p>
        </p:txBody>
      </p:sp>
      <p:sp>
        <p:nvSpPr>
          <p:cNvPr id="8" name="Shape 6"/>
          <p:cNvSpPr/>
          <p:nvPr/>
        </p:nvSpPr>
        <p:spPr>
          <a:xfrm>
            <a:off x="548640" y="2377440"/>
            <a:ext cx="365760" cy="365760"/>
          </a:xfrm>
          <a:prstGeom prst="ellipse">
            <a:avLst/>
          </a:prstGeom>
          <a:solidFill>
            <a:srgbClr val="21D4FD"/>
          </a:solidFill>
          <a:ln/>
        </p:spPr>
        <p:txBody>
          <a:bodyPr/>
          <a:lstStyle/>
          <a:p>
            <a:endParaRPr lang="en-US"/>
          </a:p>
        </p:txBody>
      </p:sp>
      <p:sp>
        <p:nvSpPr>
          <p:cNvPr id="9" name="Text 7"/>
          <p:cNvSpPr/>
          <p:nvPr/>
        </p:nvSpPr>
        <p:spPr>
          <a:xfrm>
            <a:off x="548640" y="2377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2</a:t>
            </a:r>
            <a:endParaRPr lang="en-US" sz="1600" dirty="0"/>
          </a:p>
        </p:txBody>
      </p:sp>
      <p:sp>
        <p:nvSpPr>
          <p:cNvPr id="10" name="Text 8"/>
          <p:cNvSpPr/>
          <p:nvPr/>
        </p:nvSpPr>
        <p:spPr>
          <a:xfrm>
            <a:off x="1051560" y="2359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Go to Settings</a:t>
            </a:r>
            <a:endParaRPr lang="en-US" sz="1400" dirty="0"/>
          </a:p>
        </p:txBody>
      </p:sp>
      <p:sp>
        <p:nvSpPr>
          <p:cNvPr id="11" name="Text 9"/>
          <p:cNvSpPr/>
          <p:nvPr/>
        </p:nvSpPr>
        <p:spPr>
          <a:xfrm>
            <a:off x="1051560" y="2697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Click the gear icon (top-right) to open the Settings panel.</a:t>
            </a:r>
            <a:endParaRPr lang="en-US" sz="1000" dirty="0"/>
          </a:p>
        </p:txBody>
      </p:sp>
      <p:sp>
        <p:nvSpPr>
          <p:cNvPr id="12" name="Shape 10"/>
          <p:cNvSpPr/>
          <p:nvPr/>
        </p:nvSpPr>
        <p:spPr>
          <a:xfrm>
            <a:off x="548640" y="3520440"/>
            <a:ext cx="365760" cy="365760"/>
          </a:xfrm>
          <a:prstGeom prst="ellipse">
            <a:avLst/>
          </a:prstGeom>
          <a:solidFill>
            <a:srgbClr val="21D4FD"/>
          </a:solidFill>
          <a:ln/>
        </p:spPr>
        <p:txBody>
          <a:bodyPr/>
          <a:lstStyle/>
          <a:p>
            <a:endParaRPr lang="en-US"/>
          </a:p>
        </p:txBody>
      </p:sp>
      <p:sp>
        <p:nvSpPr>
          <p:cNvPr id="13" name="Text 11"/>
          <p:cNvSpPr/>
          <p:nvPr/>
        </p:nvSpPr>
        <p:spPr>
          <a:xfrm>
            <a:off x="548640" y="3520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3</a:t>
            </a:r>
            <a:endParaRPr lang="en-US" sz="1600" dirty="0"/>
          </a:p>
        </p:txBody>
      </p:sp>
      <p:sp>
        <p:nvSpPr>
          <p:cNvPr id="14" name="Text 12"/>
          <p:cNvSpPr/>
          <p:nvPr/>
        </p:nvSpPr>
        <p:spPr>
          <a:xfrm>
            <a:off x="1051560" y="3502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Navigate to Kubernetes</a:t>
            </a:r>
            <a:endParaRPr lang="en-US" sz="1400" dirty="0"/>
          </a:p>
        </p:txBody>
      </p:sp>
      <p:sp>
        <p:nvSpPr>
          <p:cNvPr id="15" name="Text 13"/>
          <p:cNvSpPr/>
          <p:nvPr/>
        </p:nvSpPr>
        <p:spPr>
          <a:xfrm>
            <a:off x="1051560" y="3840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In the left sidebar, click "Kubernetes" under the Settings menu.</a:t>
            </a:r>
            <a:endParaRPr lang="en-US" sz="1000" dirty="0"/>
          </a:p>
        </p:txBody>
      </p:sp>
      <p:sp>
        <p:nvSpPr>
          <p:cNvPr id="16" name="Shape 14"/>
          <p:cNvSpPr/>
          <p:nvPr/>
        </p:nvSpPr>
        <p:spPr>
          <a:xfrm>
            <a:off x="4754880" y="1234440"/>
            <a:ext cx="365760" cy="365760"/>
          </a:xfrm>
          <a:prstGeom prst="ellipse">
            <a:avLst/>
          </a:prstGeom>
          <a:solidFill>
            <a:srgbClr val="21D4FD"/>
          </a:solidFill>
          <a:ln/>
        </p:spPr>
        <p:txBody>
          <a:bodyPr/>
          <a:lstStyle/>
          <a:p>
            <a:endParaRPr lang="en-US"/>
          </a:p>
        </p:txBody>
      </p:sp>
      <p:sp>
        <p:nvSpPr>
          <p:cNvPr id="17" name="Text 15"/>
          <p:cNvSpPr/>
          <p:nvPr/>
        </p:nvSpPr>
        <p:spPr>
          <a:xfrm>
            <a:off x="4754880" y="1234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4</a:t>
            </a:r>
            <a:endParaRPr lang="en-US" sz="1600" dirty="0"/>
          </a:p>
        </p:txBody>
      </p:sp>
      <p:sp>
        <p:nvSpPr>
          <p:cNvPr id="18" name="Text 16"/>
          <p:cNvSpPr/>
          <p:nvPr/>
        </p:nvSpPr>
        <p:spPr>
          <a:xfrm>
            <a:off x="5257800" y="1216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Enable Kubernetes</a:t>
            </a:r>
            <a:endParaRPr lang="en-US" sz="1400" dirty="0"/>
          </a:p>
        </p:txBody>
      </p:sp>
      <p:sp>
        <p:nvSpPr>
          <p:cNvPr id="19" name="Text 17"/>
          <p:cNvSpPr/>
          <p:nvPr/>
        </p:nvSpPr>
        <p:spPr>
          <a:xfrm>
            <a:off x="5257800" y="1554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Check the box "Enable Kubernetes" and click "Apply &amp; Restart".</a:t>
            </a:r>
            <a:endParaRPr lang="en-US" sz="1000" dirty="0"/>
          </a:p>
        </p:txBody>
      </p:sp>
      <p:sp>
        <p:nvSpPr>
          <p:cNvPr id="20" name="Shape 18"/>
          <p:cNvSpPr/>
          <p:nvPr/>
        </p:nvSpPr>
        <p:spPr>
          <a:xfrm>
            <a:off x="4754880" y="2377440"/>
            <a:ext cx="365760" cy="365760"/>
          </a:xfrm>
          <a:prstGeom prst="ellipse">
            <a:avLst/>
          </a:prstGeom>
          <a:solidFill>
            <a:srgbClr val="21D4FD"/>
          </a:solidFill>
          <a:ln/>
        </p:spPr>
        <p:txBody>
          <a:bodyPr/>
          <a:lstStyle/>
          <a:p>
            <a:endParaRPr lang="en-US"/>
          </a:p>
        </p:txBody>
      </p:sp>
      <p:sp>
        <p:nvSpPr>
          <p:cNvPr id="21" name="Text 19"/>
          <p:cNvSpPr/>
          <p:nvPr/>
        </p:nvSpPr>
        <p:spPr>
          <a:xfrm>
            <a:off x="4754880" y="2377440"/>
            <a:ext cx="365760" cy="365760"/>
          </a:xfrm>
          <a:prstGeom prst="rect">
            <a:avLst/>
          </a:prstGeom>
          <a:noFill/>
          <a:ln/>
        </p:spPr>
        <p:txBody>
          <a:bodyPr wrap="square" lIns="0" tIns="0" rIns="0" bIns="0" rtlCol="0" anchor="ctr"/>
          <a:lstStyle/>
          <a:p>
            <a:pPr marL="0" indent="0" algn="ctr">
              <a:buNone/>
            </a:pPr>
            <a:r>
              <a:rPr lang="en-US" sz="1600" b="1" dirty="0">
                <a:solidFill>
                  <a:srgbClr val="0F1B2D"/>
                </a:solidFill>
                <a:latin typeface="Trebuchet MS" pitchFamily="34" charset="0"/>
                <a:ea typeface="Trebuchet MS" pitchFamily="34" charset="-122"/>
                <a:cs typeface="Trebuchet MS" pitchFamily="34" charset="-120"/>
              </a:rPr>
              <a:t>5</a:t>
            </a:r>
            <a:endParaRPr lang="en-US" sz="1600" dirty="0"/>
          </a:p>
        </p:txBody>
      </p:sp>
      <p:sp>
        <p:nvSpPr>
          <p:cNvPr id="22" name="Text 20"/>
          <p:cNvSpPr/>
          <p:nvPr/>
        </p:nvSpPr>
        <p:spPr>
          <a:xfrm>
            <a:off x="5257800" y="2359152"/>
            <a:ext cx="3474720" cy="320040"/>
          </a:xfrm>
          <a:prstGeom prst="rect">
            <a:avLst/>
          </a:prstGeom>
          <a:noFill/>
          <a:ln/>
        </p:spPr>
        <p:txBody>
          <a:bodyPr wrap="square" lIns="0" tIns="0" rIns="0" bIns="0" rtlCol="0" anchor="ctr"/>
          <a:lstStyle/>
          <a:p>
            <a:pPr marL="0" indent="0" algn="l">
              <a:buNone/>
            </a:pPr>
            <a:r>
              <a:rPr lang="en-US" sz="1400" b="1" dirty="0">
                <a:solidFill>
                  <a:srgbClr val="FFFFFF"/>
                </a:solidFill>
                <a:latin typeface="Trebuchet MS" pitchFamily="34" charset="0"/>
                <a:ea typeface="Trebuchet MS" pitchFamily="34" charset="-122"/>
                <a:cs typeface="Trebuchet MS" pitchFamily="34" charset="-120"/>
              </a:rPr>
              <a:t>Wait for Installation</a:t>
            </a:r>
            <a:endParaRPr lang="en-US" sz="1400" dirty="0"/>
          </a:p>
        </p:txBody>
      </p:sp>
      <p:sp>
        <p:nvSpPr>
          <p:cNvPr id="23" name="Text 21"/>
          <p:cNvSpPr/>
          <p:nvPr/>
        </p:nvSpPr>
        <p:spPr>
          <a:xfrm>
            <a:off x="5257800" y="2697480"/>
            <a:ext cx="3474720" cy="640080"/>
          </a:xfrm>
          <a:prstGeom prst="rect">
            <a:avLst/>
          </a:prstGeom>
          <a:noFill/>
          <a:ln/>
        </p:spPr>
        <p:txBody>
          <a:bodyPr wrap="square" lIns="0" tIns="0" rIns="0" bIns="0" rtlCol="0" anchor="t"/>
          <a:lstStyle/>
          <a:p>
            <a:pPr marL="0" indent="0" algn="l">
              <a:lnSpc>
                <a:spcPct val="125000"/>
              </a:lnSpc>
              <a:buNone/>
            </a:pPr>
            <a:r>
              <a:rPr lang="en-US" sz="1000" dirty="0">
                <a:solidFill>
                  <a:srgbClr val="CBD5E1"/>
                </a:solidFill>
                <a:latin typeface="Calibri" pitchFamily="34" charset="0"/>
                <a:ea typeface="Calibri" pitchFamily="34" charset="-122"/>
                <a:cs typeface="Calibri" pitchFamily="34" charset="-120"/>
              </a:rPr>
              <a:t>Docker will download K8s components. The status bar shows "Kubernetes running" when ready (2-5 min).</a:t>
            </a:r>
            <a:endParaRPr lang="en-US" sz="1000" dirty="0"/>
          </a:p>
        </p:txBody>
      </p:sp>
      <p:sp>
        <p:nvSpPr>
          <p:cNvPr id="24" name="Shape 22"/>
          <p:cNvSpPr/>
          <p:nvPr/>
        </p:nvSpPr>
        <p:spPr>
          <a:xfrm>
            <a:off x="548640" y="4572000"/>
            <a:ext cx="8046720" cy="320040"/>
          </a:xfrm>
          <a:prstGeom prst="rect">
            <a:avLst/>
          </a:prstGeom>
          <a:solidFill>
            <a:srgbClr val="065A82">
              <a:alpha val="50000"/>
            </a:srgbClr>
          </a:solidFill>
          <a:ln/>
        </p:spPr>
        <p:txBody>
          <a:bodyPr/>
          <a:lstStyle/>
          <a:p>
            <a:endParaRPr lang="en-US"/>
          </a:p>
        </p:txBody>
      </p:sp>
      <p:pic>
        <p:nvPicPr>
          <p:cNvPr id="25" name="Image 0" descr="preencoded.png"/>
          <p:cNvPicPr>
            <a:picLocks noChangeAspect="1"/>
          </p:cNvPicPr>
          <p:nvPr/>
        </p:nvPicPr>
        <p:blipFill>
          <a:blip r:embed="rId2"/>
          <a:stretch>
            <a:fillRect/>
          </a:stretch>
        </p:blipFill>
        <p:spPr>
          <a:xfrm>
            <a:off x="685800" y="4617720"/>
            <a:ext cx="228600" cy="228600"/>
          </a:xfrm>
          <a:prstGeom prst="rect">
            <a:avLst/>
          </a:prstGeom>
        </p:spPr>
      </p:pic>
      <p:sp>
        <p:nvSpPr>
          <p:cNvPr id="26" name="Text 23"/>
          <p:cNvSpPr/>
          <p:nvPr/>
        </p:nvSpPr>
        <p:spPr>
          <a:xfrm>
            <a:off x="1005840" y="4572000"/>
            <a:ext cx="7315200" cy="320040"/>
          </a:xfrm>
          <a:prstGeom prst="rect">
            <a:avLst/>
          </a:prstGeom>
          <a:noFill/>
          <a:ln/>
        </p:spPr>
        <p:txBody>
          <a:bodyPr wrap="square" lIns="0" tIns="0" rIns="0" bIns="0" rtlCol="0" anchor="ctr"/>
          <a:lstStyle/>
          <a:p>
            <a:pPr marL="0" indent="0" algn="l">
              <a:buNone/>
            </a:pPr>
            <a:r>
              <a:rPr lang="en-US" sz="1000" dirty="0">
                <a:solidFill>
                  <a:srgbClr val="34D399"/>
                </a:solidFill>
                <a:latin typeface="Calibri" pitchFamily="34" charset="0"/>
                <a:ea typeface="Calibri" pitchFamily="34" charset="-122"/>
                <a:cs typeface="Calibri" pitchFamily="34" charset="-120"/>
              </a:rPr>
              <a:t>Both Docker and Kubernetes icons in the menu bar should show green when ready.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a:effectLst/>
      </p:bgPr>
    </p:bg>
    <p:spTree>
      <p:nvGrpSpPr>
        <p:cNvPr id="1" name=""/>
        <p:cNvGrpSpPr/>
        <p:nvPr/>
      </p:nvGrpSpPr>
      <p:grpSpPr>
        <a:xfrm>
          <a:off x="0" y="0"/>
          <a:ext cx="0" cy="0"/>
          <a:chOff x="0" y="0"/>
          <a:chExt cx="0" cy="0"/>
        </a:xfrm>
      </p:grpSpPr>
      <p:sp>
        <p:nvSpPr>
          <p:cNvPr id="2" name="Text 0"/>
          <p:cNvSpPr/>
          <p:nvPr/>
        </p:nvSpPr>
        <p:spPr>
          <a:xfrm>
            <a:off x="548640" y="274320"/>
            <a:ext cx="5029200" cy="548640"/>
          </a:xfrm>
          <a:prstGeom prst="rect">
            <a:avLst/>
          </a:prstGeom>
          <a:noFill/>
          <a:ln/>
        </p:spPr>
        <p:txBody>
          <a:bodyPr wrap="square" lIns="0" tIns="0" rIns="0" bIns="0" rtlCol="0" anchor="ctr"/>
          <a:lstStyle/>
          <a:p>
            <a:pPr marL="0" indent="0" algn="l">
              <a:buNone/>
            </a:pPr>
            <a:r>
              <a:rPr lang="en-US" sz="2800" b="1" dirty="0">
                <a:solidFill>
                  <a:srgbClr val="FFFFFF"/>
                </a:solidFill>
                <a:latin typeface="Trebuchet MS" pitchFamily="34" charset="0"/>
                <a:ea typeface="Trebuchet MS" pitchFamily="34" charset="-122"/>
                <a:cs typeface="Trebuchet MS" pitchFamily="34" charset="-120"/>
              </a:rPr>
              <a:t>Verify &amp; Get Started</a:t>
            </a:r>
            <a:endParaRPr lang="en-US" sz="2800" dirty="0"/>
          </a:p>
        </p:txBody>
      </p:sp>
      <p:sp>
        <p:nvSpPr>
          <p:cNvPr id="3" name="Text 1"/>
          <p:cNvSpPr/>
          <p:nvPr/>
        </p:nvSpPr>
        <p:spPr>
          <a:xfrm>
            <a:off x="548640" y="777240"/>
            <a:ext cx="5029200" cy="274320"/>
          </a:xfrm>
          <a:prstGeom prst="rect">
            <a:avLst/>
          </a:prstGeom>
          <a:noFill/>
          <a:ln/>
        </p:spPr>
        <p:txBody>
          <a:bodyPr wrap="square" lIns="0" tIns="0" rIns="0" bIns="0" rtlCol="0" anchor="ctr"/>
          <a:lstStyle/>
          <a:p>
            <a:pPr marL="0" indent="0" algn="l">
              <a:buNone/>
            </a:pPr>
            <a:r>
              <a:rPr lang="en-US" sz="1200" dirty="0">
                <a:solidFill>
                  <a:srgbClr val="21D4FD"/>
                </a:solidFill>
                <a:latin typeface="Calibri" pitchFamily="34" charset="0"/>
                <a:ea typeface="Calibri" pitchFamily="34" charset="-122"/>
                <a:cs typeface="Calibri" pitchFamily="34" charset="-120"/>
              </a:rPr>
              <a:t>Terminal commands to confirm your cluster is running</a:t>
            </a:r>
            <a:endParaRPr lang="en-US" sz="1200" dirty="0"/>
          </a:p>
        </p:txBody>
      </p:sp>
      <p:pic>
        <p:nvPicPr>
          <p:cNvPr id="4" name="Image 0" descr="/agent/turn3/workspace/images/dark-terminal-console-window-showing-green-and-cya_2026-05-05T05-30-29_image_DAS_0.jpg"/>
          <p:cNvPicPr>
            <a:picLocks noChangeAspect="1"/>
          </p:cNvPicPr>
          <p:nvPr/>
        </p:nvPicPr>
        <p:blipFill>
          <a:blip r:embed="rId2"/>
          <a:srcRect l="28074" r="28074"/>
          <a:stretch/>
        </p:blipFill>
        <p:spPr>
          <a:xfrm>
            <a:off x="5760720" y="0"/>
            <a:ext cx="3383280" cy="5143500"/>
          </a:xfrm>
          <a:prstGeom prst="rect">
            <a:avLst/>
          </a:prstGeom>
        </p:spPr>
      </p:pic>
      <p:sp>
        <p:nvSpPr>
          <p:cNvPr id="5" name="Shape 2"/>
          <p:cNvSpPr/>
          <p:nvPr/>
        </p:nvSpPr>
        <p:spPr>
          <a:xfrm>
            <a:off x="5760720" y="0"/>
            <a:ext cx="3383280" cy="5143500"/>
          </a:xfrm>
          <a:prstGeom prst="rect">
            <a:avLst/>
          </a:prstGeom>
          <a:solidFill>
            <a:srgbClr val="0F1B2D">
              <a:alpha val="75000"/>
            </a:srgbClr>
          </a:solidFill>
          <a:ln/>
        </p:spPr>
        <p:txBody>
          <a:bodyPr/>
          <a:lstStyle/>
          <a:p>
            <a:endParaRPr lang="en-US"/>
          </a:p>
        </p:txBody>
      </p:sp>
      <p:sp>
        <p:nvSpPr>
          <p:cNvPr id="6" name="Text 3"/>
          <p:cNvSpPr/>
          <p:nvPr/>
        </p:nvSpPr>
        <p:spPr>
          <a:xfrm>
            <a:off x="548640" y="1143000"/>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Check kubectl version</a:t>
            </a:r>
            <a:endParaRPr lang="en-US" sz="900" dirty="0"/>
          </a:p>
        </p:txBody>
      </p:sp>
      <p:sp>
        <p:nvSpPr>
          <p:cNvPr id="7" name="Shape 4"/>
          <p:cNvSpPr/>
          <p:nvPr/>
        </p:nvSpPr>
        <p:spPr>
          <a:xfrm>
            <a:off x="548640" y="1325880"/>
            <a:ext cx="4937760" cy="365760"/>
          </a:xfrm>
          <a:prstGeom prst="rect">
            <a:avLst/>
          </a:prstGeom>
          <a:solidFill>
            <a:srgbClr val="0A1628"/>
          </a:solidFill>
          <a:ln/>
        </p:spPr>
        <p:txBody>
          <a:bodyPr/>
          <a:lstStyle/>
          <a:p>
            <a:endParaRPr lang="en-US"/>
          </a:p>
        </p:txBody>
      </p:sp>
      <p:sp>
        <p:nvSpPr>
          <p:cNvPr id="8" name="Text 5"/>
          <p:cNvSpPr/>
          <p:nvPr/>
        </p:nvSpPr>
        <p:spPr>
          <a:xfrm>
            <a:off x="685800" y="1344168"/>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version --client</a:t>
            </a:r>
            <a:endParaRPr lang="en-US" sz="800" dirty="0"/>
          </a:p>
        </p:txBody>
      </p:sp>
      <p:sp>
        <p:nvSpPr>
          <p:cNvPr id="9" name="Text 6"/>
          <p:cNvSpPr/>
          <p:nvPr/>
        </p:nvSpPr>
        <p:spPr>
          <a:xfrm>
            <a:off x="685800" y="1499616"/>
            <a:ext cx="4663440" cy="137160"/>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Client Version: v1.29.x</a:t>
            </a:r>
            <a:endParaRPr lang="en-US" sz="750" dirty="0"/>
          </a:p>
        </p:txBody>
      </p:sp>
      <p:sp>
        <p:nvSpPr>
          <p:cNvPr id="10" name="Text 7"/>
          <p:cNvSpPr/>
          <p:nvPr/>
        </p:nvSpPr>
        <p:spPr>
          <a:xfrm>
            <a:off x="548640" y="1764792"/>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Verify cluster is running</a:t>
            </a:r>
            <a:endParaRPr lang="en-US" sz="900" dirty="0"/>
          </a:p>
        </p:txBody>
      </p:sp>
      <p:sp>
        <p:nvSpPr>
          <p:cNvPr id="11" name="Shape 8"/>
          <p:cNvSpPr/>
          <p:nvPr/>
        </p:nvSpPr>
        <p:spPr>
          <a:xfrm>
            <a:off x="548640" y="1947672"/>
            <a:ext cx="4937760" cy="448056"/>
          </a:xfrm>
          <a:prstGeom prst="rect">
            <a:avLst/>
          </a:prstGeom>
          <a:solidFill>
            <a:srgbClr val="0A1628"/>
          </a:solidFill>
          <a:ln/>
        </p:spPr>
        <p:txBody>
          <a:bodyPr/>
          <a:lstStyle/>
          <a:p>
            <a:endParaRPr lang="en-US"/>
          </a:p>
        </p:txBody>
      </p:sp>
      <p:sp>
        <p:nvSpPr>
          <p:cNvPr id="12" name="Text 9"/>
          <p:cNvSpPr/>
          <p:nvPr/>
        </p:nvSpPr>
        <p:spPr>
          <a:xfrm>
            <a:off x="685800" y="1965960"/>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cluster-info</a:t>
            </a:r>
            <a:endParaRPr lang="en-US" sz="800" dirty="0"/>
          </a:p>
        </p:txBody>
      </p:sp>
      <p:sp>
        <p:nvSpPr>
          <p:cNvPr id="13" name="Text 10"/>
          <p:cNvSpPr/>
          <p:nvPr/>
        </p:nvSpPr>
        <p:spPr>
          <a:xfrm>
            <a:off x="685800" y="2121408"/>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Kubernetes control plane is running at</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https://127.0.0.1:6443</a:t>
            </a:r>
            <a:endParaRPr lang="en-US" sz="750" dirty="0"/>
          </a:p>
        </p:txBody>
      </p:sp>
      <p:sp>
        <p:nvSpPr>
          <p:cNvPr id="14" name="Text 11"/>
          <p:cNvSpPr/>
          <p:nvPr/>
        </p:nvSpPr>
        <p:spPr>
          <a:xfrm>
            <a:off x="548640" y="2468880"/>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List cluster nodes</a:t>
            </a:r>
            <a:endParaRPr lang="en-US" sz="900" dirty="0"/>
          </a:p>
        </p:txBody>
      </p:sp>
      <p:sp>
        <p:nvSpPr>
          <p:cNvPr id="15" name="Shape 12"/>
          <p:cNvSpPr/>
          <p:nvPr/>
        </p:nvSpPr>
        <p:spPr>
          <a:xfrm>
            <a:off x="548640" y="2651760"/>
            <a:ext cx="4937760" cy="448056"/>
          </a:xfrm>
          <a:prstGeom prst="rect">
            <a:avLst/>
          </a:prstGeom>
          <a:solidFill>
            <a:srgbClr val="0A1628"/>
          </a:solidFill>
          <a:ln/>
        </p:spPr>
        <p:txBody>
          <a:bodyPr/>
          <a:lstStyle/>
          <a:p>
            <a:endParaRPr lang="en-US"/>
          </a:p>
        </p:txBody>
      </p:sp>
      <p:sp>
        <p:nvSpPr>
          <p:cNvPr id="16" name="Text 13"/>
          <p:cNvSpPr/>
          <p:nvPr/>
        </p:nvSpPr>
        <p:spPr>
          <a:xfrm>
            <a:off x="685800" y="2670048"/>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get nodes</a:t>
            </a:r>
            <a:endParaRPr lang="en-US" sz="800" dirty="0"/>
          </a:p>
        </p:txBody>
      </p:sp>
      <p:sp>
        <p:nvSpPr>
          <p:cNvPr id="17" name="Text 14"/>
          <p:cNvSpPr/>
          <p:nvPr/>
        </p:nvSpPr>
        <p:spPr>
          <a:xfrm>
            <a:off x="685800" y="2825496"/>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NAME              STATUS   ROLES</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docker-desktop    Ready    control-plane</a:t>
            </a:r>
            <a:endParaRPr lang="en-US" sz="750" dirty="0"/>
          </a:p>
        </p:txBody>
      </p:sp>
      <p:sp>
        <p:nvSpPr>
          <p:cNvPr id="18" name="Text 15"/>
          <p:cNvSpPr/>
          <p:nvPr/>
        </p:nvSpPr>
        <p:spPr>
          <a:xfrm>
            <a:off x="548640" y="3172968"/>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Deploy your first app</a:t>
            </a:r>
            <a:endParaRPr lang="en-US" sz="900" dirty="0"/>
          </a:p>
        </p:txBody>
      </p:sp>
      <p:sp>
        <p:nvSpPr>
          <p:cNvPr id="19" name="Shape 16"/>
          <p:cNvSpPr/>
          <p:nvPr/>
        </p:nvSpPr>
        <p:spPr>
          <a:xfrm>
            <a:off x="548640" y="3355848"/>
            <a:ext cx="4937760" cy="566928"/>
          </a:xfrm>
          <a:prstGeom prst="rect">
            <a:avLst/>
          </a:prstGeom>
          <a:solidFill>
            <a:srgbClr val="0A1628"/>
          </a:solidFill>
          <a:ln/>
        </p:spPr>
        <p:txBody>
          <a:bodyPr/>
          <a:lstStyle/>
          <a:p>
            <a:endParaRPr lang="en-US"/>
          </a:p>
        </p:txBody>
      </p:sp>
      <p:sp>
        <p:nvSpPr>
          <p:cNvPr id="20" name="Text 17"/>
          <p:cNvSpPr/>
          <p:nvPr/>
        </p:nvSpPr>
        <p:spPr>
          <a:xfrm>
            <a:off x="685800" y="3374136"/>
            <a:ext cx="4663440" cy="256032"/>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create deployment nginx --image=nginx</a:t>
            </a:r>
            <a:endParaRPr lang="en-US" sz="800" dirty="0"/>
          </a:p>
          <a:p>
            <a:pPr marL="0" indent="0" algn="l">
              <a:buNone/>
            </a:pPr>
            <a:r>
              <a:rPr lang="en-US" sz="800" dirty="0">
                <a:solidFill>
                  <a:srgbClr val="34D399"/>
                </a:solidFill>
                <a:latin typeface="Consolas" pitchFamily="34" charset="0"/>
                <a:ea typeface="Consolas" pitchFamily="34" charset="-122"/>
                <a:cs typeface="Consolas" pitchFamily="34" charset="-120"/>
              </a:rPr>
              <a:t>kubectl expose deployment nginx --port=80 --type=NodePort</a:t>
            </a:r>
            <a:endParaRPr lang="en-US" sz="800" dirty="0"/>
          </a:p>
        </p:txBody>
      </p:sp>
      <p:sp>
        <p:nvSpPr>
          <p:cNvPr id="21" name="Text 18"/>
          <p:cNvSpPr/>
          <p:nvPr/>
        </p:nvSpPr>
        <p:spPr>
          <a:xfrm>
            <a:off x="685800" y="3648456"/>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deployment.apps/nginx created</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service/nginx exposed</a:t>
            </a:r>
            <a:endParaRPr lang="en-US" sz="750" dirty="0"/>
          </a:p>
        </p:txBody>
      </p:sp>
      <p:sp>
        <p:nvSpPr>
          <p:cNvPr id="22" name="Text 19"/>
          <p:cNvSpPr/>
          <p:nvPr/>
        </p:nvSpPr>
        <p:spPr>
          <a:xfrm>
            <a:off x="548640" y="3995928"/>
            <a:ext cx="4937760" cy="182880"/>
          </a:xfrm>
          <a:prstGeom prst="rect">
            <a:avLst/>
          </a:prstGeom>
          <a:noFill/>
          <a:ln/>
        </p:spPr>
        <p:txBody>
          <a:bodyPr wrap="square" lIns="0" tIns="0" rIns="0" bIns="0" rtlCol="0" anchor="ctr"/>
          <a:lstStyle/>
          <a:p>
            <a:pPr marL="0" indent="0" algn="l">
              <a:buNone/>
            </a:pPr>
            <a:r>
              <a:rPr lang="en-US" sz="900" b="1" dirty="0">
                <a:solidFill>
                  <a:srgbClr val="21D4FD"/>
                </a:solidFill>
                <a:latin typeface="Calibri" pitchFamily="34" charset="0"/>
                <a:ea typeface="Calibri" pitchFamily="34" charset="-122"/>
                <a:cs typeface="Calibri" pitchFamily="34" charset="-120"/>
              </a:rPr>
              <a:t>Check running pods</a:t>
            </a:r>
            <a:endParaRPr lang="en-US" sz="900" dirty="0"/>
          </a:p>
        </p:txBody>
      </p:sp>
      <p:sp>
        <p:nvSpPr>
          <p:cNvPr id="23" name="Shape 20"/>
          <p:cNvSpPr/>
          <p:nvPr/>
        </p:nvSpPr>
        <p:spPr>
          <a:xfrm>
            <a:off x="548640" y="4178808"/>
            <a:ext cx="4937760" cy="448056"/>
          </a:xfrm>
          <a:prstGeom prst="rect">
            <a:avLst/>
          </a:prstGeom>
          <a:solidFill>
            <a:srgbClr val="0A1628"/>
          </a:solidFill>
          <a:ln/>
        </p:spPr>
        <p:txBody>
          <a:bodyPr/>
          <a:lstStyle/>
          <a:p>
            <a:endParaRPr lang="en-US"/>
          </a:p>
        </p:txBody>
      </p:sp>
      <p:sp>
        <p:nvSpPr>
          <p:cNvPr id="24" name="Text 21"/>
          <p:cNvSpPr/>
          <p:nvPr/>
        </p:nvSpPr>
        <p:spPr>
          <a:xfrm>
            <a:off x="685800" y="4197096"/>
            <a:ext cx="4663440" cy="137160"/>
          </a:xfrm>
          <a:prstGeom prst="rect">
            <a:avLst/>
          </a:prstGeom>
          <a:noFill/>
          <a:ln/>
        </p:spPr>
        <p:txBody>
          <a:bodyPr wrap="square" lIns="0" tIns="0" rIns="0" bIns="0" rtlCol="0" anchor="t"/>
          <a:lstStyle/>
          <a:p>
            <a:pPr marL="0" indent="0" algn="l">
              <a:buNone/>
            </a:pPr>
            <a:r>
              <a:rPr lang="en-US" sz="800" dirty="0">
                <a:solidFill>
                  <a:srgbClr val="34D399"/>
                </a:solidFill>
                <a:latin typeface="Consolas" pitchFamily="34" charset="0"/>
                <a:ea typeface="Consolas" pitchFamily="34" charset="-122"/>
                <a:cs typeface="Consolas" pitchFamily="34" charset="-120"/>
              </a:rPr>
              <a:t>$ kubectl get pods</a:t>
            </a:r>
            <a:endParaRPr lang="en-US" sz="800" dirty="0"/>
          </a:p>
        </p:txBody>
      </p:sp>
      <p:sp>
        <p:nvSpPr>
          <p:cNvPr id="25" name="Text 22"/>
          <p:cNvSpPr/>
          <p:nvPr/>
        </p:nvSpPr>
        <p:spPr>
          <a:xfrm>
            <a:off x="685800" y="4352544"/>
            <a:ext cx="4663440" cy="256032"/>
          </a:xfrm>
          <a:prstGeom prst="rect">
            <a:avLst/>
          </a:prstGeom>
          <a:noFill/>
          <a:ln/>
        </p:spPr>
        <p:txBody>
          <a:bodyPr wrap="square" lIns="0" tIns="0" rIns="0" bIns="0" rtlCol="0" anchor="t"/>
          <a:lstStyle/>
          <a:p>
            <a:pPr marL="0" indent="0" algn="l">
              <a:buNone/>
            </a:pPr>
            <a:r>
              <a:rPr lang="en-US" sz="750" dirty="0">
                <a:solidFill>
                  <a:srgbClr val="94A3B8"/>
                </a:solidFill>
                <a:latin typeface="Consolas" pitchFamily="34" charset="0"/>
                <a:ea typeface="Consolas" pitchFamily="34" charset="-122"/>
                <a:cs typeface="Consolas" pitchFamily="34" charset="-120"/>
              </a:rPr>
              <a:t>NAME                    READY   STATUS    AGE</a:t>
            </a:r>
            <a:endParaRPr lang="en-US" sz="750" dirty="0"/>
          </a:p>
          <a:p>
            <a:pPr marL="0" indent="0" algn="l">
              <a:buNone/>
            </a:pPr>
            <a:r>
              <a:rPr lang="en-US" sz="750" dirty="0">
                <a:solidFill>
                  <a:srgbClr val="94A3B8"/>
                </a:solidFill>
                <a:latin typeface="Consolas" pitchFamily="34" charset="0"/>
                <a:ea typeface="Consolas" pitchFamily="34" charset="-122"/>
                <a:cs typeface="Consolas" pitchFamily="34" charset="-120"/>
              </a:rPr>
              <a:t>nginx-xxx-yyy           1/1     Running   10s</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50364D75-FFF9-CED1-F445-E6BC88FAA639}"/>
              </a:ext>
            </a:extLst>
          </p:cNvPr>
          <p:cNvSpPr/>
          <p:nvPr/>
        </p:nvSpPr>
        <p:spPr>
          <a:xfrm>
            <a:off x="798490" y="309093"/>
            <a:ext cx="7534141" cy="4359499"/>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9E085FBC-3F0C-58BB-FF78-9AF04B122E97}"/>
              </a:ext>
            </a:extLst>
          </p:cNvPr>
          <p:cNvSpPr txBox="1"/>
          <p:nvPr/>
        </p:nvSpPr>
        <p:spPr>
          <a:xfrm>
            <a:off x="495837" y="83713"/>
            <a:ext cx="1268569" cy="369332"/>
          </a:xfrm>
          <a:prstGeom prst="rect">
            <a:avLst/>
          </a:prstGeom>
          <a:noFill/>
        </p:spPr>
        <p:txBody>
          <a:bodyPr wrap="square" rtlCol="0">
            <a:spAutoFit/>
          </a:bodyPr>
          <a:lstStyle/>
          <a:p>
            <a:r>
              <a:rPr lang="en-US" dirty="0"/>
              <a:t>Laptop</a:t>
            </a:r>
          </a:p>
        </p:txBody>
      </p:sp>
      <p:sp>
        <p:nvSpPr>
          <p:cNvPr id="4" name="Rectangle 3">
            <a:extLst>
              <a:ext uri="{FF2B5EF4-FFF2-40B4-BE49-F238E27FC236}">
                <a16:creationId xmlns:a16="http://schemas.microsoft.com/office/drawing/2014/main" id="{7D51FEE1-1560-E3CD-0AE2-D1C2BAB94695}"/>
              </a:ext>
            </a:extLst>
          </p:cNvPr>
          <p:cNvSpPr/>
          <p:nvPr/>
        </p:nvSpPr>
        <p:spPr>
          <a:xfrm>
            <a:off x="1590541" y="862885"/>
            <a:ext cx="5486400" cy="3000777"/>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dirty="0"/>
          </a:p>
        </p:txBody>
      </p:sp>
      <p:sp>
        <p:nvSpPr>
          <p:cNvPr id="5" name="TextBox 4">
            <a:extLst>
              <a:ext uri="{FF2B5EF4-FFF2-40B4-BE49-F238E27FC236}">
                <a16:creationId xmlns:a16="http://schemas.microsoft.com/office/drawing/2014/main" id="{AFF79AB4-3AF4-E42B-0E00-219B727D0624}"/>
              </a:ext>
            </a:extLst>
          </p:cNvPr>
          <p:cNvSpPr txBox="1"/>
          <p:nvPr/>
        </p:nvSpPr>
        <p:spPr>
          <a:xfrm>
            <a:off x="1828799" y="565529"/>
            <a:ext cx="3136007" cy="369332"/>
          </a:xfrm>
          <a:prstGeom prst="rect">
            <a:avLst/>
          </a:prstGeom>
          <a:noFill/>
        </p:spPr>
        <p:txBody>
          <a:bodyPr wrap="square" rtlCol="0">
            <a:spAutoFit/>
          </a:bodyPr>
          <a:lstStyle/>
          <a:p>
            <a:r>
              <a:rPr lang="en-US" dirty="0"/>
              <a:t>Docker Desktop - Kubernetes</a:t>
            </a:r>
          </a:p>
        </p:txBody>
      </p:sp>
      <p:sp>
        <p:nvSpPr>
          <p:cNvPr id="6" name="Rounded Rectangle 5">
            <a:extLst>
              <a:ext uri="{FF2B5EF4-FFF2-40B4-BE49-F238E27FC236}">
                <a16:creationId xmlns:a16="http://schemas.microsoft.com/office/drawing/2014/main" id="{7C8E44BD-92EB-841A-6C53-8F704F247BC9}"/>
              </a:ext>
            </a:extLst>
          </p:cNvPr>
          <p:cNvSpPr/>
          <p:nvPr/>
        </p:nvSpPr>
        <p:spPr>
          <a:xfrm>
            <a:off x="2176530" y="1211185"/>
            <a:ext cx="4462530" cy="23761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D9E79FE-95A1-3030-1361-03EB479E57D1}"/>
              </a:ext>
            </a:extLst>
          </p:cNvPr>
          <p:cNvSpPr txBox="1"/>
          <p:nvPr/>
        </p:nvSpPr>
        <p:spPr>
          <a:xfrm>
            <a:off x="2440545" y="1294327"/>
            <a:ext cx="1661375" cy="369332"/>
          </a:xfrm>
          <a:prstGeom prst="rect">
            <a:avLst/>
          </a:prstGeom>
          <a:noFill/>
        </p:spPr>
        <p:txBody>
          <a:bodyPr wrap="square" rtlCol="0">
            <a:spAutoFit/>
          </a:bodyPr>
          <a:lstStyle/>
          <a:p>
            <a:r>
              <a:rPr lang="en-US" dirty="0"/>
              <a:t>Linux VM</a:t>
            </a:r>
          </a:p>
        </p:txBody>
      </p:sp>
      <p:sp>
        <p:nvSpPr>
          <p:cNvPr id="8" name="Rectangle 7">
            <a:extLst>
              <a:ext uri="{FF2B5EF4-FFF2-40B4-BE49-F238E27FC236}">
                <a16:creationId xmlns:a16="http://schemas.microsoft.com/office/drawing/2014/main" id="{896A01D0-DE21-4544-E8AA-4826B20D77C2}"/>
              </a:ext>
            </a:extLst>
          </p:cNvPr>
          <p:cNvSpPr/>
          <p:nvPr/>
        </p:nvSpPr>
        <p:spPr>
          <a:xfrm>
            <a:off x="2904186" y="1976907"/>
            <a:ext cx="972355" cy="830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Control Plane</a:t>
            </a:r>
          </a:p>
        </p:txBody>
      </p:sp>
      <p:sp>
        <p:nvSpPr>
          <p:cNvPr id="9" name="Rectangle 8">
            <a:extLst>
              <a:ext uri="{FF2B5EF4-FFF2-40B4-BE49-F238E27FC236}">
                <a16:creationId xmlns:a16="http://schemas.microsoft.com/office/drawing/2014/main" id="{E33BCFCC-0825-18C9-4FCE-2884DA527CC5}"/>
              </a:ext>
            </a:extLst>
          </p:cNvPr>
          <p:cNvSpPr/>
          <p:nvPr/>
        </p:nvSpPr>
        <p:spPr>
          <a:xfrm>
            <a:off x="4282226" y="1976906"/>
            <a:ext cx="2221605" cy="13200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Worker Node</a:t>
            </a:r>
          </a:p>
          <a:p>
            <a:pPr algn="ctr"/>
            <a:r>
              <a:rPr lang="en-US" dirty="0"/>
              <a:t>172.2.0.5:31282</a:t>
            </a:r>
          </a:p>
        </p:txBody>
      </p:sp>
      <p:sp>
        <p:nvSpPr>
          <p:cNvPr id="10" name="Oval 9">
            <a:extLst>
              <a:ext uri="{FF2B5EF4-FFF2-40B4-BE49-F238E27FC236}">
                <a16:creationId xmlns:a16="http://schemas.microsoft.com/office/drawing/2014/main" id="{609681F9-1E24-C3B2-6B6E-991172F429FD}"/>
              </a:ext>
            </a:extLst>
          </p:cNvPr>
          <p:cNvSpPr/>
          <p:nvPr/>
        </p:nvSpPr>
        <p:spPr>
          <a:xfrm>
            <a:off x="4353059" y="2041301"/>
            <a:ext cx="888642" cy="2189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riangle 10">
            <a:extLst>
              <a:ext uri="{FF2B5EF4-FFF2-40B4-BE49-F238E27FC236}">
                <a16:creationId xmlns:a16="http://schemas.microsoft.com/office/drawing/2014/main" id="{706022DE-10B7-28DC-413E-CC4467C64C40}"/>
              </a:ext>
            </a:extLst>
          </p:cNvPr>
          <p:cNvSpPr/>
          <p:nvPr/>
        </p:nvSpPr>
        <p:spPr>
          <a:xfrm>
            <a:off x="4681470" y="2041301"/>
            <a:ext cx="180305" cy="218941"/>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FE25A56-5C4C-2B53-0C62-A719BE811621}"/>
              </a:ext>
            </a:extLst>
          </p:cNvPr>
          <p:cNvSpPr txBox="1"/>
          <p:nvPr/>
        </p:nvSpPr>
        <p:spPr>
          <a:xfrm>
            <a:off x="5190186" y="1976906"/>
            <a:ext cx="521594" cy="369332"/>
          </a:xfrm>
          <a:prstGeom prst="rect">
            <a:avLst/>
          </a:prstGeom>
          <a:noFill/>
        </p:spPr>
        <p:txBody>
          <a:bodyPr wrap="square" rtlCol="0">
            <a:spAutoFit/>
          </a:bodyPr>
          <a:lstStyle/>
          <a:p>
            <a:r>
              <a:rPr lang="en-US" dirty="0"/>
              <a:t>80</a:t>
            </a:r>
          </a:p>
        </p:txBody>
      </p:sp>
      <p:sp>
        <p:nvSpPr>
          <p:cNvPr id="13" name="Round Diagonal Corner Rectangle 12">
            <a:extLst>
              <a:ext uri="{FF2B5EF4-FFF2-40B4-BE49-F238E27FC236}">
                <a16:creationId xmlns:a16="http://schemas.microsoft.com/office/drawing/2014/main" id="{95A908E2-C3BB-A631-9532-CF6911AE929E}"/>
              </a:ext>
            </a:extLst>
          </p:cNvPr>
          <p:cNvSpPr/>
          <p:nvPr/>
        </p:nvSpPr>
        <p:spPr>
          <a:xfrm>
            <a:off x="6593983" y="309093"/>
            <a:ext cx="2363273" cy="369332"/>
          </a:xfrm>
          <a:prstGeom prst="round2Diag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http://localhost:8080</a:t>
            </a:r>
          </a:p>
        </p:txBody>
      </p:sp>
      <p:sp>
        <p:nvSpPr>
          <p:cNvPr id="14" name="TextBox 13">
            <a:extLst>
              <a:ext uri="{FF2B5EF4-FFF2-40B4-BE49-F238E27FC236}">
                <a16:creationId xmlns:a16="http://schemas.microsoft.com/office/drawing/2014/main" id="{E79CC32B-A9DE-54FA-481A-D5DEBE270A5B}"/>
              </a:ext>
            </a:extLst>
          </p:cNvPr>
          <p:cNvSpPr txBox="1"/>
          <p:nvPr/>
        </p:nvSpPr>
        <p:spPr>
          <a:xfrm>
            <a:off x="4494727" y="1294327"/>
            <a:ext cx="1275008" cy="369332"/>
          </a:xfrm>
          <a:prstGeom prst="rect">
            <a:avLst/>
          </a:prstGeom>
          <a:noFill/>
        </p:spPr>
        <p:txBody>
          <a:bodyPr wrap="square" rtlCol="0">
            <a:spAutoFit/>
          </a:bodyPr>
          <a:lstStyle/>
          <a:p>
            <a:r>
              <a:rPr lang="en-US" dirty="0"/>
              <a:t>80</a:t>
            </a:r>
          </a:p>
        </p:txBody>
      </p:sp>
    </p:spTree>
    <p:extLst>
      <p:ext uri="{BB962C8B-B14F-4D97-AF65-F5344CB8AC3E}">
        <p14:creationId xmlns:p14="http://schemas.microsoft.com/office/powerpoint/2010/main" val="8699615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294</TotalTime>
  <Words>893</Words>
  <Application>Microsoft Macintosh PowerPoint</Application>
  <PresentationFormat>On-screen Show (16:9)</PresentationFormat>
  <Paragraphs>178</Paragraphs>
  <Slides>14</Slides>
  <Notes>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Aptos</vt:lpstr>
      <vt:lpstr>Aptos Display</vt:lpstr>
      <vt:lpstr>Arial</vt:lpstr>
      <vt:lpstr>Calibri</vt:lpstr>
      <vt:lpstr>Consolas</vt:lpstr>
      <vt:lpstr>Trebuchet MS</vt:lpstr>
      <vt:lpstr>Office Theme</vt:lpstr>
      <vt:lpstr>Office Theme</vt:lpstr>
      <vt:lpstr>PowerPoint Presentation</vt:lpstr>
      <vt:lpstr>PowerPoint Presentation</vt:lpstr>
      <vt:lpstr>PowerPoint Presentation</vt:lpstr>
      <vt:lpstr>PowerPoint Presentation</vt:lpstr>
      <vt:lpstr>Kubernetes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Atul Matkawala</dc:creator>
  <cp:lastModifiedBy>Atul Matkawala</cp:lastModifiedBy>
  <cp:revision>2</cp:revision>
  <dcterms:created xsi:type="dcterms:W3CDTF">2026-05-05T04:45:04Z</dcterms:created>
  <dcterms:modified xsi:type="dcterms:W3CDTF">2026-05-06T14:43:59Z</dcterms:modified>
</cp:coreProperties>
</file>