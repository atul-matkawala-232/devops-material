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903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5" r:id="rId9"/>
  </p:sldIdLst>
  <p:sldSz cx="9144000" cy="5143500" type="screen16x9"/>
  <p:notesSz cx="9144000" cy="51435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97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940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Title-GrommetsCombine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19299" y="1403349"/>
            <a:ext cx="5111752" cy="1136650"/>
          </a:xfrm>
        </p:spPr>
        <p:txBody>
          <a:bodyPr anchor="b">
            <a:noAutofit/>
          </a:bodyPr>
          <a:lstStyle>
            <a:lvl1pPr algn="ctr">
              <a:defRPr sz="405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19299" y="2743198"/>
            <a:ext cx="5111752" cy="990602"/>
          </a:xfrm>
        </p:spPr>
        <p:txBody>
          <a:bodyPr anchor="t">
            <a:normAutofit/>
          </a:bodyPr>
          <a:lstStyle>
            <a:lvl1pPr marL="0" indent="0" algn="ctr">
              <a:buNone/>
              <a:defRPr sz="1575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87425" y="3778247"/>
            <a:ext cx="673100" cy="209550"/>
          </a:xfrm>
        </p:spPr>
        <p:txBody>
          <a:bodyPr/>
          <a:lstStyle/>
          <a:p>
            <a:fld id="{1D8BD707-D9CF-40AE-B4C6-C98DA3205C09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19298" y="3778247"/>
            <a:ext cx="3910976" cy="20955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17676" y="3778247"/>
            <a:ext cx="413375" cy="209550"/>
          </a:xfrm>
        </p:spPr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299" y="2641598"/>
            <a:ext cx="5111751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62332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047127" y="1816100"/>
            <a:ext cx="7055474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8455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1302" y="1314454"/>
            <a:ext cx="6119016" cy="1366886"/>
          </a:xfrm>
        </p:spPr>
        <p:txBody>
          <a:bodyPr anchor="b">
            <a:normAutofit/>
          </a:bodyPr>
          <a:lstStyle>
            <a:lvl1pPr algn="ctr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11300" y="2884539"/>
            <a:ext cx="6119018" cy="71591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509542" y="2782939"/>
            <a:ext cx="6122535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1581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047127" y="1816100"/>
            <a:ext cx="7055474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73836" y="1920240"/>
            <a:ext cx="3538728" cy="248259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6008" y="1920240"/>
            <a:ext cx="3538728" cy="248259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2071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0" y="1993900"/>
            <a:ext cx="3538728" cy="432197"/>
          </a:xfrm>
        </p:spPr>
        <p:txBody>
          <a:bodyPr anchor="b">
            <a:noAutofit/>
          </a:bodyPr>
          <a:lstStyle>
            <a:lvl1pPr marL="0" indent="0">
              <a:buNone/>
              <a:defRPr sz="21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71550" y="2432447"/>
            <a:ext cx="3538728" cy="1974454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35503" y="1993900"/>
            <a:ext cx="3538728" cy="432197"/>
          </a:xfrm>
        </p:spPr>
        <p:txBody>
          <a:bodyPr anchor="b">
            <a:noAutofit/>
          </a:bodyPr>
          <a:lstStyle>
            <a:lvl1pPr marL="0" indent="0">
              <a:buNone/>
              <a:defRPr sz="21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35503" y="2432447"/>
            <a:ext cx="3538728" cy="1974454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047127" y="1816100"/>
            <a:ext cx="7055474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4534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047127" y="1816100"/>
            <a:ext cx="7055474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1923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6695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0359" y="1041401"/>
            <a:ext cx="2788841" cy="1028700"/>
          </a:xfrm>
        </p:spPr>
        <p:txBody>
          <a:bodyPr anchor="b">
            <a:normAutofit/>
          </a:bodyPr>
          <a:lstStyle>
            <a:lvl1pPr algn="ctr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1" y="736599"/>
            <a:ext cx="4102100" cy="3670301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70359" y="2273299"/>
            <a:ext cx="2788841" cy="1828803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047127" y="2184400"/>
            <a:ext cx="2635874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82569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49" y="1412874"/>
            <a:ext cx="4681362" cy="1028700"/>
          </a:xfrm>
        </p:spPr>
        <p:txBody>
          <a:bodyPr anchor="b">
            <a:normAutofit/>
          </a:bodyPr>
          <a:lstStyle>
            <a:lvl1pPr algn="ctr">
              <a:defRPr sz="21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71124" y="781050"/>
            <a:ext cx="2297510" cy="35814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71549" y="2441574"/>
            <a:ext cx="4681362" cy="1371600"/>
          </a:xfrm>
        </p:spPr>
        <p:txBody>
          <a:bodyPr anchor="t">
            <a:normAutofit/>
          </a:bodyPr>
          <a:lstStyle>
            <a:lvl1pPr marL="0" indent="0" algn="ctr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1114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3611561"/>
            <a:ext cx="7207250" cy="425054"/>
          </a:xfrm>
        </p:spPr>
        <p:txBody>
          <a:bodyPr anchor="b">
            <a:normAutofit/>
          </a:bodyPr>
          <a:lstStyle>
            <a:lvl1pPr algn="ctr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1070" y="781050"/>
            <a:ext cx="7579479" cy="2501902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71551" y="4036615"/>
            <a:ext cx="7207250" cy="370284"/>
          </a:xfrm>
        </p:spPr>
        <p:txBody>
          <a:bodyPr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08119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7901" y="736599"/>
            <a:ext cx="7194549" cy="2216151"/>
          </a:xfrm>
        </p:spPr>
        <p:txBody>
          <a:bodyPr anchor="ctr">
            <a:normAutofit/>
          </a:bodyPr>
          <a:lstStyle>
            <a:lvl1pPr algn="ctr">
              <a:defRPr sz="2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7901" y="3257550"/>
            <a:ext cx="7194549" cy="11493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047127" y="3105149"/>
            <a:ext cx="7055474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29082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60" y="736599"/>
            <a:ext cx="6972299" cy="1778001"/>
          </a:xfrm>
        </p:spPr>
        <p:txBody>
          <a:bodyPr anchor="ctr">
            <a:normAutofit/>
          </a:bodyPr>
          <a:lstStyle>
            <a:lvl1pPr algn="ctr">
              <a:defRPr sz="24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256109" y="2514600"/>
            <a:ext cx="6629402" cy="43815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500"/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3257550"/>
            <a:ext cx="7207250" cy="11493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646510" y="659971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0200" y="2120903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047127" y="3105149"/>
            <a:ext cx="7055474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60408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2" y="2481436"/>
            <a:ext cx="7207251" cy="1101600"/>
          </a:xfrm>
        </p:spPr>
        <p:txBody>
          <a:bodyPr anchor="b">
            <a:normAutofit/>
          </a:bodyPr>
          <a:lstStyle>
            <a:lvl1pPr algn="l">
              <a:defRPr sz="2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3583036"/>
            <a:ext cx="7207251" cy="645300"/>
          </a:xfrm>
        </p:spPr>
        <p:txBody>
          <a:bodyPr anchor="t">
            <a:normAutofit/>
          </a:bodyPr>
          <a:lstStyle>
            <a:lvl1pPr marL="0" indent="0" algn="l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18279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60" y="736599"/>
            <a:ext cx="6972299" cy="1682751"/>
          </a:xfrm>
        </p:spPr>
        <p:txBody>
          <a:bodyPr anchor="ctr">
            <a:normAutofit/>
          </a:bodyPr>
          <a:lstStyle>
            <a:lvl1pPr algn="ctr">
              <a:defRPr sz="24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971551" y="2729484"/>
            <a:ext cx="7207251" cy="66522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3397250"/>
            <a:ext cx="7207251" cy="100965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646510" y="659971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0200" y="1949446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047127" y="2571750"/>
            <a:ext cx="7055474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0166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736599"/>
            <a:ext cx="7207250" cy="1682751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3"/>
          </p:nvPr>
        </p:nvSpPr>
        <p:spPr>
          <a:xfrm>
            <a:off x="971551" y="2722626"/>
            <a:ext cx="7207251" cy="63093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1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0" y="3352800"/>
            <a:ext cx="7207253" cy="105410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047127" y="2571750"/>
            <a:ext cx="7055474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86021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047127" y="1816100"/>
            <a:ext cx="7055474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09723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9518" y="736599"/>
            <a:ext cx="1418171" cy="36703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71549" y="736599"/>
            <a:ext cx="5574769" cy="36703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6647918" y="742950"/>
            <a:ext cx="0" cy="365760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685753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21955" y="1436994"/>
            <a:ext cx="3983990" cy="13684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497215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Content-GrommetsCombined.png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71552" y="736600"/>
            <a:ext cx="7200897" cy="9779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1917699"/>
            <a:ext cx="7200897" cy="248920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08126" y="4476750"/>
            <a:ext cx="1200150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D8BD707-D9CF-40AE-B4C6-C98DA3205C09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71551" y="4476750"/>
            <a:ext cx="5479425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65426" y="4476750"/>
            <a:ext cx="407023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9958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4" r:id="rId1"/>
    <p:sldLayoutId id="2147483905" r:id="rId2"/>
    <p:sldLayoutId id="2147483906" r:id="rId3"/>
    <p:sldLayoutId id="2147483907" r:id="rId4"/>
    <p:sldLayoutId id="2147483908" r:id="rId5"/>
    <p:sldLayoutId id="2147483909" r:id="rId6"/>
    <p:sldLayoutId id="2147483910" r:id="rId7"/>
    <p:sldLayoutId id="2147483911" r:id="rId8"/>
    <p:sldLayoutId id="2147483912" r:id="rId9"/>
    <p:sldLayoutId id="2147483913" r:id="rId10"/>
    <p:sldLayoutId id="2147483914" r:id="rId11"/>
    <p:sldLayoutId id="2147483915" r:id="rId12"/>
    <p:sldLayoutId id="2147483916" r:id="rId13"/>
    <p:sldLayoutId id="2147483917" r:id="rId14"/>
    <p:sldLayoutId id="2147483918" r:id="rId15"/>
    <p:sldLayoutId id="2147483919" r:id="rId16"/>
    <p:sldLayoutId id="2147483920" r:id="rId17"/>
    <p:sldLayoutId id="2147483921" r:id="rId18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143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5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9001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35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1572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2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15001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05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05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05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05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05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g"/><Relationship Id="rId3" Type="http://schemas.openxmlformats.org/officeDocument/2006/relationships/image" Target="../media/image10.jpg"/><Relationship Id="rId7" Type="http://schemas.openxmlformats.org/officeDocument/2006/relationships/image" Target="../media/image14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g"/><Relationship Id="rId5" Type="http://schemas.openxmlformats.org/officeDocument/2006/relationships/image" Target="../media/image12.jp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2016124" y="1428750"/>
            <a:ext cx="5111752" cy="2292688"/>
          </a:xfrm>
          <a:custGeom>
            <a:avLst/>
            <a:gdLst/>
            <a:ahLst/>
            <a:cxnLst/>
            <a:rect l="l" t="t" r="r" b="b"/>
            <a:pathLst>
              <a:path w="5358130" h="419100">
                <a:moveTo>
                  <a:pt x="5357810" y="419099"/>
                </a:moveTo>
                <a:lnTo>
                  <a:pt x="0" y="419099"/>
                </a:lnTo>
                <a:lnTo>
                  <a:pt x="0" y="0"/>
                </a:lnTo>
                <a:lnTo>
                  <a:pt x="5357810" y="0"/>
                </a:lnTo>
                <a:lnTo>
                  <a:pt x="5357810" y="419099"/>
                </a:lnTo>
                <a:close/>
              </a:path>
            </a:pathLst>
          </a:custGeom>
          <a:solidFill>
            <a:srgbClr val="777775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2092324" y="1568891"/>
            <a:ext cx="4959352" cy="204414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lang="en-IN" sz="4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 MT"/>
                <a:cs typeface="Arial MT"/>
              </a:rPr>
              <a:t>WEB APP ON </a:t>
            </a:r>
            <a:br>
              <a:rPr lang="en-IN" sz="4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 MT"/>
                <a:cs typeface="Arial MT"/>
              </a:rPr>
            </a:br>
            <a:r>
              <a:rPr lang="en-IN" sz="4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 MT"/>
                <a:cs typeface="Arial MT"/>
              </a:rPr>
              <a:t>      KUBERNETES         </a:t>
            </a:r>
            <a:r>
              <a:rPr lang="en-IN" sz="400" b="1" dirty="0">
                <a:solidFill>
                  <a:schemeClr val="bg1">
                    <a:lumMod val="50000"/>
                  </a:schemeClr>
                </a:solidFill>
                <a:latin typeface="Arial MT"/>
                <a:cs typeface="Arial MT"/>
              </a:rPr>
              <a:t>C</a:t>
            </a:r>
            <a:r>
              <a:rPr lang="en-IN" sz="44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 MT"/>
                <a:cs typeface="Arial MT"/>
              </a:rPr>
              <a:t>             CLUSTER</a:t>
            </a:r>
            <a:endParaRPr sz="4400" b="1" dirty="0">
              <a:solidFill>
                <a:schemeClr val="accent1">
                  <a:lumMod val="20000"/>
                  <a:lumOff val="80000"/>
                </a:schemeClr>
              </a:solidFill>
              <a:latin typeface="Arial MT"/>
              <a:cs typeface="Arial MT"/>
            </a:endParaRPr>
          </a:p>
        </p:txBody>
      </p:sp>
      <p:pic>
        <p:nvPicPr>
          <p:cNvPr id="8" name="object 2">
            <a:extLst>
              <a:ext uri="{FF2B5EF4-FFF2-40B4-BE49-F238E27FC236}">
                <a16:creationId xmlns:a16="http://schemas.microsoft.com/office/drawing/2014/main" id="{C40C92B1-3CD5-5084-E0A6-C1BD03E8F3BE}"/>
              </a:ext>
            </a:extLst>
          </p:cNvPr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438400" y="2419350"/>
            <a:ext cx="533400" cy="4572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9FA7039-0AD9-F4A1-A194-B4188BEBD1A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1800" y="13606"/>
            <a:ext cx="2345871" cy="64364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1552" y="887957"/>
            <a:ext cx="7200897" cy="6751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3815">
              <a:lnSpc>
                <a:spcPct val="100000"/>
              </a:lnSpc>
              <a:spcBef>
                <a:spcPts val="105"/>
              </a:spcBef>
            </a:pPr>
            <a:r>
              <a:rPr sz="4300" b="1" spc="-10" dirty="0"/>
              <a:t>SCENARIO</a:t>
            </a:r>
            <a:endParaRPr sz="4300" b="1" dirty="0"/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966109" y="2038350"/>
            <a:ext cx="7200897" cy="233179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3810">
              <a:lnSpc>
                <a:spcPct val="130800"/>
              </a:lnSpc>
              <a:spcBef>
                <a:spcPts val="95"/>
              </a:spcBef>
            </a:pPr>
            <a:r>
              <a:rPr lang="en-IN" sz="2000" spc="85" dirty="0"/>
              <a:t>  </a:t>
            </a:r>
            <a:r>
              <a:rPr sz="2000" spc="85" dirty="0"/>
              <a:t>Multi</a:t>
            </a:r>
            <a:r>
              <a:rPr sz="2000" spc="165" dirty="0"/>
              <a:t> </a:t>
            </a:r>
            <a:r>
              <a:rPr sz="2000" spc="55" dirty="0">
                <a:solidFill>
                  <a:srgbClr val="0F0F0F"/>
                </a:solidFill>
              </a:rPr>
              <a:t>Tier</a:t>
            </a:r>
            <a:r>
              <a:rPr sz="2000" spc="229" dirty="0">
                <a:solidFill>
                  <a:srgbClr val="0F0F0F"/>
                </a:solidFill>
              </a:rPr>
              <a:t> </a:t>
            </a:r>
            <a:r>
              <a:rPr sz="2000" spc="90" dirty="0"/>
              <a:t>Web</a:t>
            </a:r>
            <a:r>
              <a:rPr sz="2000" spc="395" dirty="0"/>
              <a:t> </a:t>
            </a:r>
            <a:r>
              <a:rPr sz="2000" spc="135" dirty="0"/>
              <a:t>Application</a:t>
            </a:r>
            <a:r>
              <a:rPr sz="2000" spc="340" dirty="0"/>
              <a:t> </a:t>
            </a:r>
            <a:r>
              <a:rPr sz="2000" spc="170" dirty="0">
                <a:solidFill>
                  <a:srgbClr val="0F0F0F"/>
                </a:solidFill>
              </a:rPr>
              <a:t>Stack </a:t>
            </a:r>
            <a:endParaRPr lang="en-IN" sz="2000" spc="170" dirty="0">
              <a:solidFill>
                <a:srgbClr val="0F0F0F"/>
              </a:solidFill>
            </a:endParaRPr>
          </a:p>
          <a:p>
            <a:pPr marL="12700" marR="5080" indent="3810">
              <a:lnSpc>
                <a:spcPct val="130800"/>
              </a:lnSpc>
              <a:spcBef>
                <a:spcPts val="95"/>
              </a:spcBef>
            </a:pPr>
            <a:r>
              <a:rPr lang="en-IN" sz="2000" spc="130" dirty="0"/>
              <a:t>  Containerized</a:t>
            </a:r>
          </a:p>
          <a:p>
            <a:pPr marL="13970">
              <a:lnSpc>
                <a:spcPct val="100000"/>
              </a:lnSpc>
              <a:spcBef>
                <a:spcPts val="735"/>
              </a:spcBef>
            </a:pPr>
            <a:r>
              <a:rPr lang="en-IN" sz="2000" spc="100" dirty="0"/>
              <a:t>Tested</a:t>
            </a:r>
            <a:r>
              <a:rPr lang="en-IN" sz="2000" spc="285" dirty="0"/>
              <a:t> </a:t>
            </a:r>
            <a:r>
              <a:rPr lang="en-IN" sz="2000" spc="-25" dirty="0"/>
              <a:t>it</a:t>
            </a:r>
          </a:p>
          <a:p>
            <a:pPr marL="17145">
              <a:lnSpc>
                <a:spcPct val="100000"/>
              </a:lnSpc>
              <a:spcBef>
                <a:spcPts val="869"/>
              </a:spcBef>
            </a:pPr>
            <a:r>
              <a:rPr sz="2000" spc="150" dirty="0">
                <a:solidFill>
                  <a:srgbClr val="0F0F0F"/>
                </a:solidFill>
              </a:rPr>
              <a:t>Want</a:t>
            </a:r>
            <a:r>
              <a:rPr sz="2000" spc="204" dirty="0">
                <a:solidFill>
                  <a:srgbClr val="0F0F0F"/>
                </a:solidFill>
              </a:rPr>
              <a:t> </a:t>
            </a:r>
            <a:r>
              <a:rPr sz="2000" spc="70" dirty="0">
                <a:solidFill>
                  <a:srgbClr val="1A1A1A"/>
                </a:solidFill>
              </a:rPr>
              <a:t>to</a:t>
            </a:r>
            <a:r>
              <a:rPr sz="2000" spc="155" dirty="0">
                <a:solidFill>
                  <a:srgbClr val="1A1A1A"/>
                </a:solidFill>
              </a:rPr>
              <a:t> </a:t>
            </a:r>
            <a:r>
              <a:rPr sz="2000" spc="130" dirty="0">
                <a:solidFill>
                  <a:srgbClr val="1C1C1C"/>
                </a:solidFill>
              </a:rPr>
              <a:t>host</a:t>
            </a:r>
            <a:r>
              <a:rPr sz="2000" spc="165" dirty="0">
                <a:solidFill>
                  <a:srgbClr val="1C1C1C"/>
                </a:solidFill>
              </a:rPr>
              <a:t> </a:t>
            </a:r>
            <a:r>
              <a:rPr sz="2000" dirty="0"/>
              <a:t>for</a:t>
            </a:r>
            <a:r>
              <a:rPr sz="2000" spc="240" dirty="0"/>
              <a:t> </a:t>
            </a:r>
            <a:r>
              <a:rPr sz="2000" spc="145" dirty="0">
                <a:solidFill>
                  <a:srgbClr val="151515"/>
                </a:solidFill>
              </a:rPr>
              <a:t>Production</a:t>
            </a:r>
            <a:endParaRPr lang="en-IN" sz="2000" spc="145" dirty="0">
              <a:solidFill>
                <a:srgbClr val="151515"/>
              </a:solidFill>
            </a:endParaRPr>
          </a:p>
          <a:p>
            <a:pPr marL="17145">
              <a:lnSpc>
                <a:spcPct val="100000"/>
              </a:lnSpc>
              <a:spcBef>
                <a:spcPts val="869"/>
              </a:spcBef>
            </a:pPr>
            <a:endParaRPr sz="2000" spc="145" dirty="0">
              <a:solidFill>
                <a:srgbClr val="151515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51D0C35-7C6F-2F54-0D9C-EEFA4326717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8600" y="402635"/>
            <a:ext cx="928006" cy="92800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1552" y="880263"/>
            <a:ext cx="7200897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2384">
              <a:lnSpc>
                <a:spcPct val="100000"/>
              </a:lnSpc>
              <a:spcBef>
                <a:spcPts val="105"/>
              </a:spcBef>
            </a:pPr>
            <a:r>
              <a:rPr sz="4300" b="1" dirty="0">
                <a:cs typeface="Arial MT"/>
              </a:rPr>
              <a:t>REQUIR</a:t>
            </a:r>
            <a:r>
              <a:rPr lang="en-IN" sz="4300" b="1" spc="-360" dirty="0">
                <a:cs typeface="Arial MT"/>
              </a:rPr>
              <a:t>M</a:t>
            </a:r>
            <a:r>
              <a:rPr sz="4300" b="1" spc="-360" dirty="0">
                <a:cs typeface="Arial MT"/>
              </a:rPr>
              <a:t>E</a:t>
            </a:r>
            <a:r>
              <a:rPr lang="en-IN" sz="4300" b="1" spc="-360" dirty="0">
                <a:cs typeface="Arial MT"/>
              </a:rPr>
              <a:t>N</a:t>
            </a:r>
            <a:r>
              <a:rPr sz="4300" b="1" spc="-360" dirty="0">
                <a:cs typeface="Arial MT"/>
              </a:rPr>
              <a:t>T</a:t>
            </a:r>
            <a:endParaRPr sz="4300" b="1" dirty="0"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28428" y="1927050"/>
            <a:ext cx="5753372" cy="217309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55600" marR="1003300" indent="-342900">
              <a:lnSpc>
                <a:spcPct val="140200"/>
              </a:lnSpc>
              <a:spcBef>
                <a:spcPts val="14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IN" sz="2000" dirty="0">
                <a:cs typeface="Arial MT"/>
              </a:rPr>
              <a:t>High availability</a:t>
            </a:r>
          </a:p>
          <a:p>
            <a:pPr marL="355600" marR="1003300" indent="-342900">
              <a:lnSpc>
                <a:spcPct val="140200"/>
              </a:lnSpc>
              <a:spcBef>
                <a:spcPts val="14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IN" sz="2000" dirty="0">
                <a:cs typeface="Arial MT"/>
              </a:rPr>
              <a:t>Fault</a:t>
            </a:r>
            <a:r>
              <a:rPr lang="en-IN" sz="2000" spc="50" dirty="0">
                <a:cs typeface="Arial MT"/>
              </a:rPr>
              <a:t> </a:t>
            </a:r>
            <a:r>
              <a:rPr lang="en-IN" sz="2000" spc="-10" dirty="0">
                <a:cs typeface="Arial MT"/>
              </a:rPr>
              <a:t>tolerance </a:t>
            </a:r>
          </a:p>
          <a:p>
            <a:pPr marL="355600" marR="1003300" indent="-342900">
              <a:lnSpc>
                <a:spcPct val="140200"/>
              </a:lnSpc>
              <a:spcBef>
                <a:spcPts val="14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181818"/>
                </a:solidFill>
                <a:cs typeface="Arial MT"/>
              </a:rPr>
              <a:t>Easily</a:t>
            </a:r>
            <a:r>
              <a:rPr lang="en-IN" sz="2000" spc="-75" dirty="0">
                <a:solidFill>
                  <a:srgbClr val="181818"/>
                </a:solidFill>
                <a:cs typeface="Arial MT"/>
              </a:rPr>
              <a:t> </a:t>
            </a:r>
            <a:r>
              <a:rPr lang="en-IN" sz="2000" spc="-10" dirty="0">
                <a:solidFill>
                  <a:srgbClr val="0C0C0C"/>
                </a:solidFill>
                <a:cs typeface="Arial MT"/>
              </a:rPr>
              <a:t>s</a:t>
            </a:r>
            <a:r>
              <a:rPr lang="en-IN" sz="3000" spc="-15" baseline="1388" dirty="0">
                <a:solidFill>
                  <a:srgbClr val="0C0C0C"/>
                </a:solidFill>
                <a:cs typeface="Arial MT"/>
              </a:rPr>
              <a:t>c</a:t>
            </a:r>
            <a:r>
              <a:rPr lang="en-IN" sz="2000" spc="-10" dirty="0">
                <a:solidFill>
                  <a:srgbClr val="0C0C0C"/>
                </a:solidFill>
                <a:cs typeface="Arial MT"/>
              </a:rPr>
              <a:t>alable</a:t>
            </a:r>
            <a:endParaRPr lang="en-IN" sz="2000" dirty="0">
              <a:cs typeface="Arial MT"/>
            </a:endParaRPr>
          </a:p>
          <a:p>
            <a:pPr marL="356235" marR="5080" indent="-342900">
              <a:lnSpc>
                <a:spcPct val="142200"/>
              </a:lnSpc>
              <a:spcBef>
                <a:spcPts val="4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IN" sz="2000" spc="-45" dirty="0">
                <a:solidFill>
                  <a:srgbClr val="0C0C0C"/>
                </a:solidFill>
                <a:cs typeface="Arial MT"/>
              </a:rPr>
              <a:t>Platform</a:t>
            </a:r>
            <a:r>
              <a:rPr lang="en-IN" sz="2000" spc="-10" dirty="0">
                <a:solidFill>
                  <a:srgbClr val="0C0C0C"/>
                </a:solidFill>
                <a:cs typeface="Arial MT"/>
              </a:rPr>
              <a:t> </a:t>
            </a:r>
            <a:r>
              <a:rPr lang="en-IN" sz="2000" spc="75" dirty="0">
                <a:cs typeface="Arial MT"/>
              </a:rPr>
              <a:t>independent </a:t>
            </a:r>
          </a:p>
          <a:p>
            <a:pPr marL="356235" marR="5080" indent="-342900">
              <a:lnSpc>
                <a:spcPct val="142200"/>
              </a:lnSpc>
              <a:spcBef>
                <a:spcPts val="4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IN" sz="2000" dirty="0">
                <a:cs typeface="Arial MT"/>
              </a:rPr>
              <a:t>Portable</a:t>
            </a:r>
            <a:r>
              <a:rPr lang="en-IN" sz="2000" spc="355" dirty="0">
                <a:cs typeface="Arial MT"/>
              </a:rPr>
              <a:t> </a:t>
            </a:r>
            <a:r>
              <a:rPr lang="en-IN" sz="2000" dirty="0">
                <a:solidFill>
                  <a:srgbClr val="161616"/>
                </a:solidFill>
                <a:cs typeface="Arial MT"/>
              </a:rPr>
              <a:t>&amp;</a:t>
            </a:r>
            <a:r>
              <a:rPr lang="en-IN" sz="2000" spc="204" dirty="0">
                <a:solidFill>
                  <a:srgbClr val="161616"/>
                </a:solidFill>
                <a:cs typeface="Arial MT"/>
              </a:rPr>
              <a:t> </a:t>
            </a:r>
            <a:r>
              <a:rPr lang="en-IN" sz="2000" spc="-10" dirty="0">
                <a:cs typeface="Arial MT"/>
              </a:rPr>
              <a:t>flexible</a:t>
            </a:r>
            <a:endParaRPr lang="en-IN" sz="2000" dirty="0">
              <a:cs typeface="Arial M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DDC067-A6A7-ACA5-ACDB-E8906A1CC31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8600" y="402635"/>
            <a:ext cx="928006" cy="92800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3418547F-EE50-47C8-E72E-D30F7E7BEBDD}"/>
              </a:ext>
            </a:extLst>
          </p:cNvPr>
          <p:cNvSpPr/>
          <p:nvPr/>
        </p:nvSpPr>
        <p:spPr>
          <a:xfrm>
            <a:off x="1965323" y="1428750"/>
            <a:ext cx="5213353" cy="2398200"/>
          </a:xfrm>
          <a:custGeom>
            <a:avLst/>
            <a:gdLst/>
            <a:ahLst/>
            <a:cxnLst/>
            <a:rect l="l" t="t" r="r" b="b"/>
            <a:pathLst>
              <a:path w="5358130" h="419100">
                <a:moveTo>
                  <a:pt x="5357810" y="419099"/>
                </a:moveTo>
                <a:lnTo>
                  <a:pt x="0" y="419099"/>
                </a:lnTo>
                <a:lnTo>
                  <a:pt x="0" y="0"/>
                </a:lnTo>
                <a:lnTo>
                  <a:pt x="5357810" y="0"/>
                </a:lnTo>
                <a:lnTo>
                  <a:pt x="5357810" y="419099"/>
                </a:lnTo>
                <a:close/>
              </a:path>
            </a:pathLst>
          </a:custGeom>
          <a:solidFill>
            <a:srgbClr val="777775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CF8652E9-772D-3B1C-96A2-B0BC836586DD}"/>
              </a:ext>
            </a:extLst>
          </p:cNvPr>
          <p:cNvSpPr txBox="1">
            <a:spLocks/>
          </p:cNvSpPr>
          <p:nvPr/>
        </p:nvSpPr>
        <p:spPr>
          <a:xfrm>
            <a:off x="1447800" y="1428750"/>
            <a:ext cx="6019800" cy="2241639"/>
          </a:xfrm>
          <a:prstGeom prst="rect">
            <a:avLst/>
          </a:prstGeom>
          <a:effectLst/>
        </p:spPr>
        <p:txBody>
          <a:bodyPr vert="horz" wrap="square" lIns="0" tIns="12700" rIns="0" bIns="0" rtlCol="0" anchor="b">
            <a:sp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405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12700">
              <a:spcBef>
                <a:spcPts val="100"/>
              </a:spcBef>
            </a:pPr>
            <a:r>
              <a:rPr lang="en-US" sz="3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 MT"/>
                <a:cs typeface="Arial MT"/>
              </a:rPr>
              <a:t>CONTAINER  ORCHESTRATION </a:t>
            </a:r>
            <a:br>
              <a:rPr lang="en-US" sz="3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 MT"/>
                <a:cs typeface="Arial MT"/>
              </a:rPr>
            </a:br>
            <a:r>
              <a:rPr lang="en-US" sz="3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 MT"/>
                <a:cs typeface="Arial MT"/>
              </a:rPr>
              <a:t>KUBERNETES   </a:t>
            </a:r>
          </a:p>
          <a:p>
            <a:pPr marL="12700">
              <a:spcBef>
                <a:spcPts val="100"/>
              </a:spcBef>
            </a:pPr>
            <a:r>
              <a:rPr lang="en-US" sz="3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 MT"/>
                <a:cs typeface="Arial MT"/>
              </a:rPr>
              <a:t>CLUSTER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17145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971551" y="687877"/>
            <a:ext cx="7200897" cy="6674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105"/>
              </a:spcBef>
            </a:pPr>
            <a:r>
              <a:rPr sz="4250" b="1" spc="-10" dirty="0"/>
              <a:t>STATISTICS</a:t>
            </a:r>
            <a:endParaRPr sz="4250" b="1" dirty="0"/>
          </a:p>
        </p:txBody>
      </p:sp>
      <p:sp>
        <p:nvSpPr>
          <p:cNvPr id="8" name="object 8"/>
          <p:cNvSpPr txBox="1"/>
          <p:nvPr/>
        </p:nvSpPr>
        <p:spPr>
          <a:xfrm>
            <a:off x="628289" y="3844065"/>
            <a:ext cx="1643424" cy="523861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492759" marR="36830" indent="-451484">
              <a:lnSpc>
                <a:spcPts val="1930"/>
              </a:lnSpc>
              <a:spcBef>
                <a:spcPts val="285"/>
              </a:spcBef>
            </a:pPr>
            <a:r>
              <a:rPr sz="1700" spc="55" dirty="0">
                <a:solidFill>
                  <a:srgbClr val="3B3B3B"/>
                </a:solidFill>
                <a:latin typeface="Arial MT"/>
                <a:cs typeface="Arial MT"/>
              </a:rPr>
              <a:t>Conta</a:t>
            </a:r>
            <a:r>
              <a:rPr sz="1700" spc="50" dirty="0">
                <a:solidFill>
                  <a:srgbClr val="424242"/>
                </a:solidFill>
                <a:latin typeface="Arial MT"/>
                <a:cs typeface="Arial MT"/>
              </a:rPr>
              <a:t>i</a:t>
            </a:r>
            <a:r>
              <a:rPr sz="1700" spc="50" dirty="0">
                <a:solidFill>
                  <a:srgbClr val="3D3D3D"/>
                </a:solidFill>
                <a:latin typeface="Arial MT"/>
                <a:cs typeface="Arial MT"/>
              </a:rPr>
              <a:t>ners </a:t>
            </a:r>
            <a:r>
              <a:rPr sz="1700" spc="45" dirty="0">
                <a:solidFill>
                  <a:srgbClr val="414141"/>
                </a:solidFill>
                <a:latin typeface="Arial MT"/>
                <a:cs typeface="Arial MT"/>
              </a:rPr>
              <a:t>on</a:t>
            </a:r>
            <a:endParaRPr sz="1700" dirty="0">
              <a:latin typeface="Arial MT"/>
              <a:cs typeface="Arial MT"/>
            </a:endParaRPr>
          </a:p>
          <a:p>
            <a:pPr marL="12700">
              <a:lnSpc>
                <a:spcPts val="1905"/>
              </a:lnSpc>
            </a:pPr>
            <a:r>
              <a:rPr sz="2550" spc="112" baseline="1633" dirty="0">
                <a:solidFill>
                  <a:srgbClr val="494949"/>
                </a:solidFill>
                <a:latin typeface="Arial MT"/>
                <a:cs typeface="Arial MT"/>
              </a:rPr>
              <a:t>Ku</a:t>
            </a:r>
            <a:r>
              <a:rPr sz="1700" spc="75" dirty="0">
                <a:solidFill>
                  <a:srgbClr val="3B3B3B"/>
                </a:solidFill>
                <a:latin typeface="Arial MT"/>
                <a:cs typeface="Arial MT"/>
              </a:rPr>
              <a:t>bernetes</a:t>
            </a:r>
            <a:endParaRPr sz="1700" dirty="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481388" y="3844065"/>
            <a:ext cx="2090612" cy="523861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637540" marR="5080" indent="-625475">
              <a:lnSpc>
                <a:spcPts val="1930"/>
              </a:lnSpc>
              <a:spcBef>
                <a:spcPts val="285"/>
              </a:spcBef>
            </a:pPr>
            <a:r>
              <a:rPr sz="1700" dirty="0">
                <a:solidFill>
                  <a:srgbClr val="313131"/>
                </a:solidFill>
                <a:latin typeface="Arial MT"/>
                <a:cs typeface="Arial MT"/>
              </a:rPr>
              <a:t>If</a:t>
            </a:r>
            <a:r>
              <a:rPr sz="1700" spc="70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1700" spc="60" dirty="0">
                <a:solidFill>
                  <a:srgbClr val="444444"/>
                </a:solidFill>
                <a:latin typeface="Arial MT"/>
                <a:cs typeface="Arial MT"/>
              </a:rPr>
              <a:t>reds</a:t>
            </a:r>
            <a:r>
              <a:rPr sz="1700" spc="-30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44444"/>
                </a:solidFill>
                <a:latin typeface="Arial MT"/>
                <a:cs typeface="Arial MT"/>
              </a:rPr>
              <a:t>ift</a:t>
            </a:r>
            <a:r>
              <a:rPr sz="1700" spc="27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3F3F3F"/>
                </a:solidFill>
                <a:latin typeface="Arial MT"/>
                <a:cs typeface="Arial MT"/>
              </a:rPr>
              <a:t>&amp;</a:t>
            </a:r>
            <a:r>
              <a:rPr sz="1700" spc="8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700" spc="45" dirty="0">
                <a:solidFill>
                  <a:srgbClr val="383838"/>
                </a:solidFill>
                <a:latin typeface="Arial MT"/>
                <a:cs typeface="Arial MT"/>
              </a:rPr>
              <a:t>Rancher </a:t>
            </a:r>
            <a:r>
              <a:rPr lang="en-IN" sz="2550" spc="89" baseline="4901" dirty="0">
                <a:solidFill>
                  <a:srgbClr val="565656"/>
                </a:solidFill>
                <a:latin typeface="Arial MT"/>
                <a:cs typeface="Arial MT"/>
              </a:rPr>
              <a:t> </a:t>
            </a:r>
            <a:r>
              <a:rPr lang="en-IN" sz="1700" spc="60" dirty="0">
                <a:solidFill>
                  <a:srgbClr val="565656"/>
                </a:solidFill>
                <a:latin typeface="Arial MT"/>
                <a:cs typeface="Arial MT"/>
              </a:rPr>
              <a:t>in</a:t>
            </a:r>
            <a:r>
              <a:rPr sz="1700" spc="60" dirty="0" err="1">
                <a:solidFill>
                  <a:srgbClr val="565656"/>
                </a:solidFill>
                <a:latin typeface="Arial MT"/>
                <a:cs typeface="Arial MT"/>
              </a:rPr>
              <a:t>cl</a:t>
            </a:r>
            <a:r>
              <a:rPr sz="1700" spc="95" dirty="0" err="1">
                <a:solidFill>
                  <a:srgbClr val="444444"/>
                </a:solidFill>
                <a:latin typeface="Arial MT"/>
                <a:cs typeface="Arial MT"/>
              </a:rPr>
              <a:t>uded</a:t>
            </a:r>
            <a:endParaRPr sz="1700" dirty="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781675" y="3844065"/>
            <a:ext cx="1847725" cy="709168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ts val="1714"/>
              </a:lnSpc>
            </a:pPr>
            <a:r>
              <a:rPr lang="en-IN" sz="1700" dirty="0">
                <a:solidFill>
                  <a:srgbClr val="333333"/>
                </a:solidFill>
                <a:latin typeface="Arial MT"/>
                <a:cs typeface="Arial MT"/>
              </a:rPr>
              <a:t>Orgs will </a:t>
            </a:r>
            <a:r>
              <a:rPr sz="1700" dirty="0">
                <a:solidFill>
                  <a:srgbClr val="333333"/>
                </a:solidFill>
                <a:latin typeface="Arial MT"/>
                <a:cs typeface="Arial MT"/>
              </a:rPr>
              <a:t>Increase</a:t>
            </a:r>
            <a:r>
              <a:rPr lang="en-IN" sz="1700" spc="459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700" spc="50" dirty="0">
                <a:solidFill>
                  <a:srgbClr val="444444"/>
                </a:solidFill>
                <a:latin typeface="Arial MT"/>
                <a:cs typeface="Arial MT"/>
              </a:rPr>
              <a:t>usage</a:t>
            </a:r>
            <a:endParaRPr sz="1700" dirty="0">
              <a:latin typeface="Arial MT"/>
              <a:cs typeface="Arial MT"/>
            </a:endParaRPr>
          </a:p>
          <a:p>
            <a:pPr marL="10160" algn="ctr">
              <a:lnSpc>
                <a:spcPts val="1964"/>
              </a:lnSpc>
              <a:tabLst>
                <a:tab pos="530860" algn="l"/>
              </a:tabLst>
            </a:pPr>
            <a:r>
              <a:rPr lang="en-IN" sz="1700" spc="-50" dirty="0">
                <a:solidFill>
                  <a:srgbClr val="525252"/>
                </a:solidFill>
                <a:latin typeface="Arial MT"/>
                <a:cs typeface="Arial MT"/>
              </a:rPr>
              <a:t>In 12 </a:t>
            </a:r>
            <a:r>
              <a:rPr sz="1700" dirty="0">
                <a:solidFill>
                  <a:srgbClr val="525252"/>
                </a:solidFill>
                <a:latin typeface="Arial MT"/>
                <a:cs typeface="Arial MT"/>
              </a:rPr>
              <a:t>	</a:t>
            </a:r>
            <a:r>
              <a:rPr sz="1700" spc="145" dirty="0">
                <a:solidFill>
                  <a:srgbClr val="3D3D3D"/>
                </a:solidFill>
                <a:latin typeface="Arial MT"/>
                <a:cs typeface="Arial MT"/>
              </a:rPr>
              <a:t>m</a:t>
            </a:r>
            <a:r>
              <a:rPr lang="en-IN" sz="1700" spc="145" dirty="0">
                <a:solidFill>
                  <a:srgbClr val="3D3D3D"/>
                </a:solidFill>
                <a:latin typeface="Arial MT"/>
                <a:cs typeface="Arial MT"/>
              </a:rPr>
              <a:t>on</a:t>
            </a:r>
            <a:r>
              <a:rPr sz="1700" spc="145" dirty="0" err="1">
                <a:solidFill>
                  <a:srgbClr val="3D3D3D"/>
                </a:solidFill>
                <a:latin typeface="Arial MT"/>
                <a:cs typeface="Arial MT"/>
              </a:rPr>
              <a:t>ths</a:t>
            </a:r>
            <a:endParaRPr sz="1700" dirty="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115346" y="3827595"/>
            <a:ext cx="1624965" cy="55753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ts val="2075"/>
              </a:lnSpc>
              <a:spcBef>
                <a:spcPts val="130"/>
              </a:spcBef>
            </a:pPr>
            <a:r>
              <a:rPr sz="1850" spc="95" dirty="0">
                <a:solidFill>
                  <a:srgbClr val="3F3F3F"/>
                </a:solidFill>
                <a:latin typeface="Calibri"/>
                <a:cs typeface="Calibri"/>
              </a:rPr>
              <a:t>growth</a:t>
            </a:r>
            <a:r>
              <a:rPr sz="1850" spc="18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850" spc="60" dirty="0">
                <a:solidFill>
                  <a:srgbClr val="464646"/>
                </a:solidFill>
                <a:latin typeface="Calibri"/>
                <a:cs typeface="Calibri"/>
              </a:rPr>
              <a:t>in</a:t>
            </a:r>
            <a:r>
              <a:rPr sz="1850" spc="90" dirty="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sz="1850" spc="55" dirty="0">
                <a:solidFill>
                  <a:srgbClr val="424242"/>
                </a:solidFill>
                <a:latin typeface="Calibri"/>
                <a:cs typeface="Calibri"/>
              </a:rPr>
              <a:t>prod</a:t>
            </a:r>
            <a:endParaRPr sz="1850" dirty="0">
              <a:latin typeface="Calibri"/>
              <a:cs typeface="Calibri"/>
            </a:endParaRPr>
          </a:p>
          <a:p>
            <a:pPr marL="21590" algn="ctr">
              <a:lnSpc>
                <a:spcPts val="2075"/>
              </a:lnSpc>
            </a:pPr>
            <a:r>
              <a:rPr sz="1850" spc="-10" dirty="0" err="1">
                <a:solidFill>
                  <a:srgbClr val="3D3D3D"/>
                </a:solidFill>
                <a:latin typeface="Arial MT"/>
                <a:cs typeface="Arial MT"/>
              </a:rPr>
              <a:t>conta</a:t>
            </a:r>
            <a:r>
              <a:rPr lang="en-IN" sz="1850" spc="-10" dirty="0">
                <a:solidFill>
                  <a:srgbClr val="3D3D3D"/>
                </a:solidFill>
                <a:latin typeface="Arial MT"/>
                <a:cs typeface="Arial MT"/>
              </a:rPr>
              <a:t>in</a:t>
            </a:r>
            <a:r>
              <a:rPr sz="1850" spc="-10" dirty="0" err="1">
                <a:solidFill>
                  <a:srgbClr val="3D3D3D"/>
                </a:solidFill>
                <a:latin typeface="Arial MT"/>
                <a:cs typeface="Arial MT"/>
              </a:rPr>
              <a:t>ers</a:t>
            </a:r>
            <a:endParaRPr sz="1850" dirty="0">
              <a:latin typeface="Arial MT"/>
              <a:cs typeface="Arial M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AF750C-202B-0A8C-0436-91F5C61A08BD}"/>
              </a:ext>
            </a:extLst>
          </p:cNvPr>
          <p:cNvSpPr txBox="1"/>
          <p:nvPr/>
        </p:nvSpPr>
        <p:spPr>
          <a:xfrm>
            <a:off x="1905000" y="1274368"/>
            <a:ext cx="5867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/>
              <a:t>Containerization Statistics</a:t>
            </a:r>
          </a:p>
        </p:txBody>
      </p:sp>
      <p:sp>
        <p:nvSpPr>
          <p:cNvPr id="16" name="Heptagon 15">
            <a:extLst>
              <a:ext uri="{FF2B5EF4-FFF2-40B4-BE49-F238E27FC236}">
                <a16:creationId xmlns:a16="http://schemas.microsoft.com/office/drawing/2014/main" id="{207B63F7-A15F-827B-1A39-6F040C0828A5}"/>
              </a:ext>
            </a:extLst>
          </p:cNvPr>
          <p:cNvSpPr/>
          <p:nvPr/>
        </p:nvSpPr>
        <p:spPr>
          <a:xfrm>
            <a:off x="625047" y="2383642"/>
            <a:ext cx="1219200" cy="1143000"/>
          </a:xfrm>
          <a:prstGeom prst="hept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Heptagon 16">
            <a:extLst>
              <a:ext uri="{FF2B5EF4-FFF2-40B4-BE49-F238E27FC236}">
                <a16:creationId xmlns:a16="http://schemas.microsoft.com/office/drawing/2014/main" id="{DB743315-5C00-A015-CEDC-6AE6E4DC7F39}"/>
              </a:ext>
            </a:extLst>
          </p:cNvPr>
          <p:cNvSpPr/>
          <p:nvPr/>
        </p:nvSpPr>
        <p:spPr>
          <a:xfrm>
            <a:off x="7391400" y="2378199"/>
            <a:ext cx="1219200" cy="1143000"/>
          </a:xfrm>
          <a:prstGeom prst="hept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Heptagon 17">
            <a:extLst>
              <a:ext uri="{FF2B5EF4-FFF2-40B4-BE49-F238E27FC236}">
                <a16:creationId xmlns:a16="http://schemas.microsoft.com/office/drawing/2014/main" id="{FF619D0B-8C9C-B90F-3F8A-1E4D79BA87C8}"/>
              </a:ext>
            </a:extLst>
          </p:cNvPr>
          <p:cNvSpPr/>
          <p:nvPr/>
        </p:nvSpPr>
        <p:spPr>
          <a:xfrm>
            <a:off x="5181600" y="2378199"/>
            <a:ext cx="1219200" cy="1143000"/>
          </a:xfrm>
          <a:prstGeom prst="hept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Heptagon 18">
            <a:extLst>
              <a:ext uri="{FF2B5EF4-FFF2-40B4-BE49-F238E27FC236}">
                <a16:creationId xmlns:a16="http://schemas.microsoft.com/office/drawing/2014/main" id="{ED70A2D9-FFD6-FF21-1C4D-CF48C2356580}"/>
              </a:ext>
            </a:extLst>
          </p:cNvPr>
          <p:cNvSpPr/>
          <p:nvPr/>
        </p:nvSpPr>
        <p:spPr>
          <a:xfrm>
            <a:off x="2793366" y="2378199"/>
            <a:ext cx="1219200" cy="1143000"/>
          </a:xfrm>
          <a:prstGeom prst="hept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30F9500-FBE7-A896-97A6-401F4F5D8602}"/>
              </a:ext>
            </a:extLst>
          </p:cNvPr>
          <p:cNvSpPr txBox="1"/>
          <p:nvPr/>
        </p:nvSpPr>
        <p:spPr>
          <a:xfrm>
            <a:off x="780168" y="2473626"/>
            <a:ext cx="1219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Berlin Sans FB Demi" panose="020E0802020502020306" pitchFamily="34" charset="0"/>
              </a:rPr>
              <a:t>77</a:t>
            </a:r>
            <a:r>
              <a:rPr lang="en-IN" sz="32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Berlin Sans FB Demi" panose="020E0802020502020306" pitchFamily="34" charset="0"/>
              </a:rPr>
              <a:t>%</a:t>
            </a:r>
            <a:endParaRPr lang="en-IN" sz="4800" b="1" dirty="0">
              <a:solidFill>
                <a:schemeClr val="accent1">
                  <a:lumMod val="20000"/>
                  <a:lumOff val="80000"/>
                </a:schemeClr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9215043-2E08-ED43-F316-0280B30348E7}"/>
              </a:ext>
            </a:extLst>
          </p:cNvPr>
          <p:cNvSpPr txBox="1"/>
          <p:nvPr/>
        </p:nvSpPr>
        <p:spPr>
          <a:xfrm>
            <a:off x="7505700" y="2457908"/>
            <a:ext cx="1219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Berlin Sans FB Demi" panose="020E0802020502020306" pitchFamily="34" charset="0"/>
              </a:rPr>
              <a:t>28</a:t>
            </a:r>
            <a:r>
              <a:rPr lang="en-IN" sz="32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Berlin Sans FB Demi" panose="020E0802020502020306" pitchFamily="34" charset="0"/>
              </a:rPr>
              <a:t>%</a:t>
            </a:r>
            <a:endParaRPr lang="en-IN" sz="4800" b="1" dirty="0">
              <a:solidFill>
                <a:schemeClr val="accent1">
                  <a:lumMod val="20000"/>
                  <a:lumOff val="80000"/>
                </a:schemeClr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C25A344-4BFB-1286-EB86-5539E5846846}"/>
              </a:ext>
            </a:extLst>
          </p:cNvPr>
          <p:cNvSpPr txBox="1"/>
          <p:nvPr/>
        </p:nvSpPr>
        <p:spPr>
          <a:xfrm>
            <a:off x="5245734" y="2473626"/>
            <a:ext cx="1219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Berlin Sans FB Demi" panose="020E0802020502020306" pitchFamily="34" charset="0"/>
              </a:rPr>
              <a:t>56</a:t>
            </a:r>
            <a:r>
              <a:rPr lang="en-IN" sz="32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Berlin Sans FB Demi" panose="020E0802020502020306" pitchFamily="34" charset="0"/>
              </a:rPr>
              <a:t>%</a:t>
            </a:r>
            <a:endParaRPr lang="en-IN" sz="4800" b="1" dirty="0">
              <a:solidFill>
                <a:schemeClr val="accent1">
                  <a:lumMod val="20000"/>
                  <a:lumOff val="80000"/>
                </a:schemeClr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822A388-7358-A82C-D9E0-2EF7B52244C9}"/>
              </a:ext>
            </a:extLst>
          </p:cNvPr>
          <p:cNvSpPr txBox="1"/>
          <p:nvPr/>
        </p:nvSpPr>
        <p:spPr>
          <a:xfrm>
            <a:off x="2857500" y="2457908"/>
            <a:ext cx="1219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Berlin Sans FB Demi" panose="020E0802020502020306" pitchFamily="34" charset="0"/>
              </a:rPr>
              <a:t>89</a:t>
            </a:r>
            <a:r>
              <a:rPr lang="en-IN" sz="32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Berlin Sans FB Demi" panose="020E0802020502020306" pitchFamily="34" charset="0"/>
              </a:rPr>
              <a:t>%</a:t>
            </a:r>
            <a:endParaRPr lang="en-IN" sz="4800" b="1" dirty="0">
              <a:solidFill>
                <a:schemeClr val="accent1">
                  <a:lumMod val="20000"/>
                  <a:lumOff val="80000"/>
                </a:schemeClr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25" name="Rectangle: Diagonal Corners Rounded 24">
            <a:extLst>
              <a:ext uri="{FF2B5EF4-FFF2-40B4-BE49-F238E27FC236}">
                <a16:creationId xmlns:a16="http://schemas.microsoft.com/office/drawing/2014/main" id="{B37B4F12-59EA-E0B8-6D3D-E8153EB1A079}"/>
              </a:ext>
            </a:extLst>
          </p:cNvPr>
          <p:cNvSpPr/>
          <p:nvPr/>
        </p:nvSpPr>
        <p:spPr>
          <a:xfrm>
            <a:off x="-228600" y="604014"/>
            <a:ext cx="707571" cy="304801"/>
          </a:xfrm>
          <a:prstGeom prst="round2DiagRect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4139" y="3067050"/>
            <a:ext cx="1176337" cy="11430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10300" y="2840010"/>
            <a:ext cx="428625" cy="36195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10300" y="825472"/>
            <a:ext cx="552450" cy="101917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451336" y="3901423"/>
            <a:ext cx="1624012" cy="22860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834062" y="2209800"/>
            <a:ext cx="1204912" cy="40005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383013" y="-1924050"/>
            <a:ext cx="952815" cy="146199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-561972" y="460319"/>
            <a:ext cx="7200897" cy="65979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0955">
              <a:lnSpc>
                <a:spcPct val="100000"/>
              </a:lnSpc>
              <a:spcBef>
                <a:spcPts val="105"/>
              </a:spcBef>
            </a:pPr>
            <a:r>
              <a:rPr sz="4200" b="1" spc="-20" dirty="0"/>
              <a:t>TECHNOLOGIES</a:t>
            </a:r>
            <a:endParaRPr sz="4200" b="1" dirty="0"/>
          </a:p>
        </p:txBody>
      </p:sp>
      <p:sp>
        <p:nvSpPr>
          <p:cNvPr id="13" name="object 13"/>
          <p:cNvSpPr txBox="1"/>
          <p:nvPr/>
        </p:nvSpPr>
        <p:spPr>
          <a:xfrm>
            <a:off x="998069" y="1570307"/>
            <a:ext cx="3192931" cy="1258550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9050" marR="5080" indent="-6985">
              <a:lnSpc>
                <a:spcPct val="98500"/>
              </a:lnSpc>
              <a:spcBef>
                <a:spcPts val="310"/>
              </a:spcBef>
            </a:pPr>
            <a:r>
              <a:rPr sz="2000" spc="-10" dirty="0">
                <a:latin typeface="Arial MT"/>
                <a:ea typeface="Calibri" panose="020F0502020204030204" pitchFamily="34" charset="0"/>
                <a:cs typeface="Calibri" panose="020F0502020204030204" pitchFamily="34" charset="0"/>
              </a:rPr>
              <a:t>KUBERHETES</a:t>
            </a:r>
            <a:r>
              <a:rPr sz="2000" spc="85" dirty="0">
                <a:latin typeface="Arial M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spc="-10" dirty="0">
                <a:latin typeface="Arial MT"/>
                <a:ea typeface="Calibri" panose="020F0502020204030204" pitchFamily="34" charset="0"/>
                <a:cs typeface="Calibri" panose="020F0502020204030204" pitchFamily="34" charset="0"/>
              </a:rPr>
              <a:t>CLUSTER </a:t>
            </a:r>
            <a:r>
              <a:rPr sz="2000" spc="145" dirty="0">
                <a:latin typeface="Arial MT"/>
                <a:ea typeface="Calibri" panose="020F0502020204030204" pitchFamily="34" charset="0"/>
                <a:cs typeface="Calibri" panose="020F0502020204030204" pitchFamily="34" charset="0"/>
              </a:rPr>
              <a:t>CONTAINER </a:t>
            </a:r>
            <a:r>
              <a:rPr sz="2000" spc="180" dirty="0">
                <a:solidFill>
                  <a:srgbClr val="0C0C0C"/>
                </a:solidFill>
                <a:latin typeface="Arial MT"/>
                <a:ea typeface="Calibri" panose="020F0502020204030204" pitchFamily="34" charset="0"/>
                <a:cs typeface="Calibri" panose="020F0502020204030204" pitchFamily="34" charset="0"/>
              </a:rPr>
              <a:t>ORCHESTRATION </a:t>
            </a:r>
            <a:r>
              <a:rPr sz="2000" spc="260" dirty="0">
                <a:solidFill>
                  <a:srgbClr val="181818"/>
                </a:solidFill>
                <a:latin typeface="Arial MT"/>
                <a:ea typeface="Calibri" panose="020F0502020204030204" pitchFamily="34" charset="0"/>
                <a:cs typeface="Calibri" panose="020F0502020204030204" pitchFamily="34" charset="0"/>
              </a:rPr>
              <a:t>TOOL</a:t>
            </a:r>
            <a:endParaRPr sz="2000" dirty="0">
              <a:latin typeface="Arial M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59954" y="4360011"/>
            <a:ext cx="1928495" cy="4857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000" spc="65" dirty="0" err="1">
                <a:solidFill>
                  <a:srgbClr val="3F69E4"/>
                </a:solidFill>
                <a:latin typeface="Calibri"/>
                <a:cs typeface="Calibri"/>
              </a:rPr>
              <a:t>kuberne</a:t>
            </a:r>
            <a:r>
              <a:rPr lang="en-IN" sz="3000" spc="65" dirty="0">
                <a:solidFill>
                  <a:srgbClr val="3F69E4"/>
                </a:solidFill>
                <a:latin typeface="Calibri"/>
                <a:cs typeface="Calibri"/>
              </a:rPr>
              <a:t>t</a:t>
            </a:r>
            <a:r>
              <a:rPr sz="3000" spc="65" dirty="0">
                <a:solidFill>
                  <a:srgbClr val="3F69E4"/>
                </a:solidFill>
                <a:latin typeface="Calibri"/>
                <a:cs typeface="Calibri"/>
              </a:rPr>
              <a:t>es</a:t>
            </a:r>
            <a:endParaRPr sz="3000" dirty="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451336" y="4318028"/>
            <a:ext cx="2632710" cy="6388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2365"/>
              </a:lnSpc>
              <a:spcBef>
                <a:spcPts val="125"/>
              </a:spcBef>
            </a:pPr>
            <a:r>
              <a:rPr sz="2050" spc="-10" dirty="0">
                <a:solidFill>
                  <a:srgbClr val="111111"/>
                </a:solidFill>
                <a:latin typeface="Arial MT"/>
                <a:cs typeface="Arial MT"/>
              </a:rPr>
              <a:t>VPROFILE</a:t>
            </a:r>
            <a:endParaRPr sz="2050" dirty="0">
              <a:latin typeface="Arial MT"/>
              <a:cs typeface="Arial MT"/>
            </a:endParaRPr>
          </a:p>
          <a:p>
            <a:pPr marL="13970">
              <a:lnSpc>
                <a:spcPts val="2430"/>
              </a:lnSpc>
            </a:pPr>
            <a:r>
              <a:rPr sz="2100" spc="120" dirty="0">
                <a:solidFill>
                  <a:srgbClr val="0A0A0A"/>
                </a:solidFill>
                <a:latin typeface="Arial MT"/>
                <a:cs typeface="Arial MT"/>
              </a:rPr>
              <a:t>Applicatio</a:t>
            </a:r>
            <a:r>
              <a:rPr sz="3150" spc="179" baseline="1322" dirty="0">
                <a:solidFill>
                  <a:srgbClr val="0A0A0A"/>
                </a:solidFill>
                <a:latin typeface="Arial MT"/>
                <a:cs typeface="Arial MT"/>
              </a:rPr>
              <a:t>n</a:t>
            </a:r>
            <a:r>
              <a:rPr sz="3150" spc="7" baseline="1322" dirty="0">
                <a:solidFill>
                  <a:srgbClr val="0A0A0A"/>
                </a:solidFill>
                <a:latin typeface="Arial MT"/>
                <a:cs typeface="Arial MT"/>
              </a:rPr>
              <a:t> </a:t>
            </a:r>
            <a:r>
              <a:rPr sz="2100" spc="-10" dirty="0">
                <a:solidFill>
                  <a:srgbClr val="111111"/>
                </a:solidFill>
                <a:latin typeface="Arial MT"/>
                <a:cs typeface="Arial MT"/>
              </a:rPr>
              <a:t>Services</a:t>
            </a:r>
            <a:endParaRPr sz="2100" dirty="0">
              <a:latin typeface="Arial MT"/>
              <a:cs typeface="Arial MT"/>
            </a:endParaRPr>
          </a:p>
        </p:txBody>
      </p:sp>
      <p:pic>
        <p:nvPicPr>
          <p:cNvPr id="16" name="object 10">
            <a:extLst>
              <a:ext uri="{FF2B5EF4-FFF2-40B4-BE49-F238E27FC236}">
                <a16:creationId xmlns:a16="http://schemas.microsoft.com/office/drawing/2014/main" id="{40419495-B59D-7342-02BB-50572F3CBA0D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979271" y="756415"/>
            <a:ext cx="209550" cy="115728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B98383C-FF74-44E3-ACA5-6607751792B8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r="9614"/>
          <a:stretch>
            <a:fillRect/>
          </a:stretch>
        </p:blipFill>
        <p:spPr>
          <a:xfrm>
            <a:off x="7618854" y="2090671"/>
            <a:ext cx="952815" cy="749339"/>
          </a:xfrm>
          <a:prstGeom prst="rect">
            <a:avLst/>
          </a:prstGeom>
        </p:spPr>
      </p:pic>
      <p:sp>
        <p:nvSpPr>
          <p:cNvPr id="20" name="Rectangle: Diagonal Corners Rounded 19">
            <a:extLst>
              <a:ext uri="{FF2B5EF4-FFF2-40B4-BE49-F238E27FC236}">
                <a16:creationId xmlns:a16="http://schemas.microsoft.com/office/drawing/2014/main" id="{79F7F42D-1A6D-9C75-515D-4935508FC7BC}"/>
              </a:ext>
            </a:extLst>
          </p:cNvPr>
          <p:cNvSpPr/>
          <p:nvPr/>
        </p:nvSpPr>
        <p:spPr>
          <a:xfrm>
            <a:off x="-228600" y="604014"/>
            <a:ext cx="707571" cy="304801"/>
          </a:xfrm>
          <a:prstGeom prst="round2DiagRect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2177" y="819150"/>
            <a:ext cx="7200897" cy="880882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 indent="38100">
              <a:lnSpc>
                <a:spcPct val="140700"/>
              </a:lnSpc>
              <a:spcBef>
                <a:spcPts val="50"/>
              </a:spcBef>
              <a:tabLst>
                <a:tab pos="940435" algn="l"/>
                <a:tab pos="3479165" algn="l"/>
              </a:tabLst>
            </a:pPr>
            <a:r>
              <a:rPr lang="en-IN" sz="2050" b="1" dirty="0">
                <a:solidFill>
                  <a:srgbClr val="181818"/>
                </a:solidFill>
              </a:rPr>
              <a:t> </a:t>
            </a:r>
            <a:r>
              <a:rPr lang="en-IN" sz="4400" b="1" dirty="0">
                <a:solidFill>
                  <a:srgbClr val="181818"/>
                </a:solidFill>
              </a:rPr>
              <a:t>STEPS</a:t>
            </a:r>
            <a:endParaRPr sz="2100" b="1" dirty="0"/>
          </a:p>
        </p:txBody>
      </p:sp>
      <p:sp>
        <p:nvSpPr>
          <p:cNvPr id="3" name="object 3"/>
          <p:cNvSpPr txBox="1"/>
          <p:nvPr/>
        </p:nvSpPr>
        <p:spPr>
          <a:xfrm>
            <a:off x="1295400" y="4197971"/>
            <a:ext cx="4084954" cy="3498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IN" sz="3150" spc="457" baseline="1322" dirty="0">
                <a:latin typeface="Calibri"/>
                <a:cs typeface="Calibri"/>
              </a:rPr>
              <a:t> </a:t>
            </a:r>
            <a:endParaRPr sz="3150" baseline="1322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23074" y="4547856"/>
            <a:ext cx="943610" cy="2597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00" spc="60" dirty="0">
                <a:solidFill>
                  <a:srgbClr val="3A2B9C"/>
                </a:solidFill>
                <a:latin typeface="Calibri"/>
                <a:cs typeface="Calibri"/>
              </a:rPr>
              <a:t>Visualpath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CB4B05D8-FEF6-8121-29C9-ECA859AED865}"/>
              </a:ext>
            </a:extLst>
          </p:cNvPr>
          <p:cNvSpPr txBox="1">
            <a:spLocks/>
          </p:cNvSpPr>
          <p:nvPr/>
        </p:nvSpPr>
        <p:spPr>
          <a:xfrm>
            <a:off x="1165787" y="2039875"/>
            <a:ext cx="7200897" cy="2637838"/>
          </a:xfrm>
          <a:prstGeom prst="rect">
            <a:avLst/>
          </a:prstGeom>
          <a:effectLst/>
        </p:spPr>
        <p:txBody>
          <a:bodyPr vert="horz" wrap="square" lIns="0" tIns="6350" rIns="0" bIns="0" rtlCol="0" anchor="ctr">
            <a:sp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355600" marR="5080" indent="-342900" algn="l">
              <a:lnSpc>
                <a:spcPct val="140700"/>
              </a:lnSpc>
              <a:spcBef>
                <a:spcPts val="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>
                <a:tab pos="940435" algn="l"/>
                <a:tab pos="3479165" algn="l"/>
              </a:tabLst>
            </a:pPr>
            <a:r>
              <a:rPr lang="en-IN" sz="2000" dirty="0">
                <a:solidFill>
                  <a:srgbClr val="181818"/>
                </a:solidFill>
                <a:latin typeface="+mn-lt"/>
              </a:rPr>
              <a:t>Ku</a:t>
            </a:r>
            <a:r>
              <a:rPr lang="en-IN" sz="2000" spc="180" dirty="0">
                <a:latin typeface="+mn-lt"/>
              </a:rPr>
              <a:t>bernetes</a:t>
            </a:r>
            <a:r>
              <a:rPr lang="en-IN" sz="2000" spc="160" dirty="0">
                <a:latin typeface="+mn-lt"/>
              </a:rPr>
              <a:t> </a:t>
            </a:r>
            <a:r>
              <a:rPr lang="en-IN" sz="2000" spc="145" dirty="0">
                <a:solidFill>
                  <a:srgbClr val="494949"/>
                </a:solidFill>
                <a:latin typeface="+mn-lt"/>
              </a:rPr>
              <a:t>cl</a:t>
            </a:r>
            <a:r>
              <a:rPr lang="en-IN" sz="2000" spc="145" dirty="0">
                <a:solidFill>
                  <a:srgbClr val="0C0C0C"/>
                </a:solidFill>
                <a:latin typeface="+mn-lt"/>
              </a:rPr>
              <a:t>uster </a:t>
            </a:r>
          </a:p>
          <a:p>
            <a:pPr marL="355600" marR="5080" indent="-342900" algn="l">
              <a:lnSpc>
                <a:spcPct val="140700"/>
              </a:lnSpc>
              <a:spcBef>
                <a:spcPts val="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>
                <a:tab pos="940435" algn="l"/>
                <a:tab pos="3479165" algn="l"/>
              </a:tabLst>
            </a:pPr>
            <a:r>
              <a:rPr lang="en-IN" sz="2000" spc="140" dirty="0"/>
              <a:t>Containerized</a:t>
            </a:r>
            <a:r>
              <a:rPr lang="en-IN" sz="2000" spc="260" dirty="0"/>
              <a:t> </a:t>
            </a:r>
            <a:r>
              <a:rPr lang="en-IN" sz="2000" spc="190" dirty="0">
                <a:solidFill>
                  <a:srgbClr val="111111"/>
                </a:solidFill>
              </a:rPr>
              <a:t>apps</a:t>
            </a:r>
            <a:r>
              <a:rPr lang="en-IN" sz="2000" spc="195" dirty="0">
                <a:solidFill>
                  <a:srgbClr val="111111"/>
                </a:solidFill>
              </a:rPr>
              <a:t> </a:t>
            </a:r>
            <a:r>
              <a:rPr lang="en-IN" sz="2000" spc="65" dirty="0"/>
              <a:t>(</a:t>
            </a:r>
            <a:r>
              <a:rPr lang="en-IN" sz="2000" spc="65" dirty="0" err="1"/>
              <a:t>vprofile</a:t>
            </a:r>
            <a:r>
              <a:rPr lang="en-IN" sz="2000" spc="65" dirty="0"/>
              <a:t>) </a:t>
            </a:r>
          </a:p>
          <a:p>
            <a:pPr marL="355600" marR="5080" indent="-342900" algn="l">
              <a:lnSpc>
                <a:spcPct val="140700"/>
              </a:lnSpc>
              <a:spcBef>
                <a:spcPts val="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>
                <a:tab pos="940435" algn="l"/>
                <a:tab pos="3479165" algn="l"/>
              </a:tabLst>
            </a:pPr>
            <a:r>
              <a:rPr lang="en-IN" sz="2000" spc="65" dirty="0"/>
              <a:t>Create EBS volume for DB Pod</a:t>
            </a:r>
          </a:p>
          <a:p>
            <a:pPr marL="355600" marR="5080" indent="-342900" algn="l">
              <a:lnSpc>
                <a:spcPct val="140700"/>
              </a:lnSpc>
              <a:spcBef>
                <a:spcPts val="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>
                <a:tab pos="940435" algn="l"/>
                <a:tab pos="3479165" algn="l"/>
              </a:tabLst>
            </a:pPr>
            <a:r>
              <a:rPr lang="en-IN" sz="2000" spc="65" dirty="0"/>
              <a:t>LABEL Node with zones names</a:t>
            </a:r>
          </a:p>
          <a:p>
            <a:pPr marL="355600" marR="5080" indent="-342900" algn="l">
              <a:lnSpc>
                <a:spcPct val="140700"/>
              </a:lnSpc>
              <a:spcBef>
                <a:spcPts val="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>
                <a:tab pos="940435" algn="l"/>
                <a:tab pos="3479165" algn="l"/>
              </a:tabLst>
            </a:pPr>
            <a:endParaRPr lang="en-IN" sz="2000" spc="65" dirty="0"/>
          </a:p>
          <a:p>
            <a:pPr marL="355600" marR="5080" indent="-342900" algn="l">
              <a:lnSpc>
                <a:spcPct val="140700"/>
              </a:lnSpc>
              <a:spcBef>
                <a:spcPts val="5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>
                <a:tab pos="940435" algn="l"/>
                <a:tab pos="3479165" algn="l"/>
              </a:tabLst>
            </a:pPr>
            <a:endParaRPr lang="en-IN" sz="2000" dirty="0">
              <a:latin typeface="+mn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6DF6C73-923A-CBCF-1929-EE147E2321C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8600" y="402635"/>
            <a:ext cx="928006" cy="92800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7F98A4-25B0-FB98-46EB-1FEB1D2D3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6A5121B-E72A-701C-3236-888B7C0EE6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2177" y="819150"/>
            <a:ext cx="7200897" cy="880882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 indent="38100">
              <a:lnSpc>
                <a:spcPct val="140700"/>
              </a:lnSpc>
              <a:spcBef>
                <a:spcPts val="50"/>
              </a:spcBef>
              <a:tabLst>
                <a:tab pos="940435" algn="l"/>
                <a:tab pos="3479165" algn="l"/>
              </a:tabLst>
            </a:pPr>
            <a:r>
              <a:rPr lang="en-IN" sz="2050" b="1" dirty="0">
                <a:solidFill>
                  <a:srgbClr val="181818"/>
                </a:solidFill>
              </a:rPr>
              <a:t> </a:t>
            </a:r>
            <a:r>
              <a:rPr lang="en-IN" sz="4400" b="1" dirty="0">
                <a:solidFill>
                  <a:srgbClr val="181818"/>
                </a:solidFill>
              </a:rPr>
              <a:t>STEPS</a:t>
            </a:r>
            <a:endParaRPr sz="2100" b="1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CFA65119-955D-A6B0-2003-83863119167A}"/>
              </a:ext>
            </a:extLst>
          </p:cNvPr>
          <p:cNvSpPr txBox="1"/>
          <p:nvPr/>
        </p:nvSpPr>
        <p:spPr>
          <a:xfrm>
            <a:off x="1295400" y="4197971"/>
            <a:ext cx="4084954" cy="3498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IN" sz="3150" spc="457" baseline="1322" dirty="0">
                <a:latin typeface="Calibri"/>
                <a:cs typeface="Calibri"/>
              </a:rPr>
              <a:t> </a:t>
            </a:r>
            <a:endParaRPr sz="3150" baseline="1322" dirty="0">
              <a:latin typeface="Calibri"/>
              <a:cs typeface="Calibri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3AD950B3-F80C-C7DB-30D5-0B761557FF88}"/>
              </a:ext>
            </a:extLst>
          </p:cNvPr>
          <p:cNvSpPr txBox="1"/>
          <p:nvPr/>
        </p:nvSpPr>
        <p:spPr>
          <a:xfrm>
            <a:off x="7423074" y="4547856"/>
            <a:ext cx="943610" cy="2597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00" spc="60" dirty="0">
                <a:solidFill>
                  <a:srgbClr val="3A2B9C"/>
                </a:solidFill>
                <a:latin typeface="Calibri"/>
                <a:cs typeface="Calibri"/>
              </a:rPr>
              <a:t>Visualpath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009AC9E7-0E8D-714C-309F-65D9943F03D8}"/>
              </a:ext>
            </a:extLst>
          </p:cNvPr>
          <p:cNvSpPr txBox="1">
            <a:spLocks/>
          </p:cNvSpPr>
          <p:nvPr/>
        </p:nvSpPr>
        <p:spPr>
          <a:xfrm>
            <a:off x="1179394" y="1678933"/>
            <a:ext cx="7200897" cy="1731436"/>
          </a:xfrm>
          <a:prstGeom prst="rect">
            <a:avLst/>
          </a:prstGeom>
          <a:effectLst/>
        </p:spPr>
        <p:txBody>
          <a:bodyPr vert="horz" wrap="square" lIns="0" tIns="6350" rIns="0" bIns="0" rtlCol="0" anchor="ctr">
            <a:sp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355600" marR="5080" indent="-342900" algn="l">
              <a:lnSpc>
                <a:spcPct val="140700"/>
              </a:lnSpc>
              <a:spcBef>
                <a:spcPts val="50"/>
              </a:spcBef>
              <a:buClr>
                <a:schemeClr val="accent1"/>
              </a:buClr>
              <a:buFont typeface="Wingdings" panose="05000000000000000000" pitchFamily="2" charset="2"/>
              <a:buChar char="Ø"/>
              <a:tabLst>
                <a:tab pos="940435" algn="l"/>
                <a:tab pos="3479165" algn="l"/>
              </a:tabLst>
            </a:pPr>
            <a:endParaRPr lang="en-IN" sz="2000" spc="65" dirty="0"/>
          </a:p>
          <a:p>
            <a:pPr marL="355600" marR="5080" indent="-342900" algn="l">
              <a:lnSpc>
                <a:spcPct val="140700"/>
              </a:lnSpc>
              <a:spcBef>
                <a:spcPts val="50"/>
              </a:spcBef>
              <a:buClr>
                <a:schemeClr val="accent1"/>
              </a:buClr>
              <a:buFont typeface="Wingdings" panose="05000000000000000000" pitchFamily="2" charset="2"/>
              <a:buChar char="Ø"/>
              <a:tabLst>
                <a:tab pos="940435" algn="l"/>
                <a:tab pos="3479165" algn="l"/>
              </a:tabLst>
            </a:pPr>
            <a:r>
              <a:rPr lang="en-IN" sz="2000" spc="65" dirty="0"/>
              <a:t> </a:t>
            </a:r>
            <a:br>
              <a:rPr lang="en-IN" sz="2000" spc="65" dirty="0"/>
            </a:br>
            <a:endParaRPr lang="en-IN" sz="2000" spc="65" dirty="0"/>
          </a:p>
          <a:p>
            <a:pPr marL="355600" marR="5080" indent="-342900" algn="l">
              <a:lnSpc>
                <a:spcPct val="140700"/>
              </a:lnSpc>
              <a:spcBef>
                <a:spcPts val="50"/>
              </a:spcBef>
              <a:buClr>
                <a:schemeClr val="accent1"/>
              </a:buClr>
              <a:buFont typeface="Wingdings" panose="05000000000000000000" pitchFamily="2" charset="2"/>
              <a:buChar char="Ø"/>
              <a:tabLst>
                <a:tab pos="940435" algn="l"/>
                <a:tab pos="3479165" algn="l"/>
              </a:tabLst>
            </a:pPr>
            <a:endParaRPr lang="en-IN" sz="2000" dirty="0">
              <a:latin typeface="+mn-lt"/>
            </a:endParaRP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74448474-9513-7A97-880F-0CDF364AA8CD}"/>
              </a:ext>
            </a:extLst>
          </p:cNvPr>
          <p:cNvSpPr txBox="1"/>
          <p:nvPr/>
        </p:nvSpPr>
        <p:spPr>
          <a:xfrm>
            <a:off x="1446117" y="2153838"/>
            <a:ext cx="2773045" cy="3498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150" spc="165" baseline="1322" dirty="0">
                <a:solidFill>
                  <a:srgbClr val="111111"/>
                </a:solidFill>
                <a:cs typeface="Arial MT"/>
              </a:rPr>
              <a:t>Ku</a:t>
            </a:r>
            <a:r>
              <a:rPr sz="2100" spc="110" dirty="0">
                <a:cs typeface="Arial MT"/>
              </a:rPr>
              <a:t>ber</a:t>
            </a:r>
            <a:r>
              <a:rPr sz="3150" spc="165" baseline="1322" dirty="0">
                <a:cs typeface="Arial MT"/>
              </a:rPr>
              <a:t>n</a:t>
            </a:r>
            <a:r>
              <a:rPr sz="2100" spc="110" dirty="0">
                <a:cs typeface="Arial MT"/>
              </a:rPr>
              <a:t>ete</a:t>
            </a:r>
            <a:r>
              <a:rPr sz="3150" spc="165" baseline="1322" dirty="0">
                <a:cs typeface="Arial MT"/>
              </a:rPr>
              <a:t>s</a:t>
            </a:r>
            <a:r>
              <a:rPr sz="3150" spc="-157" baseline="1322" dirty="0">
                <a:cs typeface="Arial MT"/>
              </a:rPr>
              <a:t> </a:t>
            </a:r>
            <a:r>
              <a:rPr sz="3150" spc="-15" baseline="1322" dirty="0">
                <a:cs typeface="Arial MT"/>
              </a:rPr>
              <a:t>D</a:t>
            </a:r>
            <a:r>
              <a:rPr sz="2100" spc="-10" dirty="0">
                <a:cs typeface="Arial MT"/>
              </a:rPr>
              <a:t>ef</a:t>
            </a:r>
            <a:r>
              <a:rPr sz="3150" spc="-15" baseline="1322" dirty="0">
                <a:cs typeface="Arial MT"/>
              </a:rPr>
              <a:t>inition</a:t>
            </a:r>
            <a:endParaRPr sz="3150" baseline="1322" dirty="0">
              <a:cs typeface="Arial MT"/>
            </a:endParaRP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B9BEAA98-4D9F-0CA2-791D-80969C11C181}"/>
              </a:ext>
            </a:extLst>
          </p:cNvPr>
          <p:cNvSpPr txBox="1">
            <a:spLocks/>
          </p:cNvSpPr>
          <p:nvPr/>
        </p:nvSpPr>
        <p:spPr>
          <a:xfrm>
            <a:off x="4010588" y="2141285"/>
            <a:ext cx="950594" cy="349885"/>
          </a:xfrm>
          <a:prstGeom prst="rect">
            <a:avLst/>
          </a:prstGeom>
          <a:effectLst/>
        </p:spPr>
        <p:txBody>
          <a:bodyPr vert="horz" wrap="square" lIns="0" tIns="15875" rIns="0" bIns="0" rtlCol="0" anchor="ctr">
            <a:sp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12700">
              <a:spcBef>
                <a:spcPts val="125"/>
              </a:spcBef>
            </a:pPr>
            <a:r>
              <a:rPr lang="en-IN" sz="2100" spc="70" dirty="0">
                <a:latin typeface="+mn-lt"/>
                <a:cs typeface="Arial MT"/>
              </a:rPr>
              <a:t>files</a:t>
            </a:r>
            <a:r>
              <a:rPr lang="en-IN" sz="2100" spc="35" dirty="0">
                <a:latin typeface="+mn-lt"/>
                <a:cs typeface="Arial MT"/>
              </a:rPr>
              <a:t> </a:t>
            </a:r>
            <a:r>
              <a:rPr lang="en-IN" sz="2100" spc="-25" dirty="0">
                <a:latin typeface="+mn-lt"/>
                <a:cs typeface="Arial MT"/>
              </a:rPr>
              <a:t>for</a:t>
            </a:r>
            <a:endParaRPr lang="en-IN" sz="2100" dirty="0">
              <a:latin typeface="+mn-lt"/>
              <a:cs typeface="Arial MT"/>
            </a:endParaRP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EE2D7D77-44D4-C67A-F5B7-6D5444D3E56F}"/>
              </a:ext>
            </a:extLst>
          </p:cNvPr>
          <p:cNvSpPr txBox="1"/>
          <p:nvPr/>
        </p:nvSpPr>
        <p:spPr>
          <a:xfrm>
            <a:off x="1550404" y="2680359"/>
            <a:ext cx="2564472" cy="1329788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358775" marR="5080" indent="-342900">
              <a:lnSpc>
                <a:spcPts val="2340"/>
              </a:lnSpc>
              <a:spcBef>
                <a:spcPts val="355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sz="2100" spc="195" dirty="0">
                <a:cs typeface="Calibri"/>
              </a:rPr>
              <a:t>Deployment</a:t>
            </a:r>
            <a:endParaRPr lang="en-IN" sz="2100" spc="195" dirty="0">
              <a:cs typeface="Calibri"/>
            </a:endParaRPr>
          </a:p>
          <a:p>
            <a:pPr marL="358775" marR="5080" indent="-342900">
              <a:lnSpc>
                <a:spcPts val="2340"/>
              </a:lnSpc>
              <a:spcBef>
                <a:spcPts val="355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sz="2100" spc="-10" dirty="0">
                <a:cs typeface="Arial MT"/>
              </a:rPr>
              <a:t>Service </a:t>
            </a:r>
            <a:endParaRPr lang="en-IN" sz="2100" spc="-10" dirty="0">
              <a:cs typeface="Arial MT"/>
            </a:endParaRPr>
          </a:p>
          <a:p>
            <a:pPr marL="358775" marR="5080" indent="-342900">
              <a:lnSpc>
                <a:spcPts val="2340"/>
              </a:lnSpc>
              <a:spcBef>
                <a:spcPts val="355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sz="2050" spc="40" dirty="0">
                <a:solidFill>
                  <a:srgbClr val="282828"/>
                </a:solidFill>
                <a:cs typeface="Arial MT"/>
              </a:rPr>
              <a:t>Secret</a:t>
            </a:r>
            <a:endParaRPr sz="2050" dirty="0">
              <a:cs typeface="Arial MT"/>
            </a:endParaRPr>
          </a:p>
          <a:p>
            <a:pPr marL="355600" indent="-342900">
              <a:lnSpc>
                <a:spcPts val="2265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sz="2100" spc="-20" dirty="0">
                <a:solidFill>
                  <a:srgbClr val="212121"/>
                </a:solidFill>
                <a:cs typeface="Arial MT"/>
              </a:rPr>
              <a:t>Vol</a:t>
            </a:r>
            <a:r>
              <a:rPr sz="2100" spc="-375" dirty="0">
                <a:solidFill>
                  <a:srgbClr val="212121"/>
                </a:solidFill>
                <a:cs typeface="Arial MT"/>
              </a:rPr>
              <a:t> </a:t>
            </a:r>
            <a:r>
              <a:rPr sz="2100" spc="-25" dirty="0">
                <a:solidFill>
                  <a:srgbClr val="0F0F0F"/>
                </a:solidFill>
                <a:cs typeface="Arial MT"/>
              </a:rPr>
              <a:t>ume</a:t>
            </a:r>
            <a:endParaRPr sz="2100" dirty="0">
              <a:cs typeface="Arial MT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AD8E914-1D39-B86A-3299-27ACA24F0AD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8600" y="402635"/>
            <a:ext cx="928006" cy="928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27123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D9B247"/>
      </a:accent1>
      <a:accent2>
        <a:srgbClr val="CC702D"/>
      </a:accent2>
      <a:accent3>
        <a:srgbClr val="B53A31"/>
      </a:accent3>
      <a:accent4>
        <a:srgbClr val="815F56"/>
      </a:accent4>
      <a:accent5>
        <a:srgbClr val="AE9E7C"/>
      </a:accent5>
      <a:accent6>
        <a:srgbClr val="7B8865"/>
      </a:accent6>
      <a:hlink>
        <a:srgbClr val="BB7826"/>
      </a:hlink>
      <a:folHlink>
        <a:srgbClr val="CF9C5F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E4E49EB0-FB00-41F5-9359-4843D783A23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TM02900743[[fn=Organic]]</Template>
  <TotalTime>1180</TotalTime>
  <Words>131</Words>
  <Application>Microsoft Office PowerPoint</Application>
  <PresentationFormat>On-screen Show (16:9)</PresentationFormat>
  <Paragraphs>50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Arial MT</vt:lpstr>
      <vt:lpstr>Berlin Sans FB Demi</vt:lpstr>
      <vt:lpstr>Calibri</vt:lpstr>
      <vt:lpstr>Garamond</vt:lpstr>
      <vt:lpstr>Wingdings</vt:lpstr>
      <vt:lpstr>Organic</vt:lpstr>
      <vt:lpstr>WEB APP ON        KUBERNETES         C             CLUSTER</vt:lpstr>
      <vt:lpstr>SCENARIO</vt:lpstr>
      <vt:lpstr>REQUIRMENT</vt:lpstr>
      <vt:lpstr>PowerPoint Presentation</vt:lpstr>
      <vt:lpstr>STATISTICS</vt:lpstr>
      <vt:lpstr>TECHNOLOGIES</vt:lpstr>
      <vt:lpstr> STEPS</vt:lpstr>
      <vt:lpstr> STEPS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AppDepK8sProjectIntorSlides</dc:title>
  <dc:creator>pc</dc:creator>
  <cp:lastModifiedBy>Fama Tasneem</cp:lastModifiedBy>
  <cp:revision>2</cp:revision>
  <dcterms:created xsi:type="dcterms:W3CDTF">2026-04-10T09:53:49Z</dcterms:created>
  <dcterms:modified xsi:type="dcterms:W3CDTF">2026-04-16T06:47:52Z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2026-04-10T00:00:00Z</vt:filetime>
  </property>
  <property fmtid="{D5CDD505-2E9C-101B-9397-08002B2CF9AE}" pid="3" name="Creator">
    <vt:lpwstr>Google</vt:lpwstr>
  </property>
  <property fmtid="{D5CDD505-2E9C-101B-9397-08002B2CF9AE}" pid="4" name="LastSaved">
    <vt:filetime>2026-04-10T00:00:00Z</vt:filetime>
  </property>
</Properties>
</file>