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99" d="100"/>
          <a:sy n="99" d="100"/>
        </p:scale>
        <p:origin x="1136" y="1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088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0"/>
            <a:ext cx="0" cy="5143500"/>
          </a:xfrm>
          <a:prstGeom prst="line">
            <a:avLst/>
          </a:prstGeom>
          <a:noFill/>
          <a:ln w="6350">
            <a:solidFill>
              <a:srgbClr val="0F2440"/>
            </a:solidFill>
            <a:prstDash val="solid"/>
          </a:ln>
        </p:spPr>
        <p:txBody>
          <a:bodyPr/>
          <a:lstStyle/>
          <a:p>
            <a:endParaRPr lang="en-US"/>
          </a:p>
        </p:txBody>
      </p:sp>
      <p:sp>
        <p:nvSpPr>
          <p:cNvPr id="3" name="Shape 1"/>
          <p:cNvSpPr/>
          <p:nvPr/>
        </p:nvSpPr>
        <p:spPr>
          <a:xfrm>
            <a:off x="1371600" y="0"/>
            <a:ext cx="0" cy="5143500"/>
          </a:xfrm>
          <a:prstGeom prst="line">
            <a:avLst/>
          </a:prstGeom>
          <a:noFill/>
          <a:ln w="6350">
            <a:solidFill>
              <a:srgbClr val="0F2440"/>
            </a:solidFill>
            <a:prstDash val="solid"/>
          </a:ln>
        </p:spPr>
        <p:txBody>
          <a:bodyPr/>
          <a:lstStyle/>
          <a:p>
            <a:endParaRPr lang="en-US"/>
          </a:p>
        </p:txBody>
      </p:sp>
      <p:sp>
        <p:nvSpPr>
          <p:cNvPr id="4" name="Shape 2"/>
          <p:cNvSpPr/>
          <p:nvPr/>
        </p:nvSpPr>
        <p:spPr>
          <a:xfrm>
            <a:off x="2286000" y="0"/>
            <a:ext cx="0" cy="5143500"/>
          </a:xfrm>
          <a:prstGeom prst="line">
            <a:avLst/>
          </a:prstGeom>
          <a:noFill/>
          <a:ln w="6350">
            <a:solidFill>
              <a:srgbClr val="0F2440"/>
            </a:solidFill>
            <a:prstDash val="solid"/>
          </a:ln>
        </p:spPr>
        <p:txBody>
          <a:bodyPr/>
          <a:lstStyle/>
          <a:p>
            <a:endParaRPr lang="en-US"/>
          </a:p>
        </p:txBody>
      </p:sp>
      <p:sp>
        <p:nvSpPr>
          <p:cNvPr id="5" name="Shape 3"/>
          <p:cNvSpPr/>
          <p:nvPr/>
        </p:nvSpPr>
        <p:spPr>
          <a:xfrm>
            <a:off x="3200400" y="0"/>
            <a:ext cx="0" cy="5143500"/>
          </a:xfrm>
          <a:prstGeom prst="line">
            <a:avLst/>
          </a:prstGeom>
          <a:noFill/>
          <a:ln w="6350">
            <a:solidFill>
              <a:srgbClr val="0F2440"/>
            </a:solidFill>
            <a:prstDash val="solid"/>
          </a:ln>
        </p:spPr>
        <p:txBody>
          <a:bodyPr/>
          <a:lstStyle/>
          <a:p>
            <a:endParaRPr lang="en-US"/>
          </a:p>
        </p:txBody>
      </p:sp>
      <p:sp>
        <p:nvSpPr>
          <p:cNvPr id="6" name="Shape 4"/>
          <p:cNvSpPr/>
          <p:nvPr/>
        </p:nvSpPr>
        <p:spPr>
          <a:xfrm>
            <a:off x="4114800" y="0"/>
            <a:ext cx="0" cy="5143500"/>
          </a:xfrm>
          <a:prstGeom prst="line">
            <a:avLst/>
          </a:prstGeom>
          <a:noFill/>
          <a:ln w="6350">
            <a:solidFill>
              <a:srgbClr val="0F2440"/>
            </a:solidFill>
            <a:prstDash val="solid"/>
          </a:ln>
        </p:spPr>
        <p:txBody>
          <a:bodyPr/>
          <a:lstStyle/>
          <a:p>
            <a:endParaRPr lang="en-US"/>
          </a:p>
        </p:txBody>
      </p:sp>
      <p:sp>
        <p:nvSpPr>
          <p:cNvPr id="7" name="Shape 5"/>
          <p:cNvSpPr/>
          <p:nvPr/>
        </p:nvSpPr>
        <p:spPr>
          <a:xfrm>
            <a:off x="5029200" y="0"/>
            <a:ext cx="0" cy="5143500"/>
          </a:xfrm>
          <a:prstGeom prst="line">
            <a:avLst/>
          </a:prstGeom>
          <a:noFill/>
          <a:ln w="6350">
            <a:solidFill>
              <a:srgbClr val="0F2440"/>
            </a:solidFill>
            <a:prstDash val="solid"/>
          </a:ln>
        </p:spPr>
        <p:txBody>
          <a:bodyPr/>
          <a:lstStyle/>
          <a:p>
            <a:endParaRPr lang="en-US"/>
          </a:p>
        </p:txBody>
      </p:sp>
      <p:sp>
        <p:nvSpPr>
          <p:cNvPr id="8" name="Shape 6"/>
          <p:cNvSpPr/>
          <p:nvPr/>
        </p:nvSpPr>
        <p:spPr>
          <a:xfrm>
            <a:off x="5943600" y="0"/>
            <a:ext cx="0" cy="5143500"/>
          </a:xfrm>
          <a:prstGeom prst="line">
            <a:avLst/>
          </a:prstGeom>
          <a:noFill/>
          <a:ln w="6350">
            <a:solidFill>
              <a:srgbClr val="0F2440"/>
            </a:solidFill>
            <a:prstDash val="solid"/>
          </a:ln>
        </p:spPr>
        <p:txBody>
          <a:bodyPr/>
          <a:lstStyle/>
          <a:p>
            <a:endParaRPr lang="en-US"/>
          </a:p>
        </p:txBody>
      </p:sp>
      <p:sp>
        <p:nvSpPr>
          <p:cNvPr id="9" name="Shape 7"/>
          <p:cNvSpPr/>
          <p:nvPr/>
        </p:nvSpPr>
        <p:spPr>
          <a:xfrm>
            <a:off x="6858000" y="0"/>
            <a:ext cx="0" cy="5143500"/>
          </a:xfrm>
          <a:prstGeom prst="line">
            <a:avLst/>
          </a:prstGeom>
          <a:noFill/>
          <a:ln w="6350">
            <a:solidFill>
              <a:srgbClr val="0F2440"/>
            </a:solidFill>
            <a:prstDash val="solid"/>
          </a:ln>
        </p:spPr>
        <p:txBody>
          <a:bodyPr/>
          <a:lstStyle/>
          <a:p>
            <a:endParaRPr lang="en-US"/>
          </a:p>
        </p:txBody>
      </p:sp>
      <p:sp>
        <p:nvSpPr>
          <p:cNvPr id="10" name="Shape 8"/>
          <p:cNvSpPr/>
          <p:nvPr/>
        </p:nvSpPr>
        <p:spPr>
          <a:xfrm>
            <a:off x="7772400" y="0"/>
            <a:ext cx="0" cy="5143500"/>
          </a:xfrm>
          <a:prstGeom prst="line">
            <a:avLst/>
          </a:prstGeom>
          <a:noFill/>
          <a:ln w="6350">
            <a:solidFill>
              <a:srgbClr val="0F2440"/>
            </a:solidFill>
            <a:prstDash val="solid"/>
          </a:ln>
        </p:spPr>
        <p:txBody>
          <a:bodyPr/>
          <a:lstStyle/>
          <a:p>
            <a:endParaRPr lang="en-US"/>
          </a:p>
        </p:txBody>
      </p:sp>
      <p:sp>
        <p:nvSpPr>
          <p:cNvPr id="11" name="Shape 9"/>
          <p:cNvSpPr/>
          <p:nvPr/>
        </p:nvSpPr>
        <p:spPr>
          <a:xfrm>
            <a:off x="8686800" y="0"/>
            <a:ext cx="0" cy="5143500"/>
          </a:xfrm>
          <a:prstGeom prst="line">
            <a:avLst/>
          </a:prstGeom>
          <a:noFill/>
          <a:ln w="6350">
            <a:solidFill>
              <a:srgbClr val="0F2440"/>
            </a:solidFill>
            <a:prstDash val="solid"/>
          </a:ln>
        </p:spPr>
        <p:txBody>
          <a:bodyPr/>
          <a:lstStyle/>
          <a:p>
            <a:endParaRPr lang="en-US"/>
          </a:p>
        </p:txBody>
      </p:sp>
      <p:sp>
        <p:nvSpPr>
          <p:cNvPr id="12" name="Shape 10"/>
          <p:cNvSpPr/>
          <p:nvPr/>
        </p:nvSpPr>
        <p:spPr>
          <a:xfrm>
            <a:off x="0" y="0"/>
            <a:ext cx="9144000" cy="0"/>
          </a:xfrm>
          <a:prstGeom prst="line">
            <a:avLst/>
          </a:prstGeom>
          <a:noFill/>
          <a:ln w="6350">
            <a:solidFill>
              <a:srgbClr val="0F2440"/>
            </a:solidFill>
            <a:prstDash val="solid"/>
          </a:ln>
        </p:spPr>
        <p:txBody>
          <a:bodyPr/>
          <a:lstStyle/>
          <a:p>
            <a:endParaRPr lang="en-US"/>
          </a:p>
        </p:txBody>
      </p:sp>
      <p:sp>
        <p:nvSpPr>
          <p:cNvPr id="13" name="Shape 11"/>
          <p:cNvSpPr/>
          <p:nvPr/>
        </p:nvSpPr>
        <p:spPr>
          <a:xfrm>
            <a:off x="0" y="914400"/>
            <a:ext cx="9144000" cy="0"/>
          </a:xfrm>
          <a:prstGeom prst="line">
            <a:avLst/>
          </a:prstGeom>
          <a:noFill/>
          <a:ln w="6350">
            <a:solidFill>
              <a:srgbClr val="0F2440"/>
            </a:solidFill>
            <a:prstDash val="solid"/>
          </a:ln>
        </p:spPr>
        <p:txBody>
          <a:bodyPr/>
          <a:lstStyle/>
          <a:p>
            <a:endParaRPr lang="en-US"/>
          </a:p>
        </p:txBody>
      </p:sp>
      <p:sp>
        <p:nvSpPr>
          <p:cNvPr id="14" name="Shape 12"/>
          <p:cNvSpPr/>
          <p:nvPr/>
        </p:nvSpPr>
        <p:spPr>
          <a:xfrm>
            <a:off x="0" y="1828800"/>
            <a:ext cx="9144000" cy="0"/>
          </a:xfrm>
          <a:prstGeom prst="line">
            <a:avLst/>
          </a:prstGeom>
          <a:noFill/>
          <a:ln w="6350">
            <a:solidFill>
              <a:srgbClr val="0F2440"/>
            </a:solidFill>
            <a:prstDash val="solid"/>
          </a:ln>
        </p:spPr>
        <p:txBody>
          <a:bodyPr/>
          <a:lstStyle/>
          <a:p>
            <a:endParaRPr lang="en-US"/>
          </a:p>
        </p:txBody>
      </p:sp>
      <p:sp>
        <p:nvSpPr>
          <p:cNvPr id="15" name="Shape 13"/>
          <p:cNvSpPr/>
          <p:nvPr/>
        </p:nvSpPr>
        <p:spPr>
          <a:xfrm>
            <a:off x="0" y="2743200"/>
            <a:ext cx="9144000" cy="0"/>
          </a:xfrm>
          <a:prstGeom prst="line">
            <a:avLst/>
          </a:prstGeom>
          <a:noFill/>
          <a:ln w="6350">
            <a:solidFill>
              <a:srgbClr val="0F2440"/>
            </a:solidFill>
            <a:prstDash val="solid"/>
          </a:ln>
        </p:spPr>
        <p:txBody>
          <a:bodyPr/>
          <a:lstStyle/>
          <a:p>
            <a:endParaRPr lang="en-US"/>
          </a:p>
        </p:txBody>
      </p:sp>
      <p:sp>
        <p:nvSpPr>
          <p:cNvPr id="16" name="Shape 14"/>
          <p:cNvSpPr/>
          <p:nvPr/>
        </p:nvSpPr>
        <p:spPr>
          <a:xfrm>
            <a:off x="0" y="3657600"/>
            <a:ext cx="9144000" cy="0"/>
          </a:xfrm>
          <a:prstGeom prst="line">
            <a:avLst/>
          </a:prstGeom>
          <a:noFill/>
          <a:ln w="6350">
            <a:solidFill>
              <a:srgbClr val="0F2440"/>
            </a:solidFill>
            <a:prstDash val="solid"/>
          </a:ln>
        </p:spPr>
        <p:txBody>
          <a:bodyPr/>
          <a:lstStyle/>
          <a:p>
            <a:endParaRPr lang="en-US"/>
          </a:p>
        </p:txBody>
      </p:sp>
      <p:sp>
        <p:nvSpPr>
          <p:cNvPr id="17" name="Shape 15"/>
          <p:cNvSpPr/>
          <p:nvPr/>
        </p:nvSpPr>
        <p:spPr>
          <a:xfrm>
            <a:off x="0" y="4572000"/>
            <a:ext cx="9144000" cy="0"/>
          </a:xfrm>
          <a:prstGeom prst="line">
            <a:avLst/>
          </a:prstGeom>
          <a:noFill/>
          <a:ln w="6350">
            <a:solidFill>
              <a:srgbClr val="0F2440"/>
            </a:solidFill>
            <a:prstDash val="solid"/>
          </a:ln>
        </p:spPr>
        <p:txBody>
          <a:bodyPr/>
          <a:lstStyle/>
          <a:p>
            <a:endParaRPr lang="en-US"/>
          </a:p>
        </p:txBody>
      </p:sp>
      <p:sp>
        <p:nvSpPr>
          <p:cNvPr id="18" name="Shape 16"/>
          <p:cNvSpPr/>
          <p:nvPr/>
        </p:nvSpPr>
        <p:spPr>
          <a:xfrm>
            <a:off x="0" y="1280160"/>
            <a:ext cx="9144000" cy="2560320"/>
          </a:xfrm>
          <a:prstGeom prst="rect">
            <a:avLst/>
          </a:prstGeom>
          <a:solidFill>
            <a:srgbClr val="0D1E35">
              <a:alpha val="60000"/>
            </a:srgbClr>
          </a:solidFill>
          <a:ln/>
        </p:spPr>
        <p:txBody>
          <a:bodyPr/>
          <a:lstStyle/>
          <a:p>
            <a:endParaRPr lang="en-US"/>
          </a:p>
        </p:txBody>
      </p:sp>
      <p:pic>
        <p:nvPicPr>
          <p:cNvPr id="19" name="Image 0" descr="preencoded.png"/>
          <p:cNvPicPr>
            <a:picLocks noChangeAspect="1"/>
          </p:cNvPicPr>
          <p:nvPr/>
        </p:nvPicPr>
        <p:blipFill>
          <a:blip r:embed="rId3"/>
          <a:stretch>
            <a:fillRect/>
          </a:stretch>
        </p:blipFill>
        <p:spPr>
          <a:xfrm>
            <a:off x="548640" y="1554480"/>
            <a:ext cx="640080" cy="640080"/>
          </a:xfrm>
          <a:prstGeom prst="rect">
            <a:avLst/>
          </a:prstGeom>
        </p:spPr>
      </p:pic>
      <p:sp>
        <p:nvSpPr>
          <p:cNvPr id="20" name="Text 17"/>
          <p:cNvSpPr/>
          <p:nvPr/>
        </p:nvSpPr>
        <p:spPr>
          <a:xfrm>
            <a:off x="1371600" y="1417320"/>
            <a:ext cx="6858000" cy="914400"/>
          </a:xfrm>
          <a:prstGeom prst="rect">
            <a:avLst/>
          </a:prstGeom>
          <a:noFill/>
          <a:ln/>
        </p:spPr>
        <p:txBody>
          <a:bodyPr wrap="square" lIns="0" tIns="0" rIns="0" bIns="0"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AWS EC2</a:t>
            </a:r>
            <a:endParaRPr lang="en-US" sz="4400" dirty="0"/>
          </a:p>
        </p:txBody>
      </p:sp>
      <p:sp>
        <p:nvSpPr>
          <p:cNvPr id="21" name="Text 18"/>
          <p:cNvSpPr/>
          <p:nvPr/>
        </p:nvSpPr>
        <p:spPr>
          <a:xfrm>
            <a:off x="1371600" y="2240280"/>
            <a:ext cx="6858000" cy="457200"/>
          </a:xfrm>
          <a:prstGeom prst="rect">
            <a:avLst/>
          </a:prstGeom>
          <a:noFill/>
          <a:ln/>
        </p:spPr>
        <p:txBody>
          <a:bodyPr wrap="square" lIns="0" tIns="0" rIns="0" bIns="0" rtlCol="0" anchor="ctr"/>
          <a:lstStyle/>
          <a:p>
            <a:pPr marL="0" indent="0">
              <a:buNone/>
            </a:pPr>
            <a:r>
              <a:rPr lang="en-US" sz="2200" dirty="0">
                <a:solidFill>
                  <a:srgbClr val="00D4FF"/>
                </a:solidFill>
                <a:latin typeface="Calibri" pitchFamily="34" charset="0"/>
                <a:ea typeface="Calibri" pitchFamily="34" charset="-122"/>
                <a:cs typeface="Calibri" pitchFamily="34" charset="-120"/>
              </a:rPr>
              <a:t>Deep Dive &amp; Hands-On Lab</a:t>
            </a:r>
            <a:endParaRPr lang="en-US" sz="2200" dirty="0"/>
          </a:p>
        </p:txBody>
      </p:sp>
      <p:sp>
        <p:nvSpPr>
          <p:cNvPr id="22" name="Text 19"/>
          <p:cNvSpPr/>
          <p:nvPr/>
        </p:nvSpPr>
        <p:spPr>
          <a:xfrm>
            <a:off x="1371600" y="2834640"/>
            <a:ext cx="6858000" cy="365760"/>
          </a:xfrm>
          <a:prstGeom prst="rect">
            <a:avLst/>
          </a:prstGeom>
          <a:noFill/>
          <a:ln/>
        </p:spPr>
        <p:txBody>
          <a:bodyPr wrap="square" lIns="0" tIns="0" rIns="0" bIns="0" rtlCol="0" anchor="ctr"/>
          <a:lstStyle/>
          <a:p>
            <a:pPr marL="0" indent="0">
              <a:buNone/>
            </a:pPr>
            <a:r>
              <a:rPr lang="en-US" sz="1200" dirty="0">
                <a:solidFill>
                  <a:srgbClr val="6B8AB5"/>
                </a:solidFill>
                <a:latin typeface="Consolas" pitchFamily="34" charset="0"/>
                <a:ea typeface="Consolas" pitchFamily="34" charset="-122"/>
                <a:cs typeface="Consolas" pitchFamily="34" charset="-120"/>
              </a:rPr>
              <a:t>Instances  |  Storage  |  Networking  |  Cost Optimization</a:t>
            </a:r>
            <a:endParaRPr lang="en-US" sz="1200" dirty="0"/>
          </a:p>
        </p:txBody>
      </p:sp>
      <p:sp>
        <p:nvSpPr>
          <p:cNvPr id="23" name="Text 20"/>
          <p:cNvSpPr/>
          <p:nvPr/>
        </p:nvSpPr>
        <p:spPr>
          <a:xfrm>
            <a:off x="1371600" y="3291840"/>
            <a:ext cx="6858000" cy="320040"/>
          </a:xfrm>
          <a:prstGeom prst="rect">
            <a:avLst/>
          </a:prstGeom>
          <a:noFill/>
          <a:ln/>
        </p:spPr>
        <p:txBody>
          <a:bodyPr wrap="square" lIns="0" tIns="0" rIns="0" bIns="0" rtlCol="0" anchor="ctr"/>
          <a:lstStyle/>
          <a:p>
            <a:pPr marL="0" indent="0">
              <a:buNone/>
            </a:pPr>
            <a:r>
              <a:rPr lang="en-US" sz="1100" i="1" dirty="0">
                <a:solidFill>
                  <a:srgbClr val="B0C4DE"/>
                </a:solidFill>
                <a:latin typeface="Calibri" pitchFamily="34" charset="0"/>
                <a:ea typeface="Calibri" pitchFamily="34" charset="-122"/>
                <a:cs typeface="Calibri" pitchFamily="34" charset="-120"/>
              </a:rPr>
              <a:t>Beginner-Friendly Training with Architecture Diagrams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OVERVIEW</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What We Will Cover</a:t>
            </a:r>
            <a:endParaRPr lang="en-US" sz="2800" dirty="0"/>
          </a:p>
        </p:txBody>
      </p:sp>
      <p:sp>
        <p:nvSpPr>
          <p:cNvPr id="4" name="Shape 2"/>
          <p:cNvSpPr/>
          <p:nvPr/>
        </p:nvSpPr>
        <p:spPr>
          <a:xfrm>
            <a:off x="548640" y="1234440"/>
            <a:ext cx="3840480" cy="1051560"/>
          </a:xfrm>
          <a:prstGeom prst="roundRect">
            <a:avLst>
              <a:gd name="adj" fmla="val 8696"/>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685800" y="1371600"/>
            <a:ext cx="320040" cy="320040"/>
          </a:xfrm>
          <a:prstGeom prst="rect">
            <a:avLst/>
          </a:prstGeom>
        </p:spPr>
      </p:pic>
      <p:sp>
        <p:nvSpPr>
          <p:cNvPr id="6" name="Text 3"/>
          <p:cNvSpPr/>
          <p:nvPr/>
        </p:nvSpPr>
        <p:spPr>
          <a:xfrm>
            <a:off x="1097280" y="1325880"/>
            <a:ext cx="3108960" cy="27432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Compute</a:t>
            </a:r>
            <a:endParaRPr lang="en-US" sz="1300" dirty="0"/>
          </a:p>
        </p:txBody>
      </p:sp>
      <p:sp>
        <p:nvSpPr>
          <p:cNvPr id="7" name="Text 4"/>
          <p:cNvSpPr/>
          <p:nvPr/>
        </p:nvSpPr>
        <p:spPr>
          <a:xfrm>
            <a:off x="1097280" y="1645920"/>
            <a:ext cx="3108960" cy="54864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Instance Types, Launch Templates, Spot Requests</a:t>
            </a:r>
            <a:endParaRPr lang="en-US" sz="1000" dirty="0"/>
          </a:p>
        </p:txBody>
      </p:sp>
      <p:sp>
        <p:nvSpPr>
          <p:cNvPr id="8" name="Shape 5"/>
          <p:cNvSpPr/>
          <p:nvPr/>
        </p:nvSpPr>
        <p:spPr>
          <a:xfrm>
            <a:off x="4754880" y="1234440"/>
            <a:ext cx="3840480" cy="1051560"/>
          </a:xfrm>
          <a:prstGeom prst="roundRect">
            <a:avLst>
              <a:gd name="adj" fmla="val 8696"/>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892040" y="1371600"/>
            <a:ext cx="320040" cy="320040"/>
          </a:xfrm>
          <a:prstGeom prst="rect">
            <a:avLst/>
          </a:prstGeom>
        </p:spPr>
      </p:pic>
      <p:sp>
        <p:nvSpPr>
          <p:cNvPr id="10" name="Text 6"/>
          <p:cNvSpPr/>
          <p:nvPr/>
        </p:nvSpPr>
        <p:spPr>
          <a:xfrm>
            <a:off x="5303520" y="1325880"/>
            <a:ext cx="3108960" cy="27432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Cost Optimization</a:t>
            </a:r>
            <a:endParaRPr lang="en-US" sz="1300" dirty="0"/>
          </a:p>
        </p:txBody>
      </p:sp>
      <p:sp>
        <p:nvSpPr>
          <p:cNvPr id="11" name="Text 7"/>
          <p:cNvSpPr/>
          <p:nvPr/>
        </p:nvSpPr>
        <p:spPr>
          <a:xfrm>
            <a:off x="5303520" y="1645920"/>
            <a:ext cx="3108960" cy="54864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Savings Plans, Reserved Instances, Dedicated Hosts</a:t>
            </a:r>
            <a:endParaRPr lang="en-US" sz="1000" dirty="0"/>
          </a:p>
        </p:txBody>
      </p:sp>
      <p:sp>
        <p:nvSpPr>
          <p:cNvPr id="12" name="Shape 8"/>
          <p:cNvSpPr/>
          <p:nvPr/>
        </p:nvSpPr>
        <p:spPr>
          <a:xfrm>
            <a:off x="548640" y="2423160"/>
            <a:ext cx="3840480" cy="1051560"/>
          </a:xfrm>
          <a:prstGeom prst="roundRect">
            <a:avLst>
              <a:gd name="adj" fmla="val 8696"/>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685800" y="2560320"/>
            <a:ext cx="320040" cy="320040"/>
          </a:xfrm>
          <a:prstGeom prst="rect">
            <a:avLst/>
          </a:prstGeom>
        </p:spPr>
      </p:pic>
      <p:sp>
        <p:nvSpPr>
          <p:cNvPr id="14" name="Text 9"/>
          <p:cNvSpPr/>
          <p:nvPr/>
        </p:nvSpPr>
        <p:spPr>
          <a:xfrm>
            <a:off x="1097280" y="2514600"/>
            <a:ext cx="3108960" cy="27432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Capacity</a:t>
            </a:r>
            <a:endParaRPr lang="en-US" sz="1300" dirty="0"/>
          </a:p>
        </p:txBody>
      </p:sp>
      <p:sp>
        <p:nvSpPr>
          <p:cNvPr id="15" name="Text 10"/>
          <p:cNvSpPr/>
          <p:nvPr/>
        </p:nvSpPr>
        <p:spPr>
          <a:xfrm>
            <a:off x="1097280" y="2834640"/>
            <a:ext cx="3108960" cy="54864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Capacity Reservations, Capacity Manager</a:t>
            </a:r>
            <a:endParaRPr lang="en-US" sz="1000" dirty="0"/>
          </a:p>
        </p:txBody>
      </p:sp>
      <p:sp>
        <p:nvSpPr>
          <p:cNvPr id="16" name="Shape 11"/>
          <p:cNvSpPr/>
          <p:nvPr/>
        </p:nvSpPr>
        <p:spPr>
          <a:xfrm>
            <a:off x="4754880" y="2423160"/>
            <a:ext cx="3840480" cy="1051560"/>
          </a:xfrm>
          <a:prstGeom prst="roundRect">
            <a:avLst>
              <a:gd name="adj" fmla="val 8696"/>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4892040" y="2560320"/>
            <a:ext cx="320040" cy="320040"/>
          </a:xfrm>
          <a:prstGeom prst="rect">
            <a:avLst/>
          </a:prstGeom>
        </p:spPr>
      </p:pic>
      <p:sp>
        <p:nvSpPr>
          <p:cNvPr id="18" name="Text 12"/>
          <p:cNvSpPr/>
          <p:nvPr/>
        </p:nvSpPr>
        <p:spPr>
          <a:xfrm>
            <a:off x="5303520" y="2514600"/>
            <a:ext cx="3108960" cy="27432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Images</a:t>
            </a:r>
            <a:endParaRPr lang="en-US" sz="1300" dirty="0"/>
          </a:p>
        </p:txBody>
      </p:sp>
      <p:sp>
        <p:nvSpPr>
          <p:cNvPr id="19" name="Text 13"/>
          <p:cNvSpPr/>
          <p:nvPr/>
        </p:nvSpPr>
        <p:spPr>
          <a:xfrm>
            <a:off x="5303520" y="2834640"/>
            <a:ext cx="3108960" cy="54864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AMIs, AMI Catalog, Custom Images</a:t>
            </a:r>
            <a:endParaRPr lang="en-US" sz="1000" dirty="0"/>
          </a:p>
        </p:txBody>
      </p:sp>
      <p:sp>
        <p:nvSpPr>
          <p:cNvPr id="20" name="Shape 14"/>
          <p:cNvSpPr/>
          <p:nvPr/>
        </p:nvSpPr>
        <p:spPr>
          <a:xfrm>
            <a:off x="548640" y="3611880"/>
            <a:ext cx="3840480" cy="1051560"/>
          </a:xfrm>
          <a:prstGeom prst="roundRect">
            <a:avLst>
              <a:gd name="adj" fmla="val 8696"/>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685800" y="3749040"/>
            <a:ext cx="320040" cy="320040"/>
          </a:xfrm>
          <a:prstGeom prst="rect">
            <a:avLst/>
          </a:prstGeom>
        </p:spPr>
      </p:pic>
      <p:sp>
        <p:nvSpPr>
          <p:cNvPr id="22" name="Text 15"/>
          <p:cNvSpPr/>
          <p:nvPr/>
        </p:nvSpPr>
        <p:spPr>
          <a:xfrm>
            <a:off x="1097280" y="3703320"/>
            <a:ext cx="3108960" cy="27432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Block Storage</a:t>
            </a:r>
            <a:endParaRPr lang="en-US" sz="1300" dirty="0"/>
          </a:p>
        </p:txBody>
      </p:sp>
      <p:sp>
        <p:nvSpPr>
          <p:cNvPr id="23" name="Text 16"/>
          <p:cNvSpPr/>
          <p:nvPr/>
        </p:nvSpPr>
        <p:spPr>
          <a:xfrm>
            <a:off x="1097280" y="4023360"/>
            <a:ext cx="3108960" cy="54864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EBS Volumes, Snapshots, Lifecycle Manager</a:t>
            </a:r>
            <a:endParaRPr lang="en-US" sz="1000" dirty="0"/>
          </a:p>
        </p:txBody>
      </p:sp>
      <p:sp>
        <p:nvSpPr>
          <p:cNvPr id="24" name="Shape 17"/>
          <p:cNvSpPr/>
          <p:nvPr/>
        </p:nvSpPr>
        <p:spPr>
          <a:xfrm>
            <a:off x="4754880" y="3611880"/>
            <a:ext cx="3840480" cy="1051560"/>
          </a:xfrm>
          <a:prstGeom prst="roundRect">
            <a:avLst>
              <a:gd name="adj" fmla="val 8696"/>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25" name="Image 5" descr="preencoded.png"/>
          <p:cNvPicPr>
            <a:picLocks noChangeAspect="1"/>
          </p:cNvPicPr>
          <p:nvPr/>
        </p:nvPicPr>
        <p:blipFill>
          <a:blip r:embed="rId8"/>
          <a:stretch>
            <a:fillRect/>
          </a:stretch>
        </p:blipFill>
        <p:spPr>
          <a:xfrm>
            <a:off x="4892040" y="3749040"/>
            <a:ext cx="320040" cy="320040"/>
          </a:xfrm>
          <a:prstGeom prst="rect">
            <a:avLst/>
          </a:prstGeom>
        </p:spPr>
      </p:pic>
      <p:sp>
        <p:nvSpPr>
          <p:cNvPr id="26" name="Text 18"/>
          <p:cNvSpPr/>
          <p:nvPr/>
        </p:nvSpPr>
        <p:spPr>
          <a:xfrm>
            <a:off x="5303520" y="3703320"/>
            <a:ext cx="3108960" cy="27432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Security &amp; Networking</a:t>
            </a:r>
            <a:endParaRPr lang="en-US" sz="1300" dirty="0"/>
          </a:p>
        </p:txBody>
      </p:sp>
      <p:sp>
        <p:nvSpPr>
          <p:cNvPr id="27" name="Text 19"/>
          <p:cNvSpPr/>
          <p:nvPr/>
        </p:nvSpPr>
        <p:spPr>
          <a:xfrm>
            <a:off x="5303520" y="4023360"/>
            <a:ext cx="3108960" cy="54864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Security Groups, Elastic IPs, Key Pairs, Placement Groups, Network Interfaces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COMPUTE</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EC2 Instance Types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Choose the right compute, memory, and storage balance for your workload</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3</a:t>
            </a:r>
            <a:endParaRPr lang="en-US" sz="900" dirty="0"/>
          </a:p>
        </p:txBody>
      </p:sp>
      <p:sp>
        <p:nvSpPr>
          <p:cNvPr id="6" name="Shape 4"/>
          <p:cNvSpPr/>
          <p:nvPr/>
        </p:nvSpPr>
        <p:spPr>
          <a:xfrm>
            <a:off x="548640" y="1554480"/>
            <a:ext cx="1874520" cy="3017520"/>
          </a:xfrm>
          <a:prstGeom prst="roundRect">
            <a:avLst>
              <a:gd name="adj" fmla="val 4878"/>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685800" y="1737360"/>
            <a:ext cx="320040" cy="320040"/>
          </a:xfrm>
          <a:prstGeom prst="rect">
            <a:avLst/>
          </a:prstGeom>
        </p:spPr>
      </p:pic>
      <p:sp>
        <p:nvSpPr>
          <p:cNvPr id="8" name="Text 5"/>
          <p:cNvSpPr/>
          <p:nvPr/>
        </p:nvSpPr>
        <p:spPr>
          <a:xfrm>
            <a:off x="685800" y="2148840"/>
            <a:ext cx="1600200" cy="320040"/>
          </a:xfrm>
          <a:prstGeom prst="rect">
            <a:avLst/>
          </a:prstGeom>
          <a:noFill/>
          <a:ln/>
        </p:spPr>
        <p:txBody>
          <a:bodyPr wrap="square" lIns="0" tIns="0" rIns="0" bIns="0" rtlCol="0" anchor="ctr"/>
          <a:lstStyle/>
          <a:p>
            <a:pPr marL="0" indent="0">
              <a:buNone/>
            </a:pPr>
            <a:r>
              <a:rPr lang="en-US" sz="1200" b="1" dirty="0">
                <a:solidFill>
                  <a:srgbClr val="00D4FF"/>
                </a:solidFill>
                <a:latin typeface="Trebuchet MS" pitchFamily="34" charset="0"/>
                <a:ea typeface="Trebuchet MS" pitchFamily="34" charset="-122"/>
                <a:cs typeface="Trebuchet MS" pitchFamily="34" charset="-120"/>
              </a:rPr>
              <a:t>General Purpose</a:t>
            </a:r>
            <a:endParaRPr lang="en-US" sz="1200" dirty="0"/>
          </a:p>
        </p:txBody>
      </p:sp>
      <p:sp>
        <p:nvSpPr>
          <p:cNvPr id="9" name="Text 6"/>
          <p:cNvSpPr/>
          <p:nvPr/>
        </p:nvSpPr>
        <p:spPr>
          <a:xfrm>
            <a:off x="685800" y="2468880"/>
            <a:ext cx="1600200" cy="228600"/>
          </a:xfrm>
          <a:prstGeom prst="rect">
            <a:avLst/>
          </a:prstGeom>
          <a:noFill/>
          <a:ln/>
        </p:spPr>
        <p:txBody>
          <a:bodyPr wrap="square" lIns="0" tIns="0" rIns="0" bIns="0" rtlCol="0" anchor="ctr"/>
          <a:lstStyle/>
          <a:p>
            <a:pPr marL="0" indent="0">
              <a:buNone/>
            </a:pPr>
            <a:r>
              <a:rPr lang="en-US" sz="900" dirty="0">
                <a:solidFill>
                  <a:srgbClr val="6B8AB5"/>
                </a:solidFill>
                <a:latin typeface="Consolas" pitchFamily="34" charset="0"/>
                <a:ea typeface="Consolas" pitchFamily="34" charset="-122"/>
                <a:cs typeface="Consolas" pitchFamily="34" charset="-120"/>
              </a:rPr>
              <a:t>t3, m6i, m7g</a:t>
            </a:r>
            <a:endParaRPr lang="en-US" sz="900" dirty="0"/>
          </a:p>
        </p:txBody>
      </p:sp>
      <p:sp>
        <p:nvSpPr>
          <p:cNvPr id="10" name="Text 7"/>
          <p:cNvSpPr/>
          <p:nvPr/>
        </p:nvSpPr>
        <p:spPr>
          <a:xfrm>
            <a:off x="685800" y="2743200"/>
            <a:ext cx="1600200" cy="16459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Balanced CPU, memory, and networking for web servers and small databases</a:t>
            </a:r>
            <a:endParaRPr lang="en-US" sz="1000" dirty="0"/>
          </a:p>
        </p:txBody>
      </p:sp>
      <p:sp>
        <p:nvSpPr>
          <p:cNvPr id="11" name="Shape 8"/>
          <p:cNvSpPr/>
          <p:nvPr/>
        </p:nvSpPr>
        <p:spPr>
          <a:xfrm>
            <a:off x="2606040" y="1554480"/>
            <a:ext cx="1874520" cy="3017520"/>
          </a:xfrm>
          <a:prstGeom prst="roundRect">
            <a:avLst>
              <a:gd name="adj" fmla="val 4878"/>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2743200" y="1737360"/>
            <a:ext cx="320040" cy="320040"/>
          </a:xfrm>
          <a:prstGeom prst="rect">
            <a:avLst/>
          </a:prstGeom>
        </p:spPr>
      </p:pic>
      <p:sp>
        <p:nvSpPr>
          <p:cNvPr id="13" name="Text 9"/>
          <p:cNvSpPr/>
          <p:nvPr/>
        </p:nvSpPr>
        <p:spPr>
          <a:xfrm>
            <a:off x="2743200" y="2148840"/>
            <a:ext cx="1600200" cy="320040"/>
          </a:xfrm>
          <a:prstGeom prst="rect">
            <a:avLst/>
          </a:prstGeom>
          <a:noFill/>
          <a:ln/>
        </p:spPr>
        <p:txBody>
          <a:bodyPr wrap="square" lIns="0" tIns="0" rIns="0" bIns="0" rtlCol="0" anchor="ctr"/>
          <a:lstStyle/>
          <a:p>
            <a:pPr marL="0" indent="0">
              <a:buNone/>
            </a:pPr>
            <a:r>
              <a:rPr lang="en-US" sz="1200" b="1" dirty="0">
                <a:solidFill>
                  <a:srgbClr val="00E676"/>
                </a:solidFill>
                <a:latin typeface="Trebuchet MS" pitchFamily="34" charset="0"/>
                <a:ea typeface="Trebuchet MS" pitchFamily="34" charset="-122"/>
                <a:cs typeface="Trebuchet MS" pitchFamily="34" charset="-120"/>
              </a:rPr>
              <a:t>Compute Optimized</a:t>
            </a:r>
            <a:endParaRPr lang="en-US" sz="1200" dirty="0"/>
          </a:p>
        </p:txBody>
      </p:sp>
      <p:sp>
        <p:nvSpPr>
          <p:cNvPr id="14" name="Text 10"/>
          <p:cNvSpPr/>
          <p:nvPr/>
        </p:nvSpPr>
        <p:spPr>
          <a:xfrm>
            <a:off x="2743200" y="2468880"/>
            <a:ext cx="1600200" cy="228600"/>
          </a:xfrm>
          <a:prstGeom prst="rect">
            <a:avLst/>
          </a:prstGeom>
          <a:noFill/>
          <a:ln/>
        </p:spPr>
        <p:txBody>
          <a:bodyPr wrap="square" lIns="0" tIns="0" rIns="0" bIns="0" rtlCol="0" anchor="ctr"/>
          <a:lstStyle/>
          <a:p>
            <a:pPr marL="0" indent="0">
              <a:buNone/>
            </a:pPr>
            <a:r>
              <a:rPr lang="en-US" sz="900" dirty="0">
                <a:solidFill>
                  <a:srgbClr val="6B8AB5"/>
                </a:solidFill>
                <a:latin typeface="Consolas" pitchFamily="34" charset="0"/>
                <a:ea typeface="Consolas" pitchFamily="34" charset="-122"/>
                <a:cs typeface="Consolas" pitchFamily="34" charset="-120"/>
              </a:rPr>
              <a:t>c6i, c7g</a:t>
            </a:r>
            <a:endParaRPr lang="en-US" sz="900" dirty="0"/>
          </a:p>
        </p:txBody>
      </p:sp>
      <p:sp>
        <p:nvSpPr>
          <p:cNvPr id="15" name="Text 11"/>
          <p:cNvSpPr/>
          <p:nvPr/>
        </p:nvSpPr>
        <p:spPr>
          <a:xfrm>
            <a:off x="2743200" y="2743200"/>
            <a:ext cx="1600200" cy="16459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High-performance CPUs for batch processing, gaming, and ML inference</a:t>
            </a:r>
            <a:endParaRPr lang="en-US" sz="1000" dirty="0"/>
          </a:p>
        </p:txBody>
      </p:sp>
      <p:sp>
        <p:nvSpPr>
          <p:cNvPr id="16" name="Shape 12"/>
          <p:cNvSpPr/>
          <p:nvPr/>
        </p:nvSpPr>
        <p:spPr>
          <a:xfrm>
            <a:off x="4663440" y="1554480"/>
            <a:ext cx="1874520" cy="3017520"/>
          </a:xfrm>
          <a:prstGeom prst="roundRect">
            <a:avLst>
              <a:gd name="adj" fmla="val 4878"/>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7" name="Image 2" descr="preencoded.png"/>
          <p:cNvPicPr>
            <a:picLocks noChangeAspect="1"/>
          </p:cNvPicPr>
          <p:nvPr/>
        </p:nvPicPr>
        <p:blipFill>
          <a:blip r:embed="rId5"/>
          <a:stretch>
            <a:fillRect/>
          </a:stretch>
        </p:blipFill>
        <p:spPr>
          <a:xfrm>
            <a:off x="4800600" y="1737360"/>
            <a:ext cx="320040" cy="320040"/>
          </a:xfrm>
          <a:prstGeom prst="rect">
            <a:avLst/>
          </a:prstGeom>
        </p:spPr>
      </p:pic>
      <p:sp>
        <p:nvSpPr>
          <p:cNvPr id="18" name="Text 13"/>
          <p:cNvSpPr/>
          <p:nvPr/>
        </p:nvSpPr>
        <p:spPr>
          <a:xfrm>
            <a:off x="4800600" y="2148840"/>
            <a:ext cx="1600200" cy="320040"/>
          </a:xfrm>
          <a:prstGeom prst="rect">
            <a:avLst/>
          </a:prstGeom>
          <a:noFill/>
          <a:ln/>
        </p:spPr>
        <p:txBody>
          <a:bodyPr wrap="square" lIns="0" tIns="0" rIns="0" bIns="0" rtlCol="0" anchor="ctr"/>
          <a:lstStyle/>
          <a:p>
            <a:pPr marL="0" indent="0">
              <a:buNone/>
            </a:pPr>
            <a:r>
              <a:rPr lang="en-US" sz="1200" b="1" dirty="0">
                <a:solidFill>
                  <a:srgbClr val="BB86FC"/>
                </a:solidFill>
                <a:latin typeface="Trebuchet MS" pitchFamily="34" charset="0"/>
                <a:ea typeface="Trebuchet MS" pitchFamily="34" charset="-122"/>
                <a:cs typeface="Trebuchet MS" pitchFamily="34" charset="-120"/>
              </a:rPr>
              <a:t>Memory Optimized</a:t>
            </a:r>
            <a:endParaRPr lang="en-US" sz="1200" dirty="0"/>
          </a:p>
        </p:txBody>
      </p:sp>
      <p:sp>
        <p:nvSpPr>
          <p:cNvPr id="19" name="Text 14"/>
          <p:cNvSpPr/>
          <p:nvPr/>
        </p:nvSpPr>
        <p:spPr>
          <a:xfrm>
            <a:off x="4800600" y="2468880"/>
            <a:ext cx="1600200" cy="228600"/>
          </a:xfrm>
          <a:prstGeom prst="rect">
            <a:avLst/>
          </a:prstGeom>
          <a:noFill/>
          <a:ln/>
        </p:spPr>
        <p:txBody>
          <a:bodyPr wrap="square" lIns="0" tIns="0" rIns="0" bIns="0" rtlCol="0" anchor="ctr"/>
          <a:lstStyle/>
          <a:p>
            <a:pPr marL="0" indent="0">
              <a:buNone/>
            </a:pPr>
            <a:r>
              <a:rPr lang="en-US" sz="900" dirty="0">
                <a:solidFill>
                  <a:srgbClr val="6B8AB5"/>
                </a:solidFill>
                <a:latin typeface="Consolas" pitchFamily="34" charset="0"/>
                <a:ea typeface="Consolas" pitchFamily="34" charset="-122"/>
                <a:cs typeface="Consolas" pitchFamily="34" charset="-120"/>
              </a:rPr>
              <a:t>r6i, x2idn</a:t>
            </a:r>
            <a:endParaRPr lang="en-US" sz="900" dirty="0"/>
          </a:p>
        </p:txBody>
      </p:sp>
      <p:sp>
        <p:nvSpPr>
          <p:cNvPr id="20" name="Text 15"/>
          <p:cNvSpPr/>
          <p:nvPr/>
        </p:nvSpPr>
        <p:spPr>
          <a:xfrm>
            <a:off x="4800600" y="2743200"/>
            <a:ext cx="1600200" cy="16459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Large memory for in-memory databases, caching, and real-time analytics</a:t>
            </a:r>
            <a:endParaRPr lang="en-US" sz="1000" dirty="0"/>
          </a:p>
        </p:txBody>
      </p:sp>
      <p:sp>
        <p:nvSpPr>
          <p:cNvPr id="21" name="Shape 16"/>
          <p:cNvSpPr/>
          <p:nvPr/>
        </p:nvSpPr>
        <p:spPr>
          <a:xfrm>
            <a:off x="6720840" y="1554480"/>
            <a:ext cx="1874520" cy="3017520"/>
          </a:xfrm>
          <a:prstGeom prst="roundRect">
            <a:avLst>
              <a:gd name="adj" fmla="val 4878"/>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22" name="Image 3" descr="preencoded.png"/>
          <p:cNvPicPr>
            <a:picLocks noChangeAspect="1"/>
          </p:cNvPicPr>
          <p:nvPr/>
        </p:nvPicPr>
        <p:blipFill>
          <a:blip r:embed="rId6"/>
          <a:stretch>
            <a:fillRect/>
          </a:stretch>
        </p:blipFill>
        <p:spPr>
          <a:xfrm>
            <a:off x="6858000" y="1737360"/>
            <a:ext cx="320040" cy="320040"/>
          </a:xfrm>
          <a:prstGeom prst="rect">
            <a:avLst/>
          </a:prstGeom>
        </p:spPr>
      </p:pic>
      <p:sp>
        <p:nvSpPr>
          <p:cNvPr id="23" name="Text 17"/>
          <p:cNvSpPr/>
          <p:nvPr/>
        </p:nvSpPr>
        <p:spPr>
          <a:xfrm>
            <a:off x="6858000" y="2148840"/>
            <a:ext cx="1600200" cy="320040"/>
          </a:xfrm>
          <a:prstGeom prst="rect">
            <a:avLst/>
          </a:prstGeom>
          <a:noFill/>
          <a:ln/>
        </p:spPr>
        <p:txBody>
          <a:bodyPr wrap="square" lIns="0" tIns="0" rIns="0" bIns="0" rtlCol="0" anchor="ctr"/>
          <a:lstStyle/>
          <a:p>
            <a:pPr marL="0" indent="0">
              <a:buNone/>
            </a:pPr>
            <a:r>
              <a:rPr lang="en-US" sz="1200" b="1" dirty="0">
                <a:solidFill>
                  <a:srgbClr val="FF9800"/>
                </a:solidFill>
                <a:latin typeface="Trebuchet MS" pitchFamily="34" charset="0"/>
                <a:ea typeface="Trebuchet MS" pitchFamily="34" charset="-122"/>
                <a:cs typeface="Trebuchet MS" pitchFamily="34" charset="-120"/>
              </a:rPr>
              <a:t>Storage Optimized</a:t>
            </a:r>
            <a:endParaRPr lang="en-US" sz="1200" dirty="0"/>
          </a:p>
        </p:txBody>
      </p:sp>
      <p:sp>
        <p:nvSpPr>
          <p:cNvPr id="24" name="Text 18"/>
          <p:cNvSpPr/>
          <p:nvPr/>
        </p:nvSpPr>
        <p:spPr>
          <a:xfrm>
            <a:off x="6858000" y="2468880"/>
            <a:ext cx="1600200" cy="228600"/>
          </a:xfrm>
          <a:prstGeom prst="rect">
            <a:avLst/>
          </a:prstGeom>
          <a:noFill/>
          <a:ln/>
        </p:spPr>
        <p:txBody>
          <a:bodyPr wrap="square" lIns="0" tIns="0" rIns="0" bIns="0" rtlCol="0" anchor="ctr"/>
          <a:lstStyle/>
          <a:p>
            <a:pPr marL="0" indent="0">
              <a:buNone/>
            </a:pPr>
            <a:r>
              <a:rPr lang="en-US" sz="900" dirty="0">
                <a:solidFill>
                  <a:srgbClr val="6B8AB5"/>
                </a:solidFill>
                <a:latin typeface="Consolas" pitchFamily="34" charset="0"/>
                <a:ea typeface="Consolas" pitchFamily="34" charset="-122"/>
                <a:cs typeface="Consolas" pitchFamily="34" charset="-120"/>
              </a:rPr>
              <a:t>i3, d3, h1</a:t>
            </a:r>
            <a:endParaRPr lang="en-US" sz="900" dirty="0"/>
          </a:p>
        </p:txBody>
      </p:sp>
      <p:sp>
        <p:nvSpPr>
          <p:cNvPr id="25" name="Text 19"/>
          <p:cNvSpPr/>
          <p:nvPr/>
        </p:nvSpPr>
        <p:spPr>
          <a:xfrm>
            <a:off x="6858000" y="2743200"/>
            <a:ext cx="1600200" cy="16459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High sequential read/write for data warehouses and distributed file systems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COMPUTE</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Instance Naming Convention</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Understanding the anatomy of an EC2 instance type name</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4</a:t>
            </a:r>
            <a:endParaRPr lang="en-US" sz="900" dirty="0"/>
          </a:p>
        </p:txBody>
      </p:sp>
      <p:sp>
        <p:nvSpPr>
          <p:cNvPr id="6" name="Shape 4"/>
          <p:cNvSpPr/>
          <p:nvPr/>
        </p:nvSpPr>
        <p:spPr>
          <a:xfrm>
            <a:off x="548640" y="1554480"/>
            <a:ext cx="8046720" cy="1280160"/>
          </a:xfrm>
          <a:prstGeom prst="roundRect">
            <a:avLst>
              <a:gd name="adj" fmla="val 7143"/>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1371600" y="1691640"/>
            <a:ext cx="6400800" cy="548640"/>
          </a:xfrm>
          <a:prstGeom prst="rect">
            <a:avLst/>
          </a:prstGeom>
          <a:noFill/>
          <a:ln/>
        </p:spPr>
        <p:txBody>
          <a:bodyPr wrap="square" lIns="0" tIns="0" rIns="0" bIns="0" rtlCol="0" anchor="ctr"/>
          <a:lstStyle/>
          <a:p>
            <a:pPr marL="0" indent="0" algn="ctr">
              <a:buNone/>
            </a:pPr>
            <a:r>
              <a:rPr lang="en-US" sz="3600" b="1" dirty="0">
                <a:solidFill>
                  <a:srgbClr val="00D4FF"/>
                </a:solidFill>
                <a:latin typeface="Consolas" pitchFamily="34" charset="0"/>
                <a:ea typeface="Consolas" pitchFamily="34" charset="-122"/>
                <a:cs typeface="Consolas" pitchFamily="34" charset="-120"/>
              </a:rPr>
              <a:t>m</a:t>
            </a:r>
            <a:r>
              <a:rPr lang="en-US" sz="3600" b="1" dirty="0">
                <a:solidFill>
                  <a:srgbClr val="00E676"/>
                </a:solidFill>
                <a:latin typeface="Consolas" pitchFamily="34" charset="0"/>
                <a:ea typeface="Consolas" pitchFamily="34" charset="-122"/>
                <a:cs typeface="Consolas" pitchFamily="34" charset="-120"/>
              </a:rPr>
              <a:t>6</a:t>
            </a:r>
            <a:r>
              <a:rPr lang="en-US" sz="3600" b="1" dirty="0">
                <a:solidFill>
                  <a:srgbClr val="FF9800"/>
                </a:solidFill>
                <a:latin typeface="Consolas" pitchFamily="34" charset="0"/>
                <a:ea typeface="Consolas" pitchFamily="34" charset="-122"/>
                <a:cs typeface="Consolas" pitchFamily="34" charset="-120"/>
              </a:rPr>
              <a:t>i</a:t>
            </a:r>
            <a:r>
              <a:rPr lang="en-US" sz="3600" b="1" dirty="0">
                <a:solidFill>
                  <a:srgbClr val="6B8AB5"/>
                </a:solidFill>
                <a:latin typeface="Consolas" pitchFamily="34" charset="0"/>
                <a:ea typeface="Consolas" pitchFamily="34" charset="-122"/>
                <a:cs typeface="Consolas" pitchFamily="34" charset="-120"/>
              </a:rPr>
              <a:t>.</a:t>
            </a:r>
            <a:r>
              <a:rPr lang="en-US" sz="3600" b="1" dirty="0">
                <a:solidFill>
                  <a:srgbClr val="BB86FC"/>
                </a:solidFill>
                <a:latin typeface="Consolas" pitchFamily="34" charset="0"/>
                <a:ea typeface="Consolas" pitchFamily="34" charset="-122"/>
                <a:cs typeface="Consolas" pitchFamily="34" charset="-120"/>
              </a:rPr>
              <a:t>xlarge</a:t>
            </a:r>
            <a:endParaRPr lang="en-US" sz="3600" dirty="0"/>
          </a:p>
        </p:txBody>
      </p:sp>
      <p:sp>
        <p:nvSpPr>
          <p:cNvPr id="8" name="Text 6"/>
          <p:cNvSpPr/>
          <p:nvPr/>
        </p:nvSpPr>
        <p:spPr>
          <a:xfrm>
            <a:off x="2011680" y="2286000"/>
            <a:ext cx="1280160" cy="228600"/>
          </a:xfrm>
          <a:prstGeom prst="rect">
            <a:avLst/>
          </a:prstGeom>
          <a:noFill/>
          <a:ln/>
        </p:spPr>
        <p:txBody>
          <a:bodyPr wrap="square" lIns="0" tIns="0" rIns="0" bIns="0" rtlCol="0" anchor="ctr"/>
          <a:lstStyle/>
          <a:p>
            <a:pPr marL="0" indent="0" algn="ctr">
              <a:buNone/>
            </a:pPr>
            <a:r>
              <a:rPr lang="en-US" sz="1000" dirty="0">
                <a:solidFill>
                  <a:srgbClr val="00D4FF"/>
                </a:solidFill>
                <a:latin typeface="Calibri" pitchFamily="34" charset="0"/>
                <a:ea typeface="Calibri" pitchFamily="34" charset="-122"/>
                <a:cs typeface="Calibri" pitchFamily="34" charset="-120"/>
              </a:rPr>
              <a:t>Family</a:t>
            </a:r>
            <a:endParaRPr lang="en-US" sz="1000" dirty="0"/>
          </a:p>
        </p:txBody>
      </p:sp>
      <p:sp>
        <p:nvSpPr>
          <p:cNvPr id="9" name="Text 7"/>
          <p:cNvSpPr/>
          <p:nvPr/>
        </p:nvSpPr>
        <p:spPr>
          <a:xfrm>
            <a:off x="3200400" y="2286000"/>
            <a:ext cx="1280160" cy="228600"/>
          </a:xfrm>
          <a:prstGeom prst="rect">
            <a:avLst/>
          </a:prstGeom>
          <a:noFill/>
          <a:ln/>
        </p:spPr>
        <p:txBody>
          <a:bodyPr wrap="square" lIns="0" tIns="0" rIns="0" bIns="0" rtlCol="0" anchor="ctr"/>
          <a:lstStyle/>
          <a:p>
            <a:pPr marL="0" indent="0" algn="ctr">
              <a:buNone/>
            </a:pPr>
            <a:r>
              <a:rPr lang="en-US" sz="1000" dirty="0">
                <a:solidFill>
                  <a:srgbClr val="00E676"/>
                </a:solidFill>
                <a:latin typeface="Calibri" pitchFamily="34" charset="0"/>
                <a:ea typeface="Calibri" pitchFamily="34" charset="-122"/>
                <a:cs typeface="Calibri" pitchFamily="34" charset="-120"/>
              </a:rPr>
              <a:t>Generation</a:t>
            </a:r>
            <a:endParaRPr lang="en-US" sz="1000" dirty="0"/>
          </a:p>
        </p:txBody>
      </p:sp>
      <p:sp>
        <p:nvSpPr>
          <p:cNvPr id="10" name="Text 8"/>
          <p:cNvSpPr/>
          <p:nvPr/>
        </p:nvSpPr>
        <p:spPr>
          <a:xfrm>
            <a:off x="4572000" y="2286000"/>
            <a:ext cx="1280160" cy="228600"/>
          </a:xfrm>
          <a:prstGeom prst="rect">
            <a:avLst/>
          </a:prstGeom>
          <a:noFill/>
          <a:ln/>
        </p:spPr>
        <p:txBody>
          <a:bodyPr wrap="square" lIns="0" tIns="0" rIns="0" bIns="0" rtlCol="0" anchor="ctr"/>
          <a:lstStyle/>
          <a:p>
            <a:pPr marL="0" indent="0" algn="ctr">
              <a:buNone/>
            </a:pPr>
            <a:r>
              <a:rPr lang="en-US" sz="1000" dirty="0">
                <a:solidFill>
                  <a:srgbClr val="FF9800"/>
                </a:solidFill>
                <a:latin typeface="Calibri" pitchFamily="34" charset="0"/>
                <a:ea typeface="Calibri" pitchFamily="34" charset="-122"/>
                <a:cs typeface="Calibri" pitchFamily="34" charset="-120"/>
              </a:rPr>
              <a:t>Attributes</a:t>
            </a:r>
            <a:endParaRPr lang="en-US" sz="1000" dirty="0"/>
          </a:p>
        </p:txBody>
      </p:sp>
      <p:sp>
        <p:nvSpPr>
          <p:cNvPr id="11" name="Text 9"/>
          <p:cNvSpPr/>
          <p:nvPr/>
        </p:nvSpPr>
        <p:spPr>
          <a:xfrm>
            <a:off x="6035040" y="2286000"/>
            <a:ext cx="1280160" cy="228600"/>
          </a:xfrm>
          <a:prstGeom prst="rect">
            <a:avLst/>
          </a:prstGeom>
          <a:noFill/>
          <a:ln/>
        </p:spPr>
        <p:txBody>
          <a:bodyPr wrap="square" lIns="0" tIns="0" rIns="0" bIns="0" rtlCol="0" anchor="ctr"/>
          <a:lstStyle/>
          <a:p>
            <a:pPr marL="0" indent="0" algn="ctr">
              <a:buNone/>
            </a:pPr>
            <a:r>
              <a:rPr lang="en-US" sz="1000" dirty="0">
                <a:solidFill>
                  <a:srgbClr val="BB86FC"/>
                </a:solidFill>
                <a:latin typeface="Calibri" pitchFamily="34" charset="0"/>
                <a:ea typeface="Calibri" pitchFamily="34" charset="-122"/>
                <a:cs typeface="Calibri" pitchFamily="34" charset="-120"/>
              </a:rPr>
              <a:t>Size</a:t>
            </a:r>
            <a:endParaRPr lang="en-US" sz="1000" dirty="0"/>
          </a:p>
        </p:txBody>
      </p:sp>
      <p:sp>
        <p:nvSpPr>
          <p:cNvPr id="12" name="Shape 10"/>
          <p:cNvSpPr/>
          <p:nvPr/>
        </p:nvSpPr>
        <p:spPr>
          <a:xfrm>
            <a:off x="548640" y="3108960"/>
            <a:ext cx="1874520" cy="1554480"/>
          </a:xfrm>
          <a:prstGeom prst="roundRect">
            <a:avLst>
              <a:gd name="adj" fmla="val 5882"/>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13" name="Text 11"/>
          <p:cNvSpPr/>
          <p:nvPr/>
        </p:nvSpPr>
        <p:spPr>
          <a:xfrm>
            <a:off x="731520" y="3218688"/>
            <a:ext cx="1508760" cy="274320"/>
          </a:xfrm>
          <a:prstGeom prst="rect">
            <a:avLst/>
          </a:prstGeom>
          <a:noFill/>
          <a:ln/>
        </p:spPr>
        <p:txBody>
          <a:bodyPr wrap="square" lIns="0" tIns="0" rIns="0" bIns="0" rtlCol="0" anchor="ctr"/>
          <a:lstStyle/>
          <a:p>
            <a:pPr marL="0" indent="0">
              <a:buNone/>
            </a:pPr>
            <a:r>
              <a:rPr lang="en-US" sz="1200" b="1" dirty="0">
                <a:solidFill>
                  <a:srgbClr val="00D4FF"/>
                </a:solidFill>
                <a:latin typeface="Trebuchet MS" pitchFamily="34" charset="0"/>
                <a:ea typeface="Trebuchet MS" pitchFamily="34" charset="-122"/>
                <a:cs typeface="Trebuchet MS" pitchFamily="34" charset="-120"/>
              </a:rPr>
              <a:t>Family (m, c, r, t, i, d ...)</a:t>
            </a:r>
            <a:endParaRPr lang="en-US" sz="1200" dirty="0"/>
          </a:p>
        </p:txBody>
      </p:sp>
      <p:sp>
        <p:nvSpPr>
          <p:cNvPr id="14" name="Text 12"/>
          <p:cNvSpPr/>
          <p:nvPr/>
        </p:nvSpPr>
        <p:spPr>
          <a:xfrm>
            <a:off x="731520" y="3493008"/>
            <a:ext cx="1508760" cy="105156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Determines the balance of compute, memory, storage, and networking resources</a:t>
            </a:r>
            <a:endParaRPr lang="en-US" sz="1000" dirty="0"/>
          </a:p>
        </p:txBody>
      </p:sp>
      <p:sp>
        <p:nvSpPr>
          <p:cNvPr id="15" name="Shape 13"/>
          <p:cNvSpPr/>
          <p:nvPr/>
        </p:nvSpPr>
        <p:spPr>
          <a:xfrm>
            <a:off x="2606040" y="3108960"/>
            <a:ext cx="1874520" cy="1554480"/>
          </a:xfrm>
          <a:prstGeom prst="roundRect">
            <a:avLst>
              <a:gd name="adj" fmla="val 5882"/>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16" name="Text 14"/>
          <p:cNvSpPr/>
          <p:nvPr/>
        </p:nvSpPr>
        <p:spPr>
          <a:xfrm>
            <a:off x="2788920" y="3218688"/>
            <a:ext cx="1508760" cy="274320"/>
          </a:xfrm>
          <a:prstGeom prst="rect">
            <a:avLst/>
          </a:prstGeom>
          <a:noFill/>
          <a:ln/>
        </p:spPr>
        <p:txBody>
          <a:bodyPr wrap="square" lIns="0" tIns="0" rIns="0" bIns="0" rtlCol="0" anchor="ctr"/>
          <a:lstStyle/>
          <a:p>
            <a:pPr marL="0" indent="0">
              <a:buNone/>
            </a:pPr>
            <a:r>
              <a:rPr lang="en-US" sz="1200" b="1" dirty="0">
                <a:solidFill>
                  <a:srgbClr val="00E676"/>
                </a:solidFill>
                <a:latin typeface="Trebuchet MS" pitchFamily="34" charset="0"/>
                <a:ea typeface="Trebuchet MS" pitchFamily="34" charset="-122"/>
                <a:cs typeface="Trebuchet MS" pitchFamily="34" charset="-120"/>
              </a:rPr>
              <a:t>Generation (5, 6, 7 ...)</a:t>
            </a:r>
            <a:endParaRPr lang="en-US" sz="1200" dirty="0"/>
          </a:p>
        </p:txBody>
      </p:sp>
      <p:sp>
        <p:nvSpPr>
          <p:cNvPr id="17" name="Text 15"/>
          <p:cNvSpPr/>
          <p:nvPr/>
        </p:nvSpPr>
        <p:spPr>
          <a:xfrm>
            <a:off x="2788920" y="3493008"/>
            <a:ext cx="1508760" cy="105156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Higher generation = newer hardware, better price-performance ratio</a:t>
            </a:r>
            <a:endParaRPr lang="en-US" sz="1000" dirty="0"/>
          </a:p>
        </p:txBody>
      </p:sp>
      <p:sp>
        <p:nvSpPr>
          <p:cNvPr id="18" name="Shape 16"/>
          <p:cNvSpPr/>
          <p:nvPr/>
        </p:nvSpPr>
        <p:spPr>
          <a:xfrm>
            <a:off x="4663440" y="3108960"/>
            <a:ext cx="1874520" cy="1554480"/>
          </a:xfrm>
          <a:prstGeom prst="roundRect">
            <a:avLst>
              <a:gd name="adj" fmla="val 5882"/>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19" name="Text 17"/>
          <p:cNvSpPr/>
          <p:nvPr/>
        </p:nvSpPr>
        <p:spPr>
          <a:xfrm>
            <a:off x="4846320" y="3218688"/>
            <a:ext cx="1508760" cy="274320"/>
          </a:xfrm>
          <a:prstGeom prst="rect">
            <a:avLst/>
          </a:prstGeom>
          <a:noFill/>
          <a:ln/>
        </p:spPr>
        <p:txBody>
          <a:bodyPr wrap="square" lIns="0" tIns="0" rIns="0" bIns="0" rtlCol="0" anchor="ctr"/>
          <a:lstStyle/>
          <a:p>
            <a:pPr marL="0" indent="0">
              <a:buNone/>
            </a:pPr>
            <a:r>
              <a:rPr lang="en-US" sz="1200" b="1" dirty="0">
                <a:solidFill>
                  <a:srgbClr val="FF9800"/>
                </a:solidFill>
                <a:latin typeface="Trebuchet MS" pitchFamily="34" charset="0"/>
                <a:ea typeface="Trebuchet MS" pitchFamily="34" charset="-122"/>
                <a:cs typeface="Trebuchet MS" pitchFamily="34" charset="-120"/>
              </a:rPr>
              <a:t>Attributes (a, g, i, n ...)</a:t>
            </a:r>
            <a:endParaRPr lang="en-US" sz="1200" dirty="0"/>
          </a:p>
        </p:txBody>
      </p:sp>
      <p:sp>
        <p:nvSpPr>
          <p:cNvPr id="20" name="Text 18"/>
          <p:cNvSpPr/>
          <p:nvPr/>
        </p:nvSpPr>
        <p:spPr>
          <a:xfrm>
            <a:off x="4846320" y="3493008"/>
            <a:ext cx="1508760" cy="105156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a = AMD, g = Graviton, i = Intel, n = enhanced networking</a:t>
            </a:r>
            <a:endParaRPr lang="en-US" sz="1000" dirty="0"/>
          </a:p>
        </p:txBody>
      </p:sp>
      <p:sp>
        <p:nvSpPr>
          <p:cNvPr id="21" name="Shape 19"/>
          <p:cNvSpPr/>
          <p:nvPr/>
        </p:nvSpPr>
        <p:spPr>
          <a:xfrm>
            <a:off x="6720840" y="3108960"/>
            <a:ext cx="1874520" cy="1554480"/>
          </a:xfrm>
          <a:prstGeom prst="roundRect">
            <a:avLst>
              <a:gd name="adj" fmla="val 5882"/>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22" name="Text 20"/>
          <p:cNvSpPr/>
          <p:nvPr/>
        </p:nvSpPr>
        <p:spPr>
          <a:xfrm>
            <a:off x="6903720" y="3218688"/>
            <a:ext cx="1508760" cy="274320"/>
          </a:xfrm>
          <a:prstGeom prst="rect">
            <a:avLst/>
          </a:prstGeom>
          <a:noFill/>
          <a:ln/>
        </p:spPr>
        <p:txBody>
          <a:bodyPr wrap="square" lIns="0" tIns="0" rIns="0" bIns="0" rtlCol="0" anchor="ctr"/>
          <a:lstStyle/>
          <a:p>
            <a:pPr marL="0" indent="0">
              <a:buNone/>
            </a:pPr>
            <a:r>
              <a:rPr lang="en-US" sz="1200" b="1" dirty="0">
                <a:solidFill>
                  <a:srgbClr val="BB86FC"/>
                </a:solidFill>
                <a:latin typeface="Trebuchet MS" pitchFamily="34" charset="0"/>
                <a:ea typeface="Trebuchet MS" pitchFamily="34" charset="-122"/>
                <a:cs typeface="Trebuchet MS" pitchFamily="34" charset="-120"/>
              </a:rPr>
              <a:t>Size (nano to 24xlarge)</a:t>
            </a:r>
            <a:endParaRPr lang="en-US" sz="1200" dirty="0"/>
          </a:p>
        </p:txBody>
      </p:sp>
      <p:sp>
        <p:nvSpPr>
          <p:cNvPr id="23" name="Text 21"/>
          <p:cNvSpPr/>
          <p:nvPr/>
        </p:nvSpPr>
        <p:spPr>
          <a:xfrm>
            <a:off x="6903720" y="3493008"/>
            <a:ext cx="1508760" cy="105156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Scales vCPU, memory, and bandwidth proportionally within a family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COMPUTE</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Launch Templates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Reusable blueprints for consistent EC2 instance launches</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5</a:t>
            </a:r>
            <a:endParaRPr lang="en-US" sz="900" dirty="0"/>
          </a:p>
        </p:txBody>
      </p:sp>
      <p:sp>
        <p:nvSpPr>
          <p:cNvPr id="6" name="Shape 4"/>
          <p:cNvSpPr/>
          <p:nvPr/>
        </p:nvSpPr>
        <p:spPr>
          <a:xfrm>
            <a:off x="548640" y="1554480"/>
            <a:ext cx="3840480" cy="2286000"/>
          </a:xfrm>
          <a:prstGeom prst="roundRect">
            <a:avLst>
              <a:gd name="adj" fmla="val 4800"/>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292608" cy="292608"/>
          </a:xfrm>
          <a:prstGeom prst="rect">
            <a:avLst/>
          </a:prstGeom>
        </p:spPr>
      </p:pic>
      <p:sp>
        <p:nvSpPr>
          <p:cNvPr id="8" name="Text 5"/>
          <p:cNvSpPr/>
          <p:nvPr/>
        </p:nvSpPr>
        <p:spPr>
          <a:xfrm>
            <a:off x="109728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What Is a Launch Template?</a:t>
            </a:r>
            <a:endParaRPr lang="en-US" sz="1300" dirty="0"/>
          </a:p>
        </p:txBody>
      </p:sp>
      <p:sp>
        <p:nvSpPr>
          <p:cNvPr id="9" name="Text 6"/>
          <p:cNvSpPr/>
          <p:nvPr/>
        </p:nvSpPr>
        <p:spPr>
          <a:xfrm>
            <a:off x="777240" y="2057400"/>
            <a:ext cx="3429000" cy="164592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Pre-configured settings for launching EC2 instances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Includes AMI, instance type, key pair, security groups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Supports versioning for iterative configuration changes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Used by Auto Scaling, Spot Fleet, and RunInstances API</a:t>
            </a:r>
            <a:endParaRPr lang="en-US" sz="1000" dirty="0"/>
          </a:p>
        </p:txBody>
      </p:sp>
      <p:sp>
        <p:nvSpPr>
          <p:cNvPr id="10" name="Shape 7"/>
          <p:cNvSpPr/>
          <p:nvPr/>
        </p:nvSpPr>
        <p:spPr>
          <a:xfrm>
            <a:off x="4754880" y="1554480"/>
            <a:ext cx="3840480" cy="2286000"/>
          </a:xfrm>
          <a:prstGeom prst="roundRect">
            <a:avLst>
              <a:gd name="adj" fmla="val 4800"/>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737360"/>
            <a:ext cx="292608" cy="292608"/>
          </a:xfrm>
          <a:prstGeom prst="rect">
            <a:avLst/>
          </a:prstGeom>
        </p:spPr>
      </p:pic>
      <p:sp>
        <p:nvSpPr>
          <p:cNvPr id="12" name="Text 8"/>
          <p:cNvSpPr/>
          <p:nvPr/>
        </p:nvSpPr>
        <p:spPr>
          <a:xfrm>
            <a:off x="530352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Key Benefits</a:t>
            </a:r>
            <a:endParaRPr lang="en-US" sz="1300" dirty="0"/>
          </a:p>
        </p:txBody>
      </p:sp>
      <p:sp>
        <p:nvSpPr>
          <p:cNvPr id="13" name="Text 9"/>
          <p:cNvSpPr/>
          <p:nvPr/>
        </p:nvSpPr>
        <p:spPr>
          <a:xfrm>
            <a:off x="4983480" y="2057400"/>
            <a:ext cx="3429000" cy="164592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Eliminates repetitive configuration during launches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Version control lets you roll back to previous configs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Enforces organizational standards across teams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Integrates seamlessly with Auto Scaling Groups</a:t>
            </a:r>
            <a:endParaRPr lang="en-US" sz="1000" dirty="0"/>
          </a:p>
        </p:txBody>
      </p:sp>
      <p:sp>
        <p:nvSpPr>
          <p:cNvPr id="14" name="Shape 10"/>
          <p:cNvSpPr/>
          <p:nvPr/>
        </p:nvSpPr>
        <p:spPr>
          <a:xfrm>
            <a:off x="548640" y="4023360"/>
            <a:ext cx="8046720" cy="731520"/>
          </a:xfrm>
          <a:prstGeom prst="roundRect">
            <a:avLst>
              <a:gd name="adj" fmla="val 10000"/>
            </a:avLst>
          </a:prstGeom>
          <a:solidFill>
            <a:srgbClr val="162B4A"/>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77240" y="4160520"/>
            <a:ext cx="274320" cy="274320"/>
          </a:xfrm>
          <a:prstGeom prst="rect">
            <a:avLst/>
          </a:prstGeom>
        </p:spPr>
      </p:pic>
      <p:sp>
        <p:nvSpPr>
          <p:cNvPr id="16" name="Text 11"/>
          <p:cNvSpPr/>
          <p:nvPr/>
        </p:nvSpPr>
        <p:spPr>
          <a:xfrm>
            <a:off x="1188720" y="4069080"/>
            <a:ext cx="7132320" cy="640080"/>
          </a:xfrm>
          <a:prstGeom prst="rect">
            <a:avLst/>
          </a:prstGeom>
          <a:noFill/>
          <a:ln/>
        </p:spPr>
        <p:txBody>
          <a:bodyPr wrap="square" lIns="0" tIns="0" rIns="0" bIns="0" rtlCol="0" anchor="ctr"/>
          <a:lstStyle/>
          <a:p>
            <a:pPr marL="0" indent="0">
              <a:buNone/>
            </a:pPr>
            <a:r>
              <a:rPr lang="en-US" sz="1000" dirty="0">
                <a:solidFill>
                  <a:srgbClr val="B0C4DE"/>
                </a:solidFill>
                <a:latin typeface="Calibri" pitchFamily="34" charset="0"/>
                <a:ea typeface="Calibri" pitchFamily="34" charset="-122"/>
                <a:cs typeface="Calibri" pitchFamily="34" charset="-120"/>
              </a:rPr>
              <a:t>Lab Tip: Always use Launch Templates instead of Launch Configurations for new projects — they offer more features and are the recommended approach.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COST OPTIMIZATION</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Spot Instances &amp; Spot Requests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Save up to 90% on compute by using spare EC2 capacity</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6</a:t>
            </a:r>
            <a:endParaRPr lang="en-US" sz="900" dirty="0"/>
          </a:p>
        </p:txBody>
      </p:sp>
      <p:sp>
        <p:nvSpPr>
          <p:cNvPr id="6" name="Shape 4"/>
          <p:cNvSpPr/>
          <p:nvPr/>
        </p:nvSpPr>
        <p:spPr>
          <a:xfrm>
            <a:off x="548640" y="1554480"/>
            <a:ext cx="3840480" cy="2103120"/>
          </a:xfrm>
          <a:prstGeom prst="roundRect">
            <a:avLst>
              <a:gd name="adj" fmla="val 5217"/>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292608" cy="292608"/>
          </a:xfrm>
          <a:prstGeom prst="rect">
            <a:avLst/>
          </a:prstGeom>
        </p:spPr>
      </p:pic>
      <p:sp>
        <p:nvSpPr>
          <p:cNvPr id="8" name="Text 5"/>
          <p:cNvSpPr/>
          <p:nvPr/>
        </p:nvSpPr>
        <p:spPr>
          <a:xfrm>
            <a:off x="109728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How Spot Instances Work</a:t>
            </a:r>
            <a:endParaRPr lang="en-US" sz="1300" dirty="0"/>
          </a:p>
        </p:txBody>
      </p:sp>
      <p:sp>
        <p:nvSpPr>
          <p:cNvPr id="9" name="Text 6"/>
          <p:cNvSpPr/>
          <p:nvPr/>
        </p:nvSpPr>
        <p:spPr>
          <a:xfrm>
            <a:off x="777240" y="2057400"/>
            <a:ext cx="342900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Bid on unused EC2 capacity at steep discounts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Prices fluctuate based on supply and demand</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AWS can reclaim with a 2-minute interruption notice</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Best for fault-tolerant, flexible workloads</a:t>
            </a:r>
            <a:endParaRPr lang="en-US" sz="1000" dirty="0"/>
          </a:p>
        </p:txBody>
      </p:sp>
      <p:sp>
        <p:nvSpPr>
          <p:cNvPr id="10" name="Shape 7"/>
          <p:cNvSpPr/>
          <p:nvPr/>
        </p:nvSpPr>
        <p:spPr>
          <a:xfrm>
            <a:off x="4754880" y="1554480"/>
            <a:ext cx="3840480" cy="2103120"/>
          </a:xfrm>
          <a:prstGeom prst="roundRect">
            <a:avLst>
              <a:gd name="adj" fmla="val 5217"/>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737360"/>
            <a:ext cx="292608" cy="292608"/>
          </a:xfrm>
          <a:prstGeom prst="rect">
            <a:avLst/>
          </a:prstGeom>
        </p:spPr>
      </p:pic>
      <p:sp>
        <p:nvSpPr>
          <p:cNvPr id="12" name="Text 8"/>
          <p:cNvSpPr/>
          <p:nvPr/>
        </p:nvSpPr>
        <p:spPr>
          <a:xfrm>
            <a:off x="530352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Spot Request Types</a:t>
            </a:r>
            <a:endParaRPr lang="en-US" sz="1300" dirty="0"/>
          </a:p>
        </p:txBody>
      </p:sp>
      <p:sp>
        <p:nvSpPr>
          <p:cNvPr id="13" name="Text 9"/>
          <p:cNvSpPr/>
          <p:nvPr/>
        </p:nvSpPr>
        <p:spPr>
          <a:xfrm>
            <a:off x="4983480" y="2057400"/>
            <a:ext cx="342900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One-time: request fulfilled once, then expires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Persistent: automatically re-requests if interrupted</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Spot Fleet: manages a pool across instance types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Spot Block: reserved spot for 1–6 hours (limited)</a:t>
            </a:r>
            <a:endParaRPr lang="en-US" sz="1000" dirty="0"/>
          </a:p>
        </p:txBody>
      </p:sp>
      <p:sp>
        <p:nvSpPr>
          <p:cNvPr id="14" name="Shape 10"/>
          <p:cNvSpPr/>
          <p:nvPr/>
        </p:nvSpPr>
        <p:spPr>
          <a:xfrm>
            <a:off x="548640" y="3840480"/>
            <a:ext cx="8046720" cy="1005840"/>
          </a:xfrm>
          <a:prstGeom prst="roundRect">
            <a:avLst>
              <a:gd name="adj" fmla="val 9091"/>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15" name="Text 11"/>
          <p:cNvSpPr/>
          <p:nvPr/>
        </p:nvSpPr>
        <p:spPr>
          <a:xfrm>
            <a:off x="777240" y="3931920"/>
            <a:ext cx="2743200" cy="274320"/>
          </a:xfrm>
          <a:prstGeom prst="rect">
            <a:avLst/>
          </a:prstGeom>
          <a:noFill/>
          <a:ln/>
        </p:spPr>
        <p:txBody>
          <a:bodyPr wrap="square" lIns="0" tIns="0" rIns="0" bIns="0" rtlCol="0" anchor="ctr"/>
          <a:lstStyle/>
          <a:p>
            <a:pPr marL="0" indent="0">
              <a:buNone/>
            </a:pPr>
            <a:r>
              <a:rPr lang="en-US" sz="1100" b="1" dirty="0">
                <a:solidFill>
                  <a:srgbClr val="00D4FF"/>
                </a:solidFill>
                <a:latin typeface="Trebuchet MS" pitchFamily="34" charset="0"/>
                <a:ea typeface="Trebuchet MS" pitchFamily="34" charset="-122"/>
                <a:cs typeface="Trebuchet MS" pitchFamily="34" charset="-120"/>
              </a:rPr>
              <a:t>Ideal Use Cases</a:t>
            </a:r>
            <a:endParaRPr lang="en-US" sz="1100" dirty="0"/>
          </a:p>
        </p:txBody>
      </p:sp>
      <p:sp>
        <p:nvSpPr>
          <p:cNvPr id="16" name="Text 12"/>
          <p:cNvSpPr/>
          <p:nvPr/>
        </p:nvSpPr>
        <p:spPr>
          <a:xfrm>
            <a:off x="777240" y="4251960"/>
            <a:ext cx="7589520" cy="457200"/>
          </a:xfrm>
          <a:prstGeom prst="rect">
            <a:avLst/>
          </a:prstGeom>
          <a:noFill/>
          <a:ln/>
        </p:spPr>
        <p:txBody>
          <a:bodyPr wrap="square" lIns="0" tIns="0" rIns="0" bIns="0" rtlCol="0" anchor="ctr"/>
          <a:lstStyle/>
          <a:p>
            <a:pPr marL="0" indent="0">
              <a:buNone/>
            </a:pPr>
            <a:r>
              <a:rPr lang="en-US" sz="1000" dirty="0">
                <a:solidFill>
                  <a:srgbClr val="B0C4DE"/>
                </a:solidFill>
                <a:latin typeface="Calibri" pitchFamily="34" charset="0"/>
                <a:ea typeface="Calibri" pitchFamily="34" charset="-122"/>
                <a:cs typeface="Calibri" pitchFamily="34" charset="-120"/>
              </a:rPr>
              <a:t>Batch processing  •  CI/CD pipelines  •  Big data analytics  •  Containerized microservices  •  Rendering workloads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COST OPTIMIZATION</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Savings Plans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Flexible pricing model with significant discounts over On-Demand</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7</a:t>
            </a:r>
            <a:endParaRPr lang="en-US" sz="900" dirty="0"/>
          </a:p>
        </p:txBody>
      </p:sp>
      <p:sp>
        <p:nvSpPr>
          <p:cNvPr id="6" name="Shape 4"/>
          <p:cNvSpPr/>
          <p:nvPr/>
        </p:nvSpPr>
        <p:spPr>
          <a:xfrm>
            <a:off x="548640" y="1554480"/>
            <a:ext cx="2606040" cy="2743200"/>
          </a:xfrm>
          <a:prstGeom prst="roundRect">
            <a:avLst>
              <a:gd name="adj" fmla="val 3509"/>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320040" cy="320040"/>
          </a:xfrm>
          <a:prstGeom prst="rect">
            <a:avLst/>
          </a:prstGeom>
        </p:spPr>
      </p:pic>
      <p:sp>
        <p:nvSpPr>
          <p:cNvPr id="8" name="Text 5"/>
          <p:cNvSpPr/>
          <p:nvPr/>
        </p:nvSpPr>
        <p:spPr>
          <a:xfrm>
            <a:off x="731520" y="2148840"/>
            <a:ext cx="2240280" cy="411480"/>
          </a:xfrm>
          <a:prstGeom prst="rect">
            <a:avLst/>
          </a:prstGeom>
          <a:noFill/>
          <a:ln/>
        </p:spPr>
        <p:txBody>
          <a:bodyPr wrap="square" lIns="0" tIns="0" rIns="0" bIns="0" rtlCol="0" anchor="ctr"/>
          <a:lstStyle/>
          <a:p>
            <a:pPr marL="0" indent="0">
              <a:buNone/>
            </a:pPr>
            <a:r>
              <a:rPr lang="en-US" sz="1200" b="1" dirty="0">
                <a:solidFill>
                  <a:srgbClr val="00D4FF"/>
                </a:solidFill>
                <a:latin typeface="Trebuchet MS" pitchFamily="34" charset="0"/>
                <a:ea typeface="Trebuchet MS" pitchFamily="34" charset="-122"/>
                <a:cs typeface="Trebuchet MS" pitchFamily="34" charset="-120"/>
              </a:rPr>
              <a:t>Compute Savings Plans</a:t>
            </a:r>
            <a:endParaRPr lang="en-US" sz="1200" dirty="0"/>
          </a:p>
        </p:txBody>
      </p:sp>
      <p:sp>
        <p:nvSpPr>
          <p:cNvPr id="9" name="Text 6"/>
          <p:cNvSpPr/>
          <p:nvPr/>
        </p:nvSpPr>
        <p:spPr>
          <a:xfrm>
            <a:off x="731520" y="2606040"/>
            <a:ext cx="2240280" cy="146304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Up to 66% savings. Apply to any EC2 instance family, size, OS, region, or tenancy. Also cover Fargate and Lambda usage.</a:t>
            </a:r>
            <a:endParaRPr lang="en-US" sz="1000" dirty="0"/>
          </a:p>
        </p:txBody>
      </p:sp>
      <p:sp>
        <p:nvSpPr>
          <p:cNvPr id="10" name="Shape 7"/>
          <p:cNvSpPr/>
          <p:nvPr/>
        </p:nvSpPr>
        <p:spPr>
          <a:xfrm>
            <a:off x="3337560" y="1554480"/>
            <a:ext cx="2606040" cy="2743200"/>
          </a:xfrm>
          <a:prstGeom prst="roundRect">
            <a:avLst>
              <a:gd name="adj" fmla="val 3509"/>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3520440" y="1737360"/>
            <a:ext cx="320040" cy="320040"/>
          </a:xfrm>
          <a:prstGeom prst="rect">
            <a:avLst/>
          </a:prstGeom>
        </p:spPr>
      </p:pic>
      <p:sp>
        <p:nvSpPr>
          <p:cNvPr id="12" name="Text 8"/>
          <p:cNvSpPr/>
          <p:nvPr/>
        </p:nvSpPr>
        <p:spPr>
          <a:xfrm>
            <a:off x="3520440" y="2148840"/>
            <a:ext cx="2240280" cy="411480"/>
          </a:xfrm>
          <a:prstGeom prst="rect">
            <a:avLst/>
          </a:prstGeom>
          <a:noFill/>
          <a:ln/>
        </p:spPr>
        <p:txBody>
          <a:bodyPr wrap="square" lIns="0" tIns="0" rIns="0" bIns="0" rtlCol="0" anchor="ctr"/>
          <a:lstStyle/>
          <a:p>
            <a:pPr marL="0" indent="0">
              <a:buNone/>
            </a:pPr>
            <a:r>
              <a:rPr lang="en-US" sz="1200" b="1" dirty="0">
                <a:solidFill>
                  <a:srgbClr val="BB86FC"/>
                </a:solidFill>
                <a:latin typeface="Trebuchet MS" pitchFamily="34" charset="0"/>
                <a:ea typeface="Trebuchet MS" pitchFamily="34" charset="-122"/>
                <a:cs typeface="Trebuchet MS" pitchFamily="34" charset="-120"/>
              </a:rPr>
              <a:t>EC2 Instance Savings Plans</a:t>
            </a:r>
            <a:endParaRPr lang="en-US" sz="1200" dirty="0"/>
          </a:p>
        </p:txBody>
      </p:sp>
      <p:sp>
        <p:nvSpPr>
          <p:cNvPr id="13" name="Text 9"/>
          <p:cNvSpPr/>
          <p:nvPr/>
        </p:nvSpPr>
        <p:spPr>
          <a:xfrm>
            <a:off x="3520440" y="2606040"/>
            <a:ext cx="2240280" cy="146304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Up to 72% savings. Commit to a specific instance family in a region. Flexibility on size, OS, and tenancy within that family.</a:t>
            </a:r>
            <a:endParaRPr lang="en-US" sz="1000" dirty="0"/>
          </a:p>
        </p:txBody>
      </p:sp>
      <p:sp>
        <p:nvSpPr>
          <p:cNvPr id="14" name="Shape 10"/>
          <p:cNvSpPr/>
          <p:nvPr/>
        </p:nvSpPr>
        <p:spPr>
          <a:xfrm>
            <a:off x="6126480" y="1554480"/>
            <a:ext cx="2606040" cy="2743200"/>
          </a:xfrm>
          <a:prstGeom prst="roundRect">
            <a:avLst>
              <a:gd name="adj" fmla="val 3509"/>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6309360" y="1737360"/>
            <a:ext cx="320040" cy="320040"/>
          </a:xfrm>
          <a:prstGeom prst="rect">
            <a:avLst/>
          </a:prstGeom>
        </p:spPr>
      </p:pic>
      <p:sp>
        <p:nvSpPr>
          <p:cNvPr id="16" name="Text 11"/>
          <p:cNvSpPr/>
          <p:nvPr/>
        </p:nvSpPr>
        <p:spPr>
          <a:xfrm>
            <a:off x="6309360" y="2148840"/>
            <a:ext cx="2240280" cy="411480"/>
          </a:xfrm>
          <a:prstGeom prst="rect">
            <a:avLst/>
          </a:prstGeom>
          <a:noFill/>
          <a:ln/>
        </p:spPr>
        <p:txBody>
          <a:bodyPr wrap="square" lIns="0" tIns="0" rIns="0" bIns="0" rtlCol="0" anchor="ctr"/>
          <a:lstStyle/>
          <a:p>
            <a:pPr marL="0" indent="0">
              <a:buNone/>
            </a:pPr>
            <a:r>
              <a:rPr lang="en-US" sz="1200" b="1" dirty="0">
                <a:solidFill>
                  <a:srgbClr val="00E676"/>
                </a:solidFill>
                <a:latin typeface="Trebuchet MS" pitchFamily="34" charset="0"/>
                <a:ea typeface="Trebuchet MS" pitchFamily="34" charset="-122"/>
                <a:cs typeface="Trebuchet MS" pitchFamily="34" charset="-120"/>
              </a:rPr>
              <a:t>SageMaker Savings Plans</a:t>
            </a:r>
            <a:endParaRPr lang="en-US" sz="1200" dirty="0"/>
          </a:p>
        </p:txBody>
      </p:sp>
      <p:sp>
        <p:nvSpPr>
          <p:cNvPr id="17" name="Text 12"/>
          <p:cNvSpPr/>
          <p:nvPr/>
        </p:nvSpPr>
        <p:spPr>
          <a:xfrm>
            <a:off x="6309360" y="2606040"/>
            <a:ext cx="2240280" cy="146304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Up to 64% savings on ML workloads. Apply to SageMaker instance usage for training, inference, and notebook instances.</a:t>
            </a:r>
            <a:endParaRPr lang="en-US" sz="1000" dirty="0"/>
          </a:p>
        </p:txBody>
      </p:sp>
      <p:sp>
        <p:nvSpPr>
          <p:cNvPr id="18" name="Text 13"/>
          <p:cNvSpPr/>
          <p:nvPr/>
        </p:nvSpPr>
        <p:spPr>
          <a:xfrm>
            <a:off x="548640" y="4480560"/>
            <a:ext cx="8046720" cy="320040"/>
          </a:xfrm>
          <a:prstGeom prst="rect">
            <a:avLst/>
          </a:prstGeom>
          <a:noFill/>
          <a:ln/>
        </p:spPr>
        <p:txBody>
          <a:bodyPr wrap="square" lIns="0" tIns="0" rIns="0" bIns="0" rtlCol="0" anchor="ctr"/>
          <a:lstStyle/>
          <a:p>
            <a:pPr marL="0" indent="0" algn="ctr">
              <a:buNone/>
            </a:pPr>
            <a:r>
              <a:rPr lang="en-US" sz="1000" dirty="0">
                <a:solidFill>
                  <a:srgbClr val="6B8AB5"/>
                </a:solidFill>
                <a:latin typeface="Calibri" pitchFamily="34" charset="0"/>
                <a:ea typeface="Calibri" pitchFamily="34" charset="-122"/>
                <a:cs typeface="Calibri" pitchFamily="34" charset="-120"/>
              </a:rPr>
              <a:t>Commitment: 1 or 3 year term  |  Payment: All upfront, partial upfront, or no upfront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COST OPTIMIZATION</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Reserved Instances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Commit to specific instance configurations for up to 72% savings</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8</a:t>
            </a:r>
            <a:endParaRPr lang="en-US" sz="900" dirty="0"/>
          </a:p>
        </p:txBody>
      </p:sp>
      <p:sp>
        <p:nvSpPr>
          <p:cNvPr id="6" name="Shape 4"/>
          <p:cNvSpPr/>
          <p:nvPr/>
        </p:nvSpPr>
        <p:spPr>
          <a:xfrm>
            <a:off x="548640" y="1554480"/>
            <a:ext cx="3840480" cy="2103120"/>
          </a:xfrm>
          <a:prstGeom prst="roundRect">
            <a:avLst>
              <a:gd name="adj" fmla="val 5217"/>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292608" cy="292608"/>
          </a:xfrm>
          <a:prstGeom prst="rect">
            <a:avLst/>
          </a:prstGeom>
        </p:spPr>
      </p:pic>
      <p:sp>
        <p:nvSpPr>
          <p:cNvPr id="8" name="Text 5"/>
          <p:cNvSpPr/>
          <p:nvPr/>
        </p:nvSpPr>
        <p:spPr>
          <a:xfrm>
            <a:off x="109728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Standard Reserved Instances</a:t>
            </a:r>
            <a:endParaRPr lang="en-US" sz="1300" dirty="0"/>
          </a:p>
        </p:txBody>
      </p:sp>
      <p:sp>
        <p:nvSpPr>
          <p:cNvPr id="9" name="Text 6"/>
          <p:cNvSpPr/>
          <p:nvPr/>
        </p:nvSpPr>
        <p:spPr>
          <a:xfrm>
            <a:off x="777240" y="2057400"/>
            <a:ext cx="342900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Up to 72% discount vs On-Demand pricing</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Commit to instance type, region, OS, and tenancy</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Best for steady-state, predictable workloads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Can be sold on the Reserved Instance Marketplace</a:t>
            </a:r>
            <a:endParaRPr lang="en-US" sz="1000" dirty="0"/>
          </a:p>
        </p:txBody>
      </p:sp>
      <p:sp>
        <p:nvSpPr>
          <p:cNvPr id="10" name="Shape 7"/>
          <p:cNvSpPr/>
          <p:nvPr/>
        </p:nvSpPr>
        <p:spPr>
          <a:xfrm>
            <a:off x="4754880" y="1554480"/>
            <a:ext cx="3840480" cy="2103120"/>
          </a:xfrm>
          <a:prstGeom prst="roundRect">
            <a:avLst>
              <a:gd name="adj" fmla="val 5217"/>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737360"/>
            <a:ext cx="292608" cy="292608"/>
          </a:xfrm>
          <a:prstGeom prst="rect">
            <a:avLst/>
          </a:prstGeom>
        </p:spPr>
      </p:pic>
      <p:sp>
        <p:nvSpPr>
          <p:cNvPr id="12" name="Text 8"/>
          <p:cNvSpPr/>
          <p:nvPr/>
        </p:nvSpPr>
        <p:spPr>
          <a:xfrm>
            <a:off x="530352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Convertible Reserved Instances</a:t>
            </a:r>
            <a:endParaRPr lang="en-US" sz="1300" dirty="0"/>
          </a:p>
        </p:txBody>
      </p:sp>
      <p:sp>
        <p:nvSpPr>
          <p:cNvPr id="13" name="Text 9"/>
          <p:cNvSpPr/>
          <p:nvPr/>
        </p:nvSpPr>
        <p:spPr>
          <a:xfrm>
            <a:off x="4983480" y="2057400"/>
            <a:ext cx="342900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Up to 66% discount with added flexibility</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Exchange for different instance families or types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Change OS, tenancy, or payment option mid-term</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Cannot be sold on the RI Marketplace</a:t>
            </a:r>
            <a:endParaRPr lang="en-US" sz="1000" dirty="0"/>
          </a:p>
        </p:txBody>
      </p:sp>
      <p:sp>
        <p:nvSpPr>
          <p:cNvPr id="14" name="Shape 10"/>
          <p:cNvSpPr/>
          <p:nvPr/>
        </p:nvSpPr>
        <p:spPr>
          <a:xfrm>
            <a:off x="548640" y="3840480"/>
            <a:ext cx="8046720" cy="1005840"/>
          </a:xfrm>
          <a:prstGeom prst="roundRect">
            <a:avLst>
              <a:gd name="adj" fmla="val 9091"/>
            </a:avLst>
          </a:prstGeom>
          <a:solidFill>
            <a:srgbClr val="12233D"/>
          </a:solidFill>
          <a:ln/>
        </p:spPr>
        <p:txBody>
          <a:bodyPr/>
          <a:lstStyle/>
          <a:p>
            <a:endParaRPr lang="en-US"/>
          </a:p>
        </p:txBody>
      </p:sp>
      <p:sp>
        <p:nvSpPr>
          <p:cNvPr id="15" name="Text 11"/>
          <p:cNvSpPr/>
          <p:nvPr/>
        </p:nvSpPr>
        <p:spPr>
          <a:xfrm>
            <a:off x="777240" y="3931920"/>
            <a:ext cx="3657600" cy="274320"/>
          </a:xfrm>
          <a:prstGeom prst="rect">
            <a:avLst/>
          </a:prstGeom>
          <a:noFill/>
          <a:ln/>
        </p:spPr>
        <p:txBody>
          <a:bodyPr wrap="square" lIns="0" tIns="0" rIns="0" bIns="0" rtlCol="0" anchor="ctr"/>
          <a:lstStyle/>
          <a:p>
            <a:pPr marL="0" indent="0">
              <a:buNone/>
            </a:pPr>
            <a:r>
              <a:rPr lang="en-US" sz="1100" b="1" dirty="0">
                <a:solidFill>
                  <a:srgbClr val="FF9800"/>
                </a:solidFill>
                <a:latin typeface="Trebuchet MS" pitchFamily="34" charset="0"/>
                <a:ea typeface="Trebuchet MS" pitchFamily="34" charset="-122"/>
                <a:cs typeface="Trebuchet MS" pitchFamily="34" charset="-120"/>
              </a:rPr>
              <a:t>Reserved vs Savings Plans</a:t>
            </a:r>
            <a:endParaRPr lang="en-US" sz="1100" dirty="0"/>
          </a:p>
        </p:txBody>
      </p:sp>
      <p:sp>
        <p:nvSpPr>
          <p:cNvPr id="16" name="Text 12"/>
          <p:cNvSpPr/>
          <p:nvPr/>
        </p:nvSpPr>
        <p:spPr>
          <a:xfrm>
            <a:off x="777240" y="4251960"/>
            <a:ext cx="7589520" cy="5029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Savings Plans offer more flexibility and are generally recommended for new commitments. Reserved Instances still make sense when you need capacity reservation guarantees or want to trade on the RI Marketplace.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COST OPTIMIZATION</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Dedicated Hosts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Physical servers fully dedicated to your use for compliance and licensing</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9</a:t>
            </a:r>
            <a:endParaRPr lang="en-US" sz="900" dirty="0"/>
          </a:p>
        </p:txBody>
      </p:sp>
      <p:sp>
        <p:nvSpPr>
          <p:cNvPr id="6" name="Shape 4"/>
          <p:cNvSpPr/>
          <p:nvPr/>
        </p:nvSpPr>
        <p:spPr>
          <a:xfrm>
            <a:off x="548640" y="1554480"/>
            <a:ext cx="3840480" cy="2286000"/>
          </a:xfrm>
          <a:prstGeom prst="roundRect">
            <a:avLst>
              <a:gd name="adj" fmla="val 4800"/>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292608" cy="292608"/>
          </a:xfrm>
          <a:prstGeom prst="rect">
            <a:avLst/>
          </a:prstGeom>
        </p:spPr>
      </p:pic>
      <p:sp>
        <p:nvSpPr>
          <p:cNvPr id="8" name="Text 5"/>
          <p:cNvSpPr/>
          <p:nvPr/>
        </p:nvSpPr>
        <p:spPr>
          <a:xfrm>
            <a:off x="109728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What Are Dedicated Hosts?</a:t>
            </a:r>
            <a:endParaRPr lang="en-US" sz="1300" dirty="0"/>
          </a:p>
        </p:txBody>
      </p:sp>
      <p:sp>
        <p:nvSpPr>
          <p:cNvPr id="9" name="Text 6"/>
          <p:cNvSpPr/>
          <p:nvPr/>
        </p:nvSpPr>
        <p:spPr>
          <a:xfrm>
            <a:off x="777240" y="2057400"/>
            <a:ext cx="3429000" cy="164592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 physical EC2 server allocated exclusively to you</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Full visibility into sockets, cores, and host ID</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Required for certain software licensing (BYOL)</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Meets strict compliance and regulatory requirements</a:t>
            </a:r>
            <a:endParaRPr lang="en-US" sz="1000" dirty="0"/>
          </a:p>
        </p:txBody>
      </p:sp>
      <p:sp>
        <p:nvSpPr>
          <p:cNvPr id="10" name="Shape 7"/>
          <p:cNvSpPr/>
          <p:nvPr/>
        </p:nvSpPr>
        <p:spPr>
          <a:xfrm>
            <a:off x="4754880" y="1554480"/>
            <a:ext cx="3840480" cy="2286000"/>
          </a:xfrm>
          <a:prstGeom prst="roundRect">
            <a:avLst>
              <a:gd name="adj" fmla="val 4800"/>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737360"/>
            <a:ext cx="292608" cy="292608"/>
          </a:xfrm>
          <a:prstGeom prst="rect">
            <a:avLst/>
          </a:prstGeom>
        </p:spPr>
      </p:pic>
      <p:sp>
        <p:nvSpPr>
          <p:cNvPr id="12" name="Text 8"/>
          <p:cNvSpPr/>
          <p:nvPr/>
        </p:nvSpPr>
        <p:spPr>
          <a:xfrm>
            <a:off x="530352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Key Considerations</a:t>
            </a:r>
            <a:endParaRPr lang="en-US" sz="1300" dirty="0"/>
          </a:p>
        </p:txBody>
      </p:sp>
      <p:sp>
        <p:nvSpPr>
          <p:cNvPr id="13" name="Text 9"/>
          <p:cNvSpPr/>
          <p:nvPr/>
        </p:nvSpPr>
        <p:spPr>
          <a:xfrm>
            <a:off x="4983480" y="2057400"/>
            <a:ext cx="3429000" cy="164592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Available On-Demand or as Reservations (up to 70% off)</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Supports instance family locking (e.g., all m5 on one host)</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Auto-placement lets AWS choose the host for you</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Host recovery automatically migrates on hardware failure</a:t>
            </a:r>
            <a:endParaRPr lang="en-US" sz="1000" dirty="0"/>
          </a:p>
        </p:txBody>
      </p:sp>
      <p:sp>
        <p:nvSpPr>
          <p:cNvPr id="14" name="Shape 10"/>
          <p:cNvSpPr/>
          <p:nvPr/>
        </p:nvSpPr>
        <p:spPr>
          <a:xfrm>
            <a:off x="548640" y="4023360"/>
            <a:ext cx="8046720" cy="822960"/>
          </a:xfrm>
          <a:prstGeom prst="roundRect">
            <a:avLst>
              <a:gd name="adj" fmla="val 11111"/>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15" name="Text 11"/>
          <p:cNvSpPr/>
          <p:nvPr/>
        </p:nvSpPr>
        <p:spPr>
          <a:xfrm>
            <a:off x="731520" y="4133088"/>
            <a:ext cx="7680960" cy="274320"/>
          </a:xfrm>
          <a:prstGeom prst="rect">
            <a:avLst/>
          </a:prstGeom>
          <a:noFill/>
          <a:ln/>
        </p:spPr>
        <p:txBody>
          <a:bodyPr wrap="square" lIns="0" tIns="0" rIns="0" bIns="0" rtlCol="0" anchor="ctr"/>
          <a:lstStyle/>
          <a:p>
            <a:pPr marL="0" indent="0">
              <a:buNone/>
            </a:pPr>
            <a:r>
              <a:rPr lang="en-US" sz="1200" b="1" dirty="0">
                <a:solidFill>
                  <a:srgbClr val="BB86FC"/>
                </a:solidFill>
                <a:latin typeface="Trebuchet MS" pitchFamily="34" charset="0"/>
                <a:ea typeface="Trebuchet MS" pitchFamily="34" charset="-122"/>
                <a:cs typeface="Trebuchet MS" pitchFamily="34" charset="-120"/>
              </a:rPr>
              <a:t>Dedicated Hosts vs Dedicated Instances</a:t>
            </a:r>
            <a:endParaRPr lang="en-US" sz="1200" dirty="0"/>
          </a:p>
        </p:txBody>
      </p:sp>
      <p:sp>
        <p:nvSpPr>
          <p:cNvPr id="16" name="Text 12"/>
          <p:cNvSpPr/>
          <p:nvPr/>
        </p:nvSpPr>
        <p:spPr>
          <a:xfrm>
            <a:off x="731520" y="4407408"/>
            <a:ext cx="7680960" cy="32004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Dedicated Instances run on hardware dedicated to you but AWS manages host placement. Dedicated Hosts give you control over the physical server itself — needed for BYOL and per-socket licensing.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HANDS-ON LAB</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Lab: Cost Optimization Strategies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Practice comparing pricing models and launching Spot instances</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10</a:t>
            </a:r>
            <a:endParaRPr lang="en-US" sz="900" dirty="0"/>
          </a:p>
        </p:txBody>
      </p:sp>
      <p:sp>
        <p:nvSpPr>
          <p:cNvPr id="6" name="Shape 4"/>
          <p:cNvSpPr/>
          <p:nvPr/>
        </p:nvSpPr>
        <p:spPr>
          <a:xfrm>
            <a:off x="548640" y="1554480"/>
            <a:ext cx="3840480" cy="1280160"/>
          </a:xfrm>
          <a:prstGeom prst="roundRect">
            <a:avLst>
              <a:gd name="adj" fmla="val 7143"/>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685800" y="164592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1</a:t>
            </a:r>
            <a:endParaRPr lang="en-US" sz="1600" dirty="0"/>
          </a:p>
        </p:txBody>
      </p:sp>
      <p:sp>
        <p:nvSpPr>
          <p:cNvPr id="8" name="Text 6"/>
          <p:cNvSpPr/>
          <p:nvPr/>
        </p:nvSpPr>
        <p:spPr>
          <a:xfrm>
            <a:off x="1097280" y="164592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Explore the Pricing Calculator</a:t>
            </a:r>
            <a:endParaRPr lang="en-US" sz="1100" dirty="0"/>
          </a:p>
        </p:txBody>
      </p:sp>
      <p:sp>
        <p:nvSpPr>
          <p:cNvPr id="9" name="Text 7"/>
          <p:cNvSpPr/>
          <p:nvPr/>
        </p:nvSpPr>
        <p:spPr>
          <a:xfrm>
            <a:off x="1097280" y="1920240"/>
            <a:ext cx="3108960" cy="77724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Open the AWS Pricing Calculator. Compare On-Demand, Reserved, and Savings Plan pricing for an m6i.large running 24/7 in us-east-1.</a:t>
            </a:r>
            <a:endParaRPr lang="en-US" sz="900" dirty="0"/>
          </a:p>
        </p:txBody>
      </p:sp>
      <p:sp>
        <p:nvSpPr>
          <p:cNvPr id="10" name="Shape 8"/>
          <p:cNvSpPr/>
          <p:nvPr/>
        </p:nvSpPr>
        <p:spPr>
          <a:xfrm>
            <a:off x="4754880" y="1554480"/>
            <a:ext cx="3840480" cy="1280160"/>
          </a:xfrm>
          <a:prstGeom prst="roundRect">
            <a:avLst>
              <a:gd name="adj" fmla="val 7143"/>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1" name="Text 9"/>
          <p:cNvSpPr/>
          <p:nvPr/>
        </p:nvSpPr>
        <p:spPr>
          <a:xfrm>
            <a:off x="4892040" y="164592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2</a:t>
            </a:r>
            <a:endParaRPr lang="en-US" sz="1600" dirty="0"/>
          </a:p>
        </p:txBody>
      </p:sp>
      <p:sp>
        <p:nvSpPr>
          <p:cNvPr id="12" name="Text 10"/>
          <p:cNvSpPr/>
          <p:nvPr/>
        </p:nvSpPr>
        <p:spPr>
          <a:xfrm>
            <a:off x="5303520" y="164592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View Spot Pricing History</a:t>
            </a:r>
            <a:endParaRPr lang="en-US" sz="1100" dirty="0"/>
          </a:p>
        </p:txBody>
      </p:sp>
      <p:sp>
        <p:nvSpPr>
          <p:cNvPr id="13" name="Text 11"/>
          <p:cNvSpPr/>
          <p:nvPr/>
        </p:nvSpPr>
        <p:spPr>
          <a:xfrm>
            <a:off x="5303520" y="1920240"/>
            <a:ext cx="3108960" cy="77724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In the EC2 Console, navigate to Spot Requests &gt; Pricing History. Compare prices for c6i.xlarge across multiple Availability Zones.</a:t>
            </a:r>
            <a:endParaRPr lang="en-US" sz="900" dirty="0"/>
          </a:p>
        </p:txBody>
      </p:sp>
      <p:sp>
        <p:nvSpPr>
          <p:cNvPr id="14" name="Shape 12"/>
          <p:cNvSpPr/>
          <p:nvPr/>
        </p:nvSpPr>
        <p:spPr>
          <a:xfrm>
            <a:off x="548640" y="3017520"/>
            <a:ext cx="3840480" cy="1554480"/>
          </a:xfrm>
          <a:prstGeom prst="roundRect">
            <a:avLst>
              <a:gd name="adj" fmla="val 5882"/>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5" name="Text 13"/>
          <p:cNvSpPr/>
          <p:nvPr/>
        </p:nvSpPr>
        <p:spPr>
          <a:xfrm>
            <a:off x="685800" y="310896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3</a:t>
            </a:r>
            <a:endParaRPr lang="en-US" sz="1600" dirty="0"/>
          </a:p>
        </p:txBody>
      </p:sp>
      <p:sp>
        <p:nvSpPr>
          <p:cNvPr id="16" name="Text 14"/>
          <p:cNvSpPr/>
          <p:nvPr/>
        </p:nvSpPr>
        <p:spPr>
          <a:xfrm>
            <a:off x="1097280" y="310896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Launch a Spot Instance</a:t>
            </a:r>
            <a:endParaRPr lang="en-US" sz="1100" dirty="0"/>
          </a:p>
        </p:txBody>
      </p:sp>
      <p:sp>
        <p:nvSpPr>
          <p:cNvPr id="17" name="Text 15"/>
          <p:cNvSpPr/>
          <p:nvPr/>
        </p:nvSpPr>
        <p:spPr>
          <a:xfrm>
            <a:off x="1097280" y="3383280"/>
            <a:ext cx="3108960" cy="105156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Create a Spot request using a Launch Template. Set max price, choose persistent type, and configure an interruption behavior (terminate/stop/hibernate).</a:t>
            </a:r>
            <a:endParaRPr lang="en-US" sz="900" dirty="0"/>
          </a:p>
        </p:txBody>
      </p:sp>
      <p:sp>
        <p:nvSpPr>
          <p:cNvPr id="18" name="Shape 16"/>
          <p:cNvSpPr/>
          <p:nvPr/>
        </p:nvSpPr>
        <p:spPr>
          <a:xfrm>
            <a:off x="4754880" y="3017520"/>
            <a:ext cx="3840480" cy="1554480"/>
          </a:xfrm>
          <a:prstGeom prst="roundRect">
            <a:avLst>
              <a:gd name="adj" fmla="val 5882"/>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9" name="Text 17"/>
          <p:cNvSpPr/>
          <p:nvPr/>
        </p:nvSpPr>
        <p:spPr>
          <a:xfrm>
            <a:off x="4892040" y="310896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4</a:t>
            </a:r>
            <a:endParaRPr lang="en-US" sz="1600" dirty="0"/>
          </a:p>
        </p:txBody>
      </p:sp>
      <p:sp>
        <p:nvSpPr>
          <p:cNvPr id="20" name="Text 18"/>
          <p:cNvSpPr/>
          <p:nvPr/>
        </p:nvSpPr>
        <p:spPr>
          <a:xfrm>
            <a:off x="5303520" y="310896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Evaluate Savings Plans</a:t>
            </a:r>
            <a:endParaRPr lang="en-US" sz="1100" dirty="0"/>
          </a:p>
        </p:txBody>
      </p:sp>
      <p:sp>
        <p:nvSpPr>
          <p:cNvPr id="21" name="Text 19"/>
          <p:cNvSpPr/>
          <p:nvPr/>
        </p:nvSpPr>
        <p:spPr>
          <a:xfrm>
            <a:off x="5303520" y="3383280"/>
            <a:ext cx="3108960" cy="105156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Go to AWS Cost Explorer &gt; Savings Plans &gt; Recommendations. Review AWS recommendations based on your usage patterns and potential savings.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CAPACITY</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Capacity Reservations &amp; Capacity Manager</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Guarantee compute capacity in specific Availability Zones</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11</a:t>
            </a:r>
            <a:endParaRPr lang="en-US" sz="900" dirty="0"/>
          </a:p>
        </p:txBody>
      </p:sp>
      <p:sp>
        <p:nvSpPr>
          <p:cNvPr id="6" name="Shape 4"/>
          <p:cNvSpPr/>
          <p:nvPr/>
        </p:nvSpPr>
        <p:spPr>
          <a:xfrm>
            <a:off x="548640" y="1554480"/>
            <a:ext cx="3840480" cy="2103120"/>
          </a:xfrm>
          <a:prstGeom prst="roundRect">
            <a:avLst>
              <a:gd name="adj" fmla="val 5217"/>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292608" cy="292608"/>
          </a:xfrm>
          <a:prstGeom prst="rect">
            <a:avLst/>
          </a:prstGeom>
        </p:spPr>
      </p:pic>
      <p:sp>
        <p:nvSpPr>
          <p:cNvPr id="8" name="Text 5"/>
          <p:cNvSpPr/>
          <p:nvPr/>
        </p:nvSpPr>
        <p:spPr>
          <a:xfrm>
            <a:off x="109728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On-Demand Capacity Reservations</a:t>
            </a:r>
            <a:endParaRPr lang="en-US" sz="1300" dirty="0"/>
          </a:p>
        </p:txBody>
      </p:sp>
      <p:sp>
        <p:nvSpPr>
          <p:cNvPr id="9" name="Text 6"/>
          <p:cNvSpPr/>
          <p:nvPr/>
        </p:nvSpPr>
        <p:spPr>
          <a:xfrm>
            <a:off x="777240" y="2057400"/>
            <a:ext cx="342900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Reserve capacity in a specific AZ without commitment</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Guarantees capacity is available when you need it</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Pay On-Demand rates whether instances run or not</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Combine with Savings Plans or RIs for discounts</a:t>
            </a:r>
            <a:endParaRPr lang="en-US" sz="1000" dirty="0"/>
          </a:p>
        </p:txBody>
      </p:sp>
      <p:sp>
        <p:nvSpPr>
          <p:cNvPr id="10" name="Shape 7"/>
          <p:cNvSpPr/>
          <p:nvPr/>
        </p:nvSpPr>
        <p:spPr>
          <a:xfrm>
            <a:off x="4754880" y="1554480"/>
            <a:ext cx="3840480" cy="2103120"/>
          </a:xfrm>
          <a:prstGeom prst="roundRect">
            <a:avLst>
              <a:gd name="adj" fmla="val 5217"/>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737360"/>
            <a:ext cx="292608" cy="292608"/>
          </a:xfrm>
          <a:prstGeom prst="rect">
            <a:avLst/>
          </a:prstGeom>
        </p:spPr>
      </p:pic>
      <p:sp>
        <p:nvSpPr>
          <p:cNvPr id="12" name="Text 8"/>
          <p:cNvSpPr/>
          <p:nvPr/>
        </p:nvSpPr>
        <p:spPr>
          <a:xfrm>
            <a:off x="530352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Capacity Manager (New)</a:t>
            </a:r>
            <a:endParaRPr lang="en-US" sz="1300" dirty="0"/>
          </a:p>
        </p:txBody>
      </p:sp>
      <p:sp>
        <p:nvSpPr>
          <p:cNvPr id="13" name="Text 9"/>
          <p:cNvSpPr/>
          <p:nvPr/>
        </p:nvSpPr>
        <p:spPr>
          <a:xfrm>
            <a:off x="4983480" y="2057400"/>
            <a:ext cx="342900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Automates capacity reservation management</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Monitors usage and adjusts reservations dynamically</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Groups reservations with Capacity Reservation Groups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Integrates with Auto Scaling for elastic workloads</a:t>
            </a:r>
            <a:endParaRPr lang="en-US" sz="1000" dirty="0"/>
          </a:p>
        </p:txBody>
      </p:sp>
      <p:sp>
        <p:nvSpPr>
          <p:cNvPr id="14" name="Shape 10"/>
          <p:cNvSpPr/>
          <p:nvPr/>
        </p:nvSpPr>
        <p:spPr>
          <a:xfrm>
            <a:off x="548640" y="3840480"/>
            <a:ext cx="8046720" cy="1005840"/>
          </a:xfrm>
          <a:prstGeom prst="roundRect">
            <a:avLst>
              <a:gd name="adj" fmla="val 9091"/>
            </a:avLst>
          </a:prstGeom>
          <a:solidFill>
            <a:srgbClr val="12233D"/>
          </a:solidFill>
          <a:ln/>
        </p:spPr>
        <p:txBody>
          <a:bodyPr/>
          <a:lstStyle/>
          <a:p>
            <a:endParaRPr lang="en-US"/>
          </a:p>
        </p:txBody>
      </p:sp>
      <p:sp>
        <p:nvSpPr>
          <p:cNvPr id="15" name="Text 11"/>
          <p:cNvSpPr/>
          <p:nvPr/>
        </p:nvSpPr>
        <p:spPr>
          <a:xfrm>
            <a:off x="777240" y="3931920"/>
            <a:ext cx="4572000" cy="274320"/>
          </a:xfrm>
          <a:prstGeom prst="rect">
            <a:avLst/>
          </a:prstGeom>
          <a:noFill/>
          <a:ln/>
        </p:spPr>
        <p:txBody>
          <a:bodyPr wrap="square" lIns="0" tIns="0" rIns="0" bIns="0" rtlCol="0" anchor="ctr"/>
          <a:lstStyle/>
          <a:p>
            <a:pPr marL="0" indent="0">
              <a:buNone/>
            </a:pPr>
            <a:r>
              <a:rPr lang="en-US" sz="1100" b="1" dirty="0">
                <a:solidFill>
                  <a:srgbClr val="00E676"/>
                </a:solidFill>
                <a:latin typeface="Trebuchet MS" pitchFamily="34" charset="0"/>
                <a:ea typeface="Trebuchet MS" pitchFamily="34" charset="-122"/>
                <a:cs typeface="Trebuchet MS" pitchFamily="34" charset="-120"/>
              </a:rPr>
              <a:t>When to Use Capacity Reservations</a:t>
            </a:r>
            <a:endParaRPr lang="en-US" sz="1100" dirty="0"/>
          </a:p>
        </p:txBody>
      </p:sp>
      <p:sp>
        <p:nvSpPr>
          <p:cNvPr id="16" name="Text 12"/>
          <p:cNvSpPr/>
          <p:nvPr/>
        </p:nvSpPr>
        <p:spPr>
          <a:xfrm>
            <a:off x="777240" y="4251960"/>
            <a:ext cx="7589520" cy="502920"/>
          </a:xfrm>
          <a:prstGeom prst="rect">
            <a:avLst/>
          </a:prstGeom>
          <a:noFill/>
          <a:ln/>
        </p:spPr>
        <p:txBody>
          <a:bodyPr wrap="square" lIns="0" tIns="0" rIns="0" bIns="0" rtlCol="0" anchor="ctr"/>
          <a:lstStyle/>
          <a:p>
            <a:pPr marL="0" indent="0">
              <a:buNone/>
            </a:pPr>
            <a:r>
              <a:rPr lang="en-US" sz="1000" dirty="0">
                <a:solidFill>
                  <a:srgbClr val="B0C4DE"/>
                </a:solidFill>
                <a:latin typeface="Calibri" pitchFamily="34" charset="0"/>
                <a:ea typeface="Calibri" pitchFamily="34" charset="-122"/>
                <a:cs typeface="Calibri" pitchFamily="34" charset="-120"/>
              </a:rPr>
              <a:t>Disaster recovery failover  •  Planned scaling events  •  Compliance requirements mandating guaranteed capacity  •  Mission-critical workloads that cannot tolerate InsufficientInstanceCapacity errors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IMAGES</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Amazon Machine Images (AMIs)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Pre-configured templates containing OS, application server, and applications</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12</a:t>
            </a:r>
            <a:endParaRPr lang="en-US" sz="900" dirty="0"/>
          </a:p>
        </p:txBody>
      </p:sp>
      <p:sp>
        <p:nvSpPr>
          <p:cNvPr id="6" name="Shape 4"/>
          <p:cNvSpPr/>
          <p:nvPr/>
        </p:nvSpPr>
        <p:spPr>
          <a:xfrm>
            <a:off x="548640" y="1554480"/>
            <a:ext cx="2606040" cy="2926080"/>
          </a:xfrm>
          <a:prstGeom prst="roundRect">
            <a:avLst>
              <a:gd name="adj" fmla="val 4211"/>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292608" cy="292608"/>
          </a:xfrm>
          <a:prstGeom prst="rect">
            <a:avLst/>
          </a:prstGeom>
        </p:spPr>
      </p:pic>
      <p:sp>
        <p:nvSpPr>
          <p:cNvPr id="8" name="Text 5"/>
          <p:cNvSpPr/>
          <p:nvPr/>
        </p:nvSpPr>
        <p:spPr>
          <a:xfrm>
            <a:off x="1097280" y="1691640"/>
            <a:ext cx="187452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What Is an AMI?</a:t>
            </a:r>
            <a:endParaRPr lang="en-US" sz="1300" dirty="0"/>
          </a:p>
        </p:txBody>
      </p:sp>
      <p:sp>
        <p:nvSpPr>
          <p:cNvPr id="9" name="Text 6"/>
          <p:cNvSpPr/>
          <p:nvPr/>
        </p:nvSpPr>
        <p:spPr>
          <a:xfrm>
            <a:off x="777240" y="2057400"/>
            <a:ext cx="2194560" cy="22860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Template for the root volume (OS + apps)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Launch permissions control who can use the AMI</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Block device mapping defines attached volumes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Region-specific but can be copied cross-region</a:t>
            </a:r>
            <a:endParaRPr lang="en-US" sz="1000" dirty="0"/>
          </a:p>
        </p:txBody>
      </p:sp>
      <p:sp>
        <p:nvSpPr>
          <p:cNvPr id="10" name="Shape 7"/>
          <p:cNvSpPr/>
          <p:nvPr/>
        </p:nvSpPr>
        <p:spPr>
          <a:xfrm>
            <a:off x="3337560" y="1554480"/>
            <a:ext cx="2606040" cy="2926080"/>
          </a:xfrm>
          <a:prstGeom prst="roundRect">
            <a:avLst>
              <a:gd name="adj" fmla="val 4211"/>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3520440" y="1737360"/>
            <a:ext cx="292608" cy="292608"/>
          </a:xfrm>
          <a:prstGeom prst="rect">
            <a:avLst/>
          </a:prstGeom>
        </p:spPr>
      </p:pic>
      <p:sp>
        <p:nvSpPr>
          <p:cNvPr id="12" name="Text 8"/>
          <p:cNvSpPr/>
          <p:nvPr/>
        </p:nvSpPr>
        <p:spPr>
          <a:xfrm>
            <a:off x="3886200" y="1691640"/>
            <a:ext cx="187452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AMI Catalog</a:t>
            </a:r>
            <a:endParaRPr lang="en-US" sz="1300" dirty="0"/>
          </a:p>
        </p:txBody>
      </p:sp>
      <p:sp>
        <p:nvSpPr>
          <p:cNvPr id="13" name="Text 9"/>
          <p:cNvSpPr/>
          <p:nvPr/>
        </p:nvSpPr>
        <p:spPr>
          <a:xfrm>
            <a:off x="3566160" y="2057400"/>
            <a:ext cx="2194560" cy="22860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Browse thousands of pre-built AMIs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Filter by OS, architecture, and provider</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Includes AWS, Marketplace, and Community AMIs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Verified provider badges for trusted images</a:t>
            </a:r>
            <a:endParaRPr lang="en-US" sz="1000" dirty="0"/>
          </a:p>
        </p:txBody>
      </p:sp>
      <p:sp>
        <p:nvSpPr>
          <p:cNvPr id="14" name="Shape 10"/>
          <p:cNvSpPr/>
          <p:nvPr/>
        </p:nvSpPr>
        <p:spPr>
          <a:xfrm>
            <a:off x="6126480" y="1554480"/>
            <a:ext cx="2606040" cy="2926080"/>
          </a:xfrm>
          <a:prstGeom prst="roundRect">
            <a:avLst>
              <a:gd name="adj" fmla="val 4211"/>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6309360" y="1737360"/>
            <a:ext cx="292608" cy="292608"/>
          </a:xfrm>
          <a:prstGeom prst="rect">
            <a:avLst/>
          </a:prstGeom>
        </p:spPr>
      </p:pic>
      <p:sp>
        <p:nvSpPr>
          <p:cNvPr id="16" name="Text 11"/>
          <p:cNvSpPr/>
          <p:nvPr/>
        </p:nvSpPr>
        <p:spPr>
          <a:xfrm>
            <a:off x="6675120" y="1691640"/>
            <a:ext cx="187452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Custom AMIs</a:t>
            </a:r>
            <a:endParaRPr lang="en-US" sz="1300" dirty="0"/>
          </a:p>
        </p:txBody>
      </p:sp>
      <p:sp>
        <p:nvSpPr>
          <p:cNvPr id="17" name="Text 12"/>
          <p:cNvSpPr/>
          <p:nvPr/>
        </p:nvSpPr>
        <p:spPr>
          <a:xfrm>
            <a:off x="6355080" y="2057400"/>
            <a:ext cx="2194560" cy="22860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Create from running instances (golden images)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Include your software, configs, and patches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Use with Launch Templates for consistent deploys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Automate creation with EC2 Image Builder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HANDS-ON LAB</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Lab: Working with AMIs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Create a custom AMI and launch instances from it</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13</a:t>
            </a:r>
            <a:endParaRPr lang="en-US" sz="900" dirty="0"/>
          </a:p>
        </p:txBody>
      </p:sp>
      <p:sp>
        <p:nvSpPr>
          <p:cNvPr id="6" name="Shape 4"/>
          <p:cNvSpPr/>
          <p:nvPr/>
        </p:nvSpPr>
        <p:spPr>
          <a:xfrm>
            <a:off x="548640" y="1554480"/>
            <a:ext cx="3840480" cy="1280160"/>
          </a:xfrm>
          <a:prstGeom prst="roundRect">
            <a:avLst>
              <a:gd name="adj" fmla="val 7143"/>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685800" y="164592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1</a:t>
            </a:r>
            <a:endParaRPr lang="en-US" sz="1600" dirty="0"/>
          </a:p>
        </p:txBody>
      </p:sp>
      <p:sp>
        <p:nvSpPr>
          <p:cNvPr id="8" name="Text 6"/>
          <p:cNvSpPr/>
          <p:nvPr/>
        </p:nvSpPr>
        <p:spPr>
          <a:xfrm>
            <a:off x="1097280" y="164592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Launch a Base Instance</a:t>
            </a:r>
            <a:endParaRPr lang="en-US" sz="1100" dirty="0"/>
          </a:p>
        </p:txBody>
      </p:sp>
      <p:sp>
        <p:nvSpPr>
          <p:cNvPr id="9" name="Text 7"/>
          <p:cNvSpPr/>
          <p:nvPr/>
        </p:nvSpPr>
        <p:spPr>
          <a:xfrm>
            <a:off x="1097280" y="1920240"/>
            <a:ext cx="3108960" cy="77724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Launch an Amazon Linux 2023 instance. Install httpd, configure a sample web page, and verify it works via the public IP address.</a:t>
            </a:r>
            <a:endParaRPr lang="en-US" sz="900" dirty="0"/>
          </a:p>
        </p:txBody>
      </p:sp>
      <p:sp>
        <p:nvSpPr>
          <p:cNvPr id="10" name="Shape 8"/>
          <p:cNvSpPr/>
          <p:nvPr/>
        </p:nvSpPr>
        <p:spPr>
          <a:xfrm>
            <a:off x="4754880" y="1554480"/>
            <a:ext cx="3840480" cy="1280160"/>
          </a:xfrm>
          <a:prstGeom prst="roundRect">
            <a:avLst>
              <a:gd name="adj" fmla="val 7143"/>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1" name="Text 9"/>
          <p:cNvSpPr/>
          <p:nvPr/>
        </p:nvSpPr>
        <p:spPr>
          <a:xfrm>
            <a:off x="4892040" y="164592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2</a:t>
            </a:r>
            <a:endParaRPr lang="en-US" sz="1600" dirty="0"/>
          </a:p>
        </p:txBody>
      </p:sp>
      <p:sp>
        <p:nvSpPr>
          <p:cNvPr id="12" name="Text 10"/>
          <p:cNvSpPr/>
          <p:nvPr/>
        </p:nvSpPr>
        <p:spPr>
          <a:xfrm>
            <a:off x="5303520" y="164592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Create a Custom AMI</a:t>
            </a:r>
            <a:endParaRPr lang="en-US" sz="1100" dirty="0"/>
          </a:p>
        </p:txBody>
      </p:sp>
      <p:sp>
        <p:nvSpPr>
          <p:cNvPr id="13" name="Text 11"/>
          <p:cNvSpPr/>
          <p:nvPr/>
        </p:nvSpPr>
        <p:spPr>
          <a:xfrm>
            <a:off x="5303520" y="1920240"/>
            <a:ext cx="3108960" cy="77724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Select the running instance &gt; Actions &gt; Image &gt; Create Image. Name it 'WebServer-Golden-v1'. Wait for the AMI status to become 'available'.</a:t>
            </a:r>
            <a:endParaRPr lang="en-US" sz="900" dirty="0"/>
          </a:p>
        </p:txBody>
      </p:sp>
      <p:sp>
        <p:nvSpPr>
          <p:cNvPr id="14" name="Shape 12"/>
          <p:cNvSpPr/>
          <p:nvPr/>
        </p:nvSpPr>
        <p:spPr>
          <a:xfrm>
            <a:off x="548640" y="3017520"/>
            <a:ext cx="3840480" cy="1554480"/>
          </a:xfrm>
          <a:prstGeom prst="roundRect">
            <a:avLst>
              <a:gd name="adj" fmla="val 5882"/>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5" name="Text 13"/>
          <p:cNvSpPr/>
          <p:nvPr/>
        </p:nvSpPr>
        <p:spPr>
          <a:xfrm>
            <a:off x="685800" y="310896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3</a:t>
            </a:r>
            <a:endParaRPr lang="en-US" sz="1600" dirty="0"/>
          </a:p>
        </p:txBody>
      </p:sp>
      <p:sp>
        <p:nvSpPr>
          <p:cNvPr id="16" name="Text 14"/>
          <p:cNvSpPr/>
          <p:nvPr/>
        </p:nvSpPr>
        <p:spPr>
          <a:xfrm>
            <a:off x="1097280" y="310896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Launch from Custom AMI</a:t>
            </a:r>
            <a:endParaRPr lang="en-US" sz="1100" dirty="0"/>
          </a:p>
        </p:txBody>
      </p:sp>
      <p:sp>
        <p:nvSpPr>
          <p:cNvPr id="17" name="Text 15"/>
          <p:cNvSpPr/>
          <p:nvPr/>
        </p:nvSpPr>
        <p:spPr>
          <a:xfrm>
            <a:off x="1097280" y="3383280"/>
            <a:ext cx="3108960" cy="105156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Use your new AMI to launch a second instance. Verify the web server and sample page are pre-installed without any manual setup.</a:t>
            </a:r>
            <a:endParaRPr lang="en-US" sz="900" dirty="0"/>
          </a:p>
        </p:txBody>
      </p:sp>
      <p:sp>
        <p:nvSpPr>
          <p:cNvPr id="18" name="Shape 16"/>
          <p:cNvSpPr/>
          <p:nvPr/>
        </p:nvSpPr>
        <p:spPr>
          <a:xfrm>
            <a:off x="4754880" y="3017520"/>
            <a:ext cx="3840480" cy="1554480"/>
          </a:xfrm>
          <a:prstGeom prst="roundRect">
            <a:avLst>
              <a:gd name="adj" fmla="val 5882"/>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9" name="Text 17"/>
          <p:cNvSpPr/>
          <p:nvPr/>
        </p:nvSpPr>
        <p:spPr>
          <a:xfrm>
            <a:off x="4892040" y="310896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4</a:t>
            </a:r>
            <a:endParaRPr lang="en-US" sz="1600" dirty="0"/>
          </a:p>
        </p:txBody>
      </p:sp>
      <p:sp>
        <p:nvSpPr>
          <p:cNvPr id="20" name="Text 18"/>
          <p:cNvSpPr/>
          <p:nvPr/>
        </p:nvSpPr>
        <p:spPr>
          <a:xfrm>
            <a:off x="5303520" y="310896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Explore the AMI Catalog</a:t>
            </a:r>
            <a:endParaRPr lang="en-US" sz="1100" dirty="0"/>
          </a:p>
        </p:txBody>
      </p:sp>
      <p:sp>
        <p:nvSpPr>
          <p:cNvPr id="21" name="Text 19"/>
          <p:cNvSpPr/>
          <p:nvPr/>
        </p:nvSpPr>
        <p:spPr>
          <a:xfrm>
            <a:off x="5303520" y="3383280"/>
            <a:ext cx="3108960" cy="105156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Navigate to EC2 &gt; AMIs &gt; AMI Catalog. Search for 'Ubuntu 22.04'. Compare Quick Start, Marketplace, and Community tabs.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ELASTIC BLOCK STORE</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EBS Volumes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Persistent block-level storage volumes for EC2 instances</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14</a:t>
            </a:r>
            <a:endParaRPr lang="en-US" sz="900" dirty="0"/>
          </a:p>
        </p:txBody>
      </p:sp>
      <p:sp>
        <p:nvSpPr>
          <p:cNvPr id="6" name="Shape 4"/>
          <p:cNvSpPr/>
          <p:nvPr/>
        </p:nvSpPr>
        <p:spPr>
          <a:xfrm>
            <a:off x="548640" y="1554480"/>
            <a:ext cx="1874520" cy="2377440"/>
          </a:xfrm>
          <a:prstGeom prst="roundRect">
            <a:avLst>
              <a:gd name="adj" fmla="val 4878"/>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731520" y="1664208"/>
            <a:ext cx="1508760" cy="274320"/>
          </a:xfrm>
          <a:prstGeom prst="rect">
            <a:avLst/>
          </a:prstGeom>
          <a:noFill/>
          <a:ln/>
        </p:spPr>
        <p:txBody>
          <a:bodyPr wrap="square" lIns="0" tIns="0" rIns="0" bIns="0" rtlCol="0" anchor="ctr"/>
          <a:lstStyle/>
          <a:p>
            <a:pPr marL="0" indent="0">
              <a:buNone/>
            </a:pPr>
            <a:r>
              <a:rPr lang="en-US" sz="1200" b="1" dirty="0">
                <a:solidFill>
                  <a:srgbClr val="00D4FF"/>
                </a:solidFill>
                <a:latin typeface="Trebuchet MS" pitchFamily="34" charset="0"/>
                <a:ea typeface="Trebuchet MS" pitchFamily="34" charset="-122"/>
                <a:cs typeface="Trebuchet MS" pitchFamily="34" charset="-120"/>
              </a:rPr>
              <a:t>gp3 (General Purpose)</a:t>
            </a:r>
            <a:endParaRPr lang="en-US" sz="1200" dirty="0"/>
          </a:p>
        </p:txBody>
      </p:sp>
      <p:sp>
        <p:nvSpPr>
          <p:cNvPr id="8" name="Text 6"/>
          <p:cNvSpPr/>
          <p:nvPr/>
        </p:nvSpPr>
        <p:spPr>
          <a:xfrm>
            <a:off x="731520" y="1938528"/>
            <a:ext cx="1508760" cy="18745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Baseline 3,000 IOPS, 125 MB/s. Scale up to 16,000 IOPS. Best for boot volumes and dev environments.</a:t>
            </a:r>
            <a:endParaRPr lang="en-US" sz="1000" dirty="0"/>
          </a:p>
        </p:txBody>
      </p:sp>
      <p:sp>
        <p:nvSpPr>
          <p:cNvPr id="9" name="Shape 7"/>
          <p:cNvSpPr/>
          <p:nvPr/>
        </p:nvSpPr>
        <p:spPr>
          <a:xfrm>
            <a:off x="2606040" y="1554480"/>
            <a:ext cx="1874520" cy="2377440"/>
          </a:xfrm>
          <a:prstGeom prst="roundRect">
            <a:avLst>
              <a:gd name="adj" fmla="val 4878"/>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10" name="Text 8"/>
          <p:cNvSpPr/>
          <p:nvPr/>
        </p:nvSpPr>
        <p:spPr>
          <a:xfrm>
            <a:off x="2788920" y="1664208"/>
            <a:ext cx="1508760" cy="274320"/>
          </a:xfrm>
          <a:prstGeom prst="rect">
            <a:avLst/>
          </a:prstGeom>
          <a:noFill/>
          <a:ln/>
        </p:spPr>
        <p:txBody>
          <a:bodyPr wrap="square" lIns="0" tIns="0" rIns="0" bIns="0" rtlCol="0" anchor="ctr"/>
          <a:lstStyle/>
          <a:p>
            <a:pPr marL="0" indent="0">
              <a:buNone/>
            </a:pPr>
            <a:r>
              <a:rPr lang="en-US" sz="1200" b="1" dirty="0">
                <a:solidFill>
                  <a:srgbClr val="BB86FC"/>
                </a:solidFill>
                <a:latin typeface="Trebuchet MS" pitchFamily="34" charset="0"/>
                <a:ea typeface="Trebuchet MS" pitchFamily="34" charset="-122"/>
                <a:cs typeface="Trebuchet MS" pitchFamily="34" charset="-120"/>
              </a:rPr>
              <a:t>io2 Block Express</a:t>
            </a:r>
            <a:endParaRPr lang="en-US" sz="1200" dirty="0"/>
          </a:p>
        </p:txBody>
      </p:sp>
      <p:sp>
        <p:nvSpPr>
          <p:cNvPr id="11" name="Text 9"/>
          <p:cNvSpPr/>
          <p:nvPr/>
        </p:nvSpPr>
        <p:spPr>
          <a:xfrm>
            <a:off x="2788920" y="1938528"/>
            <a:ext cx="1508760" cy="18745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Up to 256,000 IOPS, 4,000 MB/s. 99.999% durability. For mission-critical databases.</a:t>
            </a:r>
            <a:endParaRPr lang="en-US" sz="1000" dirty="0"/>
          </a:p>
        </p:txBody>
      </p:sp>
      <p:sp>
        <p:nvSpPr>
          <p:cNvPr id="12" name="Shape 10"/>
          <p:cNvSpPr/>
          <p:nvPr/>
        </p:nvSpPr>
        <p:spPr>
          <a:xfrm>
            <a:off x="4663440" y="1554480"/>
            <a:ext cx="1874520" cy="2377440"/>
          </a:xfrm>
          <a:prstGeom prst="roundRect">
            <a:avLst>
              <a:gd name="adj" fmla="val 4878"/>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13" name="Text 11"/>
          <p:cNvSpPr/>
          <p:nvPr/>
        </p:nvSpPr>
        <p:spPr>
          <a:xfrm>
            <a:off x="4846320" y="1664208"/>
            <a:ext cx="1508760" cy="274320"/>
          </a:xfrm>
          <a:prstGeom prst="rect">
            <a:avLst/>
          </a:prstGeom>
          <a:noFill/>
          <a:ln/>
        </p:spPr>
        <p:txBody>
          <a:bodyPr wrap="square" lIns="0" tIns="0" rIns="0" bIns="0" rtlCol="0" anchor="ctr"/>
          <a:lstStyle/>
          <a:p>
            <a:pPr marL="0" indent="0">
              <a:buNone/>
            </a:pPr>
            <a:r>
              <a:rPr lang="en-US" sz="1200" b="1" dirty="0">
                <a:solidFill>
                  <a:srgbClr val="FF9800"/>
                </a:solidFill>
                <a:latin typeface="Trebuchet MS" pitchFamily="34" charset="0"/>
                <a:ea typeface="Trebuchet MS" pitchFamily="34" charset="-122"/>
                <a:cs typeface="Trebuchet MS" pitchFamily="34" charset="-120"/>
              </a:rPr>
              <a:t>st1 (Throughput)</a:t>
            </a:r>
            <a:endParaRPr lang="en-US" sz="1200" dirty="0"/>
          </a:p>
        </p:txBody>
      </p:sp>
      <p:sp>
        <p:nvSpPr>
          <p:cNvPr id="14" name="Text 12"/>
          <p:cNvSpPr/>
          <p:nvPr/>
        </p:nvSpPr>
        <p:spPr>
          <a:xfrm>
            <a:off x="4846320" y="1938528"/>
            <a:ext cx="1508760" cy="18745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Up to 500 MB/s throughput. Low cost for frequently accessed, large sequential workloads.</a:t>
            </a:r>
            <a:endParaRPr lang="en-US" sz="1000" dirty="0"/>
          </a:p>
        </p:txBody>
      </p:sp>
      <p:sp>
        <p:nvSpPr>
          <p:cNvPr id="15" name="Shape 13"/>
          <p:cNvSpPr/>
          <p:nvPr/>
        </p:nvSpPr>
        <p:spPr>
          <a:xfrm>
            <a:off x="6720840" y="1554480"/>
            <a:ext cx="1874520" cy="2377440"/>
          </a:xfrm>
          <a:prstGeom prst="roundRect">
            <a:avLst>
              <a:gd name="adj" fmla="val 4878"/>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16" name="Text 14"/>
          <p:cNvSpPr/>
          <p:nvPr/>
        </p:nvSpPr>
        <p:spPr>
          <a:xfrm>
            <a:off x="6903720" y="1664208"/>
            <a:ext cx="1508760" cy="274320"/>
          </a:xfrm>
          <a:prstGeom prst="rect">
            <a:avLst/>
          </a:prstGeom>
          <a:noFill/>
          <a:ln/>
        </p:spPr>
        <p:txBody>
          <a:bodyPr wrap="square" lIns="0" tIns="0" rIns="0" bIns="0" rtlCol="0" anchor="ctr"/>
          <a:lstStyle/>
          <a:p>
            <a:pPr marL="0" indent="0">
              <a:buNone/>
            </a:pPr>
            <a:r>
              <a:rPr lang="en-US" sz="1200" b="1" dirty="0">
                <a:solidFill>
                  <a:srgbClr val="00E676"/>
                </a:solidFill>
                <a:latin typeface="Trebuchet MS" pitchFamily="34" charset="0"/>
                <a:ea typeface="Trebuchet MS" pitchFamily="34" charset="-122"/>
                <a:cs typeface="Trebuchet MS" pitchFamily="34" charset="-120"/>
              </a:rPr>
              <a:t>sc1 (Cold HDD)</a:t>
            </a:r>
            <a:endParaRPr lang="en-US" sz="1200" dirty="0"/>
          </a:p>
        </p:txBody>
      </p:sp>
      <p:sp>
        <p:nvSpPr>
          <p:cNvPr id="17" name="Text 15"/>
          <p:cNvSpPr/>
          <p:nvPr/>
        </p:nvSpPr>
        <p:spPr>
          <a:xfrm>
            <a:off x="6903720" y="1938528"/>
            <a:ext cx="1508760" cy="18745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Lowest cost. Up to 250 MB/s. For infrequently accessed data archives and backups.</a:t>
            </a:r>
            <a:endParaRPr lang="en-US" sz="1000" dirty="0"/>
          </a:p>
        </p:txBody>
      </p:sp>
      <p:sp>
        <p:nvSpPr>
          <p:cNvPr id="18" name="Shape 16"/>
          <p:cNvSpPr/>
          <p:nvPr/>
        </p:nvSpPr>
        <p:spPr>
          <a:xfrm>
            <a:off x="548640" y="4114800"/>
            <a:ext cx="8046720" cy="731520"/>
          </a:xfrm>
          <a:prstGeom prst="roundRect">
            <a:avLst>
              <a:gd name="adj" fmla="val 10000"/>
            </a:avLst>
          </a:prstGeom>
          <a:solidFill>
            <a:srgbClr val="162B4A"/>
          </a:solidFill>
          <a:ln/>
        </p:spPr>
        <p:txBody>
          <a:bodyPr/>
          <a:lstStyle/>
          <a:p>
            <a:endParaRPr lang="en-US"/>
          </a:p>
        </p:txBody>
      </p:sp>
      <p:sp>
        <p:nvSpPr>
          <p:cNvPr id="19" name="Text 17"/>
          <p:cNvSpPr/>
          <p:nvPr/>
        </p:nvSpPr>
        <p:spPr>
          <a:xfrm>
            <a:off x="777240" y="4160520"/>
            <a:ext cx="7589520" cy="640080"/>
          </a:xfrm>
          <a:prstGeom prst="rect">
            <a:avLst/>
          </a:prstGeom>
          <a:noFill/>
          <a:ln/>
        </p:spPr>
        <p:txBody>
          <a:bodyPr wrap="square" lIns="0" tIns="0" rIns="0" bIns="0" rtlCol="0" anchor="ctr"/>
          <a:lstStyle/>
          <a:p>
            <a:pPr marL="0" indent="0">
              <a:buNone/>
            </a:pPr>
            <a:r>
              <a:rPr lang="en-US" sz="1000" dirty="0">
                <a:solidFill>
                  <a:srgbClr val="B0C4DE"/>
                </a:solidFill>
                <a:latin typeface="Calibri" pitchFamily="34" charset="0"/>
                <a:ea typeface="Calibri" pitchFamily="34" charset="-122"/>
                <a:cs typeface="Calibri" pitchFamily="34" charset="-120"/>
              </a:rPr>
              <a:t>EBS volumes persist independently from instances. They can be detached, reattached, and their type/size can be modified without downtime using Elastic Volumes.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ELASTIC BLOCK STORE</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EBS Snapshots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Point-in-time backups of your EBS volumes stored in Amazon S3</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15</a:t>
            </a:r>
            <a:endParaRPr lang="en-US" sz="900" dirty="0"/>
          </a:p>
        </p:txBody>
      </p:sp>
      <p:sp>
        <p:nvSpPr>
          <p:cNvPr id="6" name="Shape 4"/>
          <p:cNvSpPr/>
          <p:nvPr/>
        </p:nvSpPr>
        <p:spPr>
          <a:xfrm>
            <a:off x="548640" y="1554480"/>
            <a:ext cx="3840480" cy="2103120"/>
          </a:xfrm>
          <a:prstGeom prst="roundRect">
            <a:avLst>
              <a:gd name="adj" fmla="val 5217"/>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292608" cy="292608"/>
          </a:xfrm>
          <a:prstGeom prst="rect">
            <a:avLst/>
          </a:prstGeom>
        </p:spPr>
      </p:pic>
      <p:sp>
        <p:nvSpPr>
          <p:cNvPr id="8" name="Text 5"/>
          <p:cNvSpPr/>
          <p:nvPr/>
        </p:nvSpPr>
        <p:spPr>
          <a:xfrm>
            <a:off x="109728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Snapshot Fundamentals</a:t>
            </a:r>
            <a:endParaRPr lang="en-US" sz="1300" dirty="0"/>
          </a:p>
        </p:txBody>
      </p:sp>
      <p:sp>
        <p:nvSpPr>
          <p:cNvPr id="9" name="Text 6"/>
          <p:cNvSpPr/>
          <p:nvPr/>
        </p:nvSpPr>
        <p:spPr>
          <a:xfrm>
            <a:off x="777240" y="2057400"/>
            <a:ext cx="342900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Incremental backups: only changed blocks are stored</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Stored redundantly across multiple AZs in S3</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Create new volumes from snapshots in any AZ</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Copy snapshots across regions for disaster recovery</a:t>
            </a:r>
            <a:endParaRPr lang="en-US" sz="1000" dirty="0"/>
          </a:p>
        </p:txBody>
      </p:sp>
      <p:sp>
        <p:nvSpPr>
          <p:cNvPr id="10" name="Shape 7"/>
          <p:cNvSpPr/>
          <p:nvPr/>
        </p:nvSpPr>
        <p:spPr>
          <a:xfrm>
            <a:off x="4754880" y="1554480"/>
            <a:ext cx="3840480" cy="2103120"/>
          </a:xfrm>
          <a:prstGeom prst="roundRect">
            <a:avLst>
              <a:gd name="adj" fmla="val 5217"/>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737360"/>
            <a:ext cx="292608" cy="292608"/>
          </a:xfrm>
          <a:prstGeom prst="rect">
            <a:avLst/>
          </a:prstGeom>
        </p:spPr>
      </p:pic>
      <p:sp>
        <p:nvSpPr>
          <p:cNvPr id="12" name="Text 8"/>
          <p:cNvSpPr/>
          <p:nvPr/>
        </p:nvSpPr>
        <p:spPr>
          <a:xfrm>
            <a:off x="530352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Lifecycle Manager</a:t>
            </a:r>
            <a:endParaRPr lang="en-US" sz="1300" dirty="0"/>
          </a:p>
        </p:txBody>
      </p:sp>
      <p:sp>
        <p:nvSpPr>
          <p:cNvPr id="13" name="Text 9"/>
          <p:cNvSpPr/>
          <p:nvPr/>
        </p:nvSpPr>
        <p:spPr>
          <a:xfrm>
            <a:off x="4983480" y="2057400"/>
            <a:ext cx="342900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Automate snapshot creation and deletion schedules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Define policies by tags, frequency, and retention</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Cross-region copy policies for DR strategies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Reduces manual effort and prevents snapshot sprawl</a:t>
            </a:r>
            <a:endParaRPr lang="en-US" sz="1000" dirty="0"/>
          </a:p>
        </p:txBody>
      </p:sp>
      <p:sp>
        <p:nvSpPr>
          <p:cNvPr id="14" name="Shape 10"/>
          <p:cNvSpPr/>
          <p:nvPr/>
        </p:nvSpPr>
        <p:spPr>
          <a:xfrm>
            <a:off x="548640" y="3840480"/>
            <a:ext cx="8046720" cy="1005840"/>
          </a:xfrm>
          <a:prstGeom prst="roundRect">
            <a:avLst>
              <a:gd name="adj" fmla="val 9091"/>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15" name="Text 11"/>
          <p:cNvSpPr/>
          <p:nvPr/>
        </p:nvSpPr>
        <p:spPr>
          <a:xfrm>
            <a:off x="731520" y="3950208"/>
            <a:ext cx="7680960" cy="274320"/>
          </a:xfrm>
          <a:prstGeom prst="rect">
            <a:avLst/>
          </a:prstGeom>
          <a:noFill/>
          <a:ln/>
        </p:spPr>
        <p:txBody>
          <a:bodyPr wrap="square" lIns="0" tIns="0" rIns="0" bIns="0" rtlCol="0" anchor="ctr"/>
          <a:lstStyle/>
          <a:p>
            <a:pPr marL="0" indent="0">
              <a:buNone/>
            </a:pPr>
            <a:r>
              <a:rPr lang="en-US" sz="1200" b="1" dirty="0">
                <a:solidFill>
                  <a:srgbClr val="BB86FC"/>
                </a:solidFill>
                <a:latin typeface="Trebuchet MS" pitchFamily="34" charset="0"/>
                <a:ea typeface="Trebuchet MS" pitchFamily="34" charset="-122"/>
                <a:cs typeface="Trebuchet MS" pitchFamily="34" charset="-120"/>
              </a:rPr>
              <a:t>Fast Snapshot Restore (FSR)</a:t>
            </a:r>
            <a:endParaRPr lang="en-US" sz="1200" dirty="0"/>
          </a:p>
        </p:txBody>
      </p:sp>
      <p:sp>
        <p:nvSpPr>
          <p:cNvPr id="16" name="Text 12"/>
          <p:cNvSpPr/>
          <p:nvPr/>
        </p:nvSpPr>
        <p:spPr>
          <a:xfrm>
            <a:off x="731520" y="4224528"/>
            <a:ext cx="7680960" cy="5029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Eliminates initialization latency when creating volumes from snapshots. Volumes are instantly ready at full performance. Enable per-AZ — billed hourly per AZ per snapshot.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HANDS-ON LAB</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Lab: EBS Volumes &amp; Snapshots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Create, attach, snapshot, and restore EBS volumes</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16</a:t>
            </a:r>
            <a:endParaRPr lang="en-US" sz="900" dirty="0"/>
          </a:p>
        </p:txBody>
      </p:sp>
      <p:sp>
        <p:nvSpPr>
          <p:cNvPr id="6" name="Shape 4"/>
          <p:cNvSpPr/>
          <p:nvPr/>
        </p:nvSpPr>
        <p:spPr>
          <a:xfrm>
            <a:off x="548640" y="1554480"/>
            <a:ext cx="3840480" cy="1280160"/>
          </a:xfrm>
          <a:prstGeom prst="roundRect">
            <a:avLst>
              <a:gd name="adj" fmla="val 7143"/>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685800" y="164592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1</a:t>
            </a:r>
            <a:endParaRPr lang="en-US" sz="1600" dirty="0"/>
          </a:p>
        </p:txBody>
      </p:sp>
      <p:sp>
        <p:nvSpPr>
          <p:cNvPr id="8" name="Text 6"/>
          <p:cNvSpPr/>
          <p:nvPr/>
        </p:nvSpPr>
        <p:spPr>
          <a:xfrm>
            <a:off x="1097280" y="164592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Create &amp; Attach an EBS Volume</a:t>
            </a:r>
            <a:endParaRPr lang="en-US" sz="1100" dirty="0"/>
          </a:p>
        </p:txBody>
      </p:sp>
      <p:sp>
        <p:nvSpPr>
          <p:cNvPr id="9" name="Text 7"/>
          <p:cNvSpPr/>
          <p:nvPr/>
        </p:nvSpPr>
        <p:spPr>
          <a:xfrm>
            <a:off x="1097280" y="1920240"/>
            <a:ext cx="3108960" cy="77724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Create a 10 GB gp3 volume in the same AZ as your instance. Attach it, then SSH in to format (mkfs) and mount the volume.</a:t>
            </a:r>
            <a:endParaRPr lang="en-US" sz="900" dirty="0"/>
          </a:p>
        </p:txBody>
      </p:sp>
      <p:sp>
        <p:nvSpPr>
          <p:cNvPr id="10" name="Shape 8"/>
          <p:cNvSpPr/>
          <p:nvPr/>
        </p:nvSpPr>
        <p:spPr>
          <a:xfrm>
            <a:off x="4754880" y="1554480"/>
            <a:ext cx="3840480" cy="1280160"/>
          </a:xfrm>
          <a:prstGeom prst="roundRect">
            <a:avLst>
              <a:gd name="adj" fmla="val 7143"/>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1" name="Text 9"/>
          <p:cNvSpPr/>
          <p:nvPr/>
        </p:nvSpPr>
        <p:spPr>
          <a:xfrm>
            <a:off x="4892040" y="164592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2</a:t>
            </a:r>
            <a:endParaRPr lang="en-US" sz="1600" dirty="0"/>
          </a:p>
        </p:txBody>
      </p:sp>
      <p:sp>
        <p:nvSpPr>
          <p:cNvPr id="12" name="Text 10"/>
          <p:cNvSpPr/>
          <p:nvPr/>
        </p:nvSpPr>
        <p:spPr>
          <a:xfrm>
            <a:off x="5303520" y="164592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Write Data &amp; Create Snapshot</a:t>
            </a:r>
            <a:endParaRPr lang="en-US" sz="1100" dirty="0"/>
          </a:p>
        </p:txBody>
      </p:sp>
      <p:sp>
        <p:nvSpPr>
          <p:cNvPr id="13" name="Text 11"/>
          <p:cNvSpPr/>
          <p:nvPr/>
        </p:nvSpPr>
        <p:spPr>
          <a:xfrm>
            <a:off x="5303520" y="1920240"/>
            <a:ext cx="3108960" cy="77724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Write sample files to the mounted volume. Create a snapshot from the EC2 console. Monitor snapshot progress until completed.</a:t>
            </a:r>
            <a:endParaRPr lang="en-US" sz="900" dirty="0"/>
          </a:p>
        </p:txBody>
      </p:sp>
      <p:sp>
        <p:nvSpPr>
          <p:cNvPr id="14" name="Shape 12"/>
          <p:cNvSpPr/>
          <p:nvPr/>
        </p:nvSpPr>
        <p:spPr>
          <a:xfrm>
            <a:off x="548640" y="3017520"/>
            <a:ext cx="3840480" cy="1554480"/>
          </a:xfrm>
          <a:prstGeom prst="roundRect">
            <a:avLst>
              <a:gd name="adj" fmla="val 5882"/>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5" name="Text 13"/>
          <p:cNvSpPr/>
          <p:nvPr/>
        </p:nvSpPr>
        <p:spPr>
          <a:xfrm>
            <a:off x="685800" y="310896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3</a:t>
            </a:r>
            <a:endParaRPr lang="en-US" sz="1600" dirty="0"/>
          </a:p>
        </p:txBody>
      </p:sp>
      <p:sp>
        <p:nvSpPr>
          <p:cNvPr id="16" name="Text 14"/>
          <p:cNvSpPr/>
          <p:nvPr/>
        </p:nvSpPr>
        <p:spPr>
          <a:xfrm>
            <a:off x="1097280" y="310896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Restore from Snapshot</a:t>
            </a:r>
            <a:endParaRPr lang="en-US" sz="1100" dirty="0"/>
          </a:p>
        </p:txBody>
      </p:sp>
      <p:sp>
        <p:nvSpPr>
          <p:cNvPr id="17" name="Text 15"/>
          <p:cNvSpPr/>
          <p:nvPr/>
        </p:nvSpPr>
        <p:spPr>
          <a:xfrm>
            <a:off x="1097280" y="3383280"/>
            <a:ext cx="3108960" cy="105156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Create a new volume from the snapshot. Attach it to the same or different instance. Mount and verify all data is intact.</a:t>
            </a:r>
            <a:endParaRPr lang="en-US" sz="900" dirty="0"/>
          </a:p>
        </p:txBody>
      </p:sp>
      <p:sp>
        <p:nvSpPr>
          <p:cNvPr id="18" name="Shape 16"/>
          <p:cNvSpPr/>
          <p:nvPr/>
        </p:nvSpPr>
        <p:spPr>
          <a:xfrm>
            <a:off x="4754880" y="3017520"/>
            <a:ext cx="3840480" cy="1554480"/>
          </a:xfrm>
          <a:prstGeom prst="roundRect">
            <a:avLst>
              <a:gd name="adj" fmla="val 5882"/>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9" name="Text 17"/>
          <p:cNvSpPr/>
          <p:nvPr/>
        </p:nvSpPr>
        <p:spPr>
          <a:xfrm>
            <a:off x="4892040" y="310896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4</a:t>
            </a:r>
            <a:endParaRPr lang="en-US" sz="1600" dirty="0"/>
          </a:p>
        </p:txBody>
      </p:sp>
      <p:sp>
        <p:nvSpPr>
          <p:cNvPr id="20" name="Text 18"/>
          <p:cNvSpPr/>
          <p:nvPr/>
        </p:nvSpPr>
        <p:spPr>
          <a:xfrm>
            <a:off x="5303520" y="310896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Set Up Lifecycle Policy</a:t>
            </a:r>
            <a:endParaRPr lang="en-US" sz="1100" dirty="0"/>
          </a:p>
        </p:txBody>
      </p:sp>
      <p:sp>
        <p:nvSpPr>
          <p:cNvPr id="21" name="Text 19"/>
          <p:cNvSpPr/>
          <p:nvPr/>
        </p:nvSpPr>
        <p:spPr>
          <a:xfrm>
            <a:off x="5303520" y="3383280"/>
            <a:ext cx="3108960" cy="105156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Navigate to Lifecycle Manager. Create a policy targeting volumes tagged 'Backup=true'. Set daily snapshots with 7-day retention.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SECURITY &amp; NETWORKING</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Security Groups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Virtual firewalls controlling inbound and outbound traffic for EC2 instances</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17</a:t>
            </a:r>
            <a:endParaRPr lang="en-US" sz="900" dirty="0"/>
          </a:p>
        </p:txBody>
      </p:sp>
      <p:sp>
        <p:nvSpPr>
          <p:cNvPr id="6" name="Shape 4"/>
          <p:cNvSpPr/>
          <p:nvPr/>
        </p:nvSpPr>
        <p:spPr>
          <a:xfrm>
            <a:off x="548640" y="1554480"/>
            <a:ext cx="3840480" cy="2103120"/>
          </a:xfrm>
          <a:prstGeom prst="roundRect">
            <a:avLst>
              <a:gd name="adj" fmla="val 5217"/>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292608" cy="292608"/>
          </a:xfrm>
          <a:prstGeom prst="rect">
            <a:avLst/>
          </a:prstGeom>
        </p:spPr>
      </p:pic>
      <p:sp>
        <p:nvSpPr>
          <p:cNvPr id="8" name="Text 5"/>
          <p:cNvSpPr/>
          <p:nvPr/>
        </p:nvSpPr>
        <p:spPr>
          <a:xfrm>
            <a:off x="109728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How Security Groups Work</a:t>
            </a:r>
            <a:endParaRPr lang="en-US" sz="1300" dirty="0"/>
          </a:p>
        </p:txBody>
      </p:sp>
      <p:sp>
        <p:nvSpPr>
          <p:cNvPr id="9" name="Text 6"/>
          <p:cNvSpPr/>
          <p:nvPr/>
        </p:nvSpPr>
        <p:spPr>
          <a:xfrm>
            <a:off x="777240" y="2057400"/>
            <a:ext cx="342900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Stateful: return traffic is automatically allowed</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Allow rules only — you cannot create deny rules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Evaluate all rules before deciding to allow traffic</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Applied at the instance (ENI) level, not subnet</a:t>
            </a:r>
            <a:endParaRPr lang="en-US" sz="1000" dirty="0"/>
          </a:p>
        </p:txBody>
      </p:sp>
      <p:sp>
        <p:nvSpPr>
          <p:cNvPr id="10" name="Shape 7"/>
          <p:cNvSpPr/>
          <p:nvPr/>
        </p:nvSpPr>
        <p:spPr>
          <a:xfrm>
            <a:off x="4754880" y="1554480"/>
            <a:ext cx="3840480" cy="2103120"/>
          </a:xfrm>
          <a:prstGeom prst="roundRect">
            <a:avLst>
              <a:gd name="adj" fmla="val 5217"/>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737360"/>
            <a:ext cx="292608" cy="292608"/>
          </a:xfrm>
          <a:prstGeom prst="rect">
            <a:avLst/>
          </a:prstGeom>
        </p:spPr>
      </p:pic>
      <p:sp>
        <p:nvSpPr>
          <p:cNvPr id="12" name="Text 8"/>
          <p:cNvSpPr/>
          <p:nvPr/>
        </p:nvSpPr>
        <p:spPr>
          <a:xfrm>
            <a:off x="530352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Best Practices</a:t>
            </a:r>
            <a:endParaRPr lang="en-US" sz="1300" dirty="0"/>
          </a:p>
        </p:txBody>
      </p:sp>
      <p:sp>
        <p:nvSpPr>
          <p:cNvPr id="13" name="Text 9"/>
          <p:cNvSpPr/>
          <p:nvPr/>
        </p:nvSpPr>
        <p:spPr>
          <a:xfrm>
            <a:off x="4983480" y="2057400"/>
            <a:ext cx="3429000" cy="14630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Follow least-privilege: open only required ports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Reference other Security Groups instead of IP ranges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Use separate groups per tier (web, app, database)</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Tag and document every rule's purpose</a:t>
            </a:r>
            <a:endParaRPr lang="en-US" sz="1000" dirty="0"/>
          </a:p>
        </p:txBody>
      </p:sp>
      <p:sp>
        <p:nvSpPr>
          <p:cNvPr id="14" name="Shape 10"/>
          <p:cNvSpPr/>
          <p:nvPr/>
        </p:nvSpPr>
        <p:spPr>
          <a:xfrm>
            <a:off x="548640" y="3794760"/>
            <a:ext cx="8046720" cy="1097280"/>
          </a:xfrm>
          <a:prstGeom prst="roundRect">
            <a:avLst>
              <a:gd name="adj" fmla="val 8333"/>
            </a:avLst>
          </a:prstGeom>
          <a:solidFill>
            <a:srgbClr val="12233D"/>
          </a:solidFill>
          <a:ln/>
        </p:spPr>
        <p:txBody>
          <a:bodyPr/>
          <a:lstStyle/>
          <a:p>
            <a:endParaRPr lang="en-US"/>
          </a:p>
        </p:txBody>
      </p:sp>
      <p:sp>
        <p:nvSpPr>
          <p:cNvPr id="15" name="Text 11"/>
          <p:cNvSpPr/>
          <p:nvPr/>
        </p:nvSpPr>
        <p:spPr>
          <a:xfrm>
            <a:off x="777240" y="3840480"/>
            <a:ext cx="2743200" cy="274320"/>
          </a:xfrm>
          <a:prstGeom prst="rect">
            <a:avLst/>
          </a:prstGeom>
          <a:noFill/>
          <a:ln/>
        </p:spPr>
        <p:txBody>
          <a:bodyPr wrap="square" lIns="0" tIns="0" rIns="0" bIns="0" rtlCol="0" anchor="ctr"/>
          <a:lstStyle/>
          <a:p>
            <a:pPr marL="0" indent="0">
              <a:buNone/>
            </a:pPr>
            <a:r>
              <a:rPr lang="en-US" sz="1100" b="1" dirty="0">
                <a:solidFill>
                  <a:srgbClr val="00D4FF"/>
                </a:solidFill>
                <a:latin typeface="Trebuchet MS" pitchFamily="34" charset="0"/>
                <a:ea typeface="Trebuchet MS" pitchFamily="34" charset="-122"/>
                <a:cs typeface="Trebuchet MS" pitchFamily="34" charset="-120"/>
              </a:rPr>
              <a:t>Common Rules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4133088"/>
          <a:ext cx="7589520" cy="6858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213360">
                <a:tc>
                  <a:txBody>
                    <a:bodyPr/>
                    <a:lstStyle/>
                    <a:p>
                      <a:pPr marL="0" indent="0">
                        <a:buNone/>
                      </a:pPr>
                      <a:r>
                        <a:rPr lang="en-US" sz="900" b="1" dirty="0">
                          <a:solidFill>
                            <a:srgbClr val="00D4FF"/>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62B4A"/>
                    </a:solidFill>
                  </a:tcPr>
                </a:tc>
                <a:tc>
                  <a:txBody>
                    <a:bodyPr/>
                    <a:lstStyle/>
                    <a:p>
                      <a:pPr marL="0" indent="0">
                        <a:buNone/>
                      </a:pPr>
                      <a:r>
                        <a:rPr lang="en-US" sz="900" b="1" dirty="0">
                          <a:solidFill>
                            <a:srgbClr val="00D4FF"/>
                          </a:solidFill>
                          <a:latin typeface="Calibri" pitchFamily="34" charset="0"/>
                          <a:ea typeface="Calibri" pitchFamily="34" charset="-122"/>
                          <a:cs typeface="Calibri" pitchFamily="34" charset="-120"/>
                        </a:rPr>
                        <a:t>Port</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62B4A"/>
                    </a:solidFill>
                  </a:tcPr>
                </a:tc>
                <a:tc>
                  <a:txBody>
                    <a:bodyPr/>
                    <a:lstStyle/>
                    <a:p>
                      <a:pPr marL="0" indent="0">
                        <a:buNone/>
                      </a:pPr>
                      <a:r>
                        <a:rPr lang="en-US" sz="900" b="1" dirty="0">
                          <a:solidFill>
                            <a:srgbClr val="00D4FF"/>
                          </a:solidFill>
                          <a:latin typeface="Calibri" pitchFamily="34" charset="0"/>
                          <a:ea typeface="Calibri" pitchFamily="34" charset="-122"/>
                          <a:cs typeface="Calibri" pitchFamily="34" charset="-120"/>
                        </a:rPr>
                        <a:t>Source</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62B4A"/>
                    </a:solidFill>
                  </a:tcPr>
                </a:tc>
                <a:tc>
                  <a:txBody>
                    <a:bodyPr/>
                    <a:lstStyle/>
                    <a:p>
                      <a:pPr marL="0" indent="0">
                        <a:buNone/>
                      </a:pPr>
                      <a:r>
                        <a:rPr lang="en-US" sz="900" b="1" dirty="0">
                          <a:solidFill>
                            <a:srgbClr val="00D4FF"/>
                          </a:solidFill>
                          <a:latin typeface="Calibri" pitchFamily="34" charset="0"/>
                          <a:ea typeface="Calibri" pitchFamily="34" charset="-122"/>
                          <a:cs typeface="Calibri" pitchFamily="34" charset="-120"/>
                        </a:rPr>
                        <a:t>Use Case</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62B4A"/>
                    </a:solidFill>
                  </a:tcPr>
                </a:tc>
                <a:extLst>
                  <a:ext uri="{0D108BD9-81ED-4DB2-BD59-A6C34878D82A}">
                    <a16:rowId xmlns:a16="http://schemas.microsoft.com/office/drawing/2014/main" val="10000"/>
                  </a:ext>
                </a:extLst>
              </a:tr>
              <a:tr h="213360">
                <a:tc>
                  <a:txBody>
                    <a:bodyPr/>
                    <a:lstStyle/>
                    <a:p>
                      <a:pPr marL="0" indent="0">
                        <a:buNone/>
                      </a:pPr>
                      <a:r>
                        <a:rPr lang="en-US" sz="900" dirty="0">
                          <a:solidFill>
                            <a:srgbClr val="B0C4DE"/>
                          </a:solidFill>
                          <a:latin typeface="Calibri" pitchFamily="34" charset="0"/>
                          <a:ea typeface="Calibri" pitchFamily="34" charset="-122"/>
                          <a:cs typeface="Calibri" pitchFamily="34" charset="-120"/>
                        </a:rPr>
                        <a:t>SSH</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tcPr>
                </a:tc>
                <a:tc>
                  <a:txBody>
                    <a:bodyPr/>
                    <a:lstStyle/>
                    <a:p>
                      <a:pPr marL="0" indent="0">
                        <a:buNone/>
                      </a:pPr>
                      <a:r>
                        <a:rPr lang="en-US" sz="900" dirty="0">
                          <a:solidFill>
                            <a:srgbClr val="B0C4DE"/>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tcPr>
                </a:tc>
                <a:tc>
                  <a:txBody>
                    <a:bodyPr/>
                    <a:lstStyle/>
                    <a:p>
                      <a:pPr marL="0" indent="0">
                        <a:buNone/>
                      </a:pPr>
                      <a:r>
                        <a:rPr lang="en-US" sz="900" dirty="0">
                          <a:solidFill>
                            <a:srgbClr val="B0C4DE"/>
                          </a:solidFill>
                          <a:latin typeface="Calibri" pitchFamily="34" charset="0"/>
                          <a:ea typeface="Calibri" pitchFamily="34" charset="-122"/>
                          <a:cs typeface="Calibri" pitchFamily="34" charset="-120"/>
                        </a:rPr>
                        <a:t>Your IP</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tcPr>
                </a:tc>
                <a:tc>
                  <a:txBody>
                    <a:bodyPr/>
                    <a:lstStyle/>
                    <a:p>
                      <a:pPr marL="0" indent="0">
                        <a:buNone/>
                      </a:pPr>
                      <a:r>
                        <a:rPr lang="en-US" sz="900" dirty="0">
                          <a:solidFill>
                            <a:srgbClr val="B0C4DE"/>
                          </a:solidFill>
                          <a:latin typeface="Calibri" pitchFamily="34" charset="0"/>
                          <a:ea typeface="Calibri" pitchFamily="34" charset="-122"/>
                          <a:cs typeface="Calibri" pitchFamily="34" charset="-120"/>
                        </a:rPr>
                        <a:t>Remote admin</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tcPr>
                </a:tc>
                <a:extLst>
                  <a:ext uri="{0D108BD9-81ED-4DB2-BD59-A6C34878D82A}">
                    <a16:rowId xmlns:a16="http://schemas.microsoft.com/office/drawing/2014/main" val="10001"/>
                  </a:ext>
                </a:extLst>
              </a:tr>
              <a:tr h="213360">
                <a:tc>
                  <a:txBody>
                    <a:bodyPr/>
                    <a:lstStyle/>
                    <a:p>
                      <a:pPr marL="0" indent="0">
                        <a:buNone/>
                      </a:pPr>
                      <a:r>
                        <a:rPr lang="en-US" sz="900" dirty="0">
                          <a:solidFill>
                            <a:srgbClr val="B0C4DE"/>
                          </a:solidFill>
                          <a:latin typeface="Calibri" pitchFamily="34" charset="0"/>
                          <a:ea typeface="Calibri" pitchFamily="34" charset="-122"/>
                          <a:cs typeface="Calibri" pitchFamily="34" charset="-120"/>
                        </a:rPr>
                        <a:t>HTTP/HTTPS</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tcPr>
                </a:tc>
                <a:tc>
                  <a:txBody>
                    <a:bodyPr/>
                    <a:lstStyle/>
                    <a:p>
                      <a:pPr marL="0" indent="0">
                        <a:buNone/>
                      </a:pPr>
                      <a:r>
                        <a:rPr lang="en-US" sz="900" dirty="0">
                          <a:solidFill>
                            <a:srgbClr val="B0C4DE"/>
                          </a:solidFill>
                          <a:latin typeface="Calibri" pitchFamily="34" charset="0"/>
                          <a:ea typeface="Calibri" pitchFamily="34" charset="-122"/>
                          <a:cs typeface="Calibri" pitchFamily="34" charset="-120"/>
                        </a:rPr>
                        <a:t>80/443</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tcPr>
                </a:tc>
                <a:tc>
                  <a:txBody>
                    <a:bodyPr/>
                    <a:lstStyle/>
                    <a:p>
                      <a:pPr marL="0" indent="0">
                        <a:buNone/>
                      </a:pPr>
                      <a:r>
                        <a:rPr lang="en-US" sz="900" dirty="0">
                          <a:solidFill>
                            <a:srgbClr val="B0C4DE"/>
                          </a:solidFill>
                          <a:latin typeface="Calibri" pitchFamily="34" charset="0"/>
                          <a:ea typeface="Calibri" pitchFamily="34" charset="-122"/>
                          <a:cs typeface="Calibri" pitchFamily="34" charset="-120"/>
                        </a:rPr>
                        <a:t>0.0.0.0/0</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tcPr>
                </a:tc>
                <a:tc>
                  <a:txBody>
                    <a:bodyPr/>
                    <a:lstStyle/>
                    <a:p>
                      <a:pPr marL="0" indent="0">
                        <a:buNone/>
                      </a:pPr>
                      <a:r>
                        <a:rPr lang="en-US" sz="900" dirty="0">
                          <a:solidFill>
                            <a:srgbClr val="B0C4DE"/>
                          </a:solidFill>
                          <a:latin typeface="Calibri" pitchFamily="34" charset="0"/>
                          <a:ea typeface="Calibri" pitchFamily="34" charset="-122"/>
                          <a:cs typeface="Calibri" pitchFamily="34" charset="-120"/>
                        </a:rPr>
                        <a:t>Web traffic</a:t>
                      </a:r>
                      <a:endParaRPr lang="en-US" sz="9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SECURITY &amp; NETWORKING</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Elastic IPs &amp; Placement Groups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Static addressing and strategic instance placement for performance</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18</a:t>
            </a:r>
            <a:endParaRPr lang="en-US" sz="900" dirty="0"/>
          </a:p>
        </p:txBody>
      </p:sp>
      <p:sp>
        <p:nvSpPr>
          <p:cNvPr id="6" name="Shape 4"/>
          <p:cNvSpPr/>
          <p:nvPr/>
        </p:nvSpPr>
        <p:spPr>
          <a:xfrm>
            <a:off x="548640" y="1554480"/>
            <a:ext cx="3840480" cy="2011680"/>
          </a:xfrm>
          <a:prstGeom prst="roundRect">
            <a:avLst>
              <a:gd name="adj" fmla="val 5455"/>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292608" cy="292608"/>
          </a:xfrm>
          <a:prstGeom prst="rect">
            <a:avLst/>
          </a:prstGeom>
        </p:spPr>
      </p:pic>
      <p:sp>
        <p:nvSpPr>
          <p:cNvPr id="8" name="Text 5"/>
          <p:cNvSpPr/>
          <p:nvPr/>
        </p:nvSpPr>
        <p:spPr>
          <a:xfrm>
            <a:off x="109728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Elastic IP Addresses</a:t>
            </a:r>
            <a:endParaRPr lang="en-US" sz="1300" dirty="0"/>
          </a:p>
        </p:txBody>
      </p:sp>
      <p:sp>
        <p:nvSpPr>
          <p:cNvPr id="9" name="Text 6"/>
          <p:cNvSpPr/>
          <p:nvPr/>
        </p:nvSpPr>
        <p:spPr>
          <a:xfrm>
            <a:off x="777240" y="2057400"/>
            <a:ext cx="3429000" cy="13716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Static public IPv4 address you own until released</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Remap instantly to another instance during failures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Free when associated with a running instance</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Charged when idle — release unused Elastic IPs</a:t>
            </a:r>
            <a:endParaRPr lang="en-US" sz="1000" dirty="0"/>
          </a:p>
        </p:txBody>
      </p:sp>
      <p:sp>
        <p:nvSpPr>
          <p:cNvPr id="10" name="Shape 7"/>
          <p:cNvSpPr/>
          <p:nvPr/>
        </p:nvSpPr>
        <p:spPr>
          <a:xfrm>
            <a:off x="4754880" y="1554480"/>
            <a:ext cx="3840480" cy="2011680"/>
          </a:xfrm>
          <a:prstGeom prst="roundRect">
            <a:avLst>
              <a:gd name="adj" fmla="val 4545"/>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691640"/>
            <a:ext cx="274320" cy="274320"/>
          </a:xfrm>
          <a:prstGeom prst="rect">
            <a:avLst/>
          </a:prstGeom>
        </p:spPr>
      </p:pic>
      <p:sp>
        <p:nvSpPr>
          <p:cNvPr id="12" name="Text 8"/>
          <p:cNvSpPr/>
          <p:nvPr/>
        </p:nvSpPr>
        <p:spPr>
          <a:xfrm>
            <a:off x="5303520" y="1691640"/>
            <a:ext cx="3108960" cy="27432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Placement Groups</a:t>
            </a:r>
            <a:endParaRPr lang="en-US" sz="1300" dirty="0"/>
          </a:p>
        </p:txBody>
      </p:sp>
      <p:sp>
        <p:nvSpPr>
          <p:cNvPr id="13" name="Text 9"/>
          <p:cNvSpPr/>
          <p:nvPr/>
        </p:nvSpPr>
        <p:spPr>
          <a:xfrm>
            <a:off x="4937760" y="2103120"/>
            <a:ext cx="1005840" cy="365760"/>
          </a:xfrm>
          <a:prstGeom prst="rect">
            <a:avLst/>
          </a:prstGeom>
          <a:noFill/>
          <a:ln/>
        </p:spPr>
        <p:txBody>
          <a:bodyPr wrap="square" lIns="0" tIns="0" rIns="0" bIns="0" rtlCol="0" anchor="ctr"/>
          <a:lstStyle/>
          <a:p>
            <a:pPr marL="0" indent="0">
              <a:buNone/>
            </a:pPr>
            <a:r>
              <a:rPr lang="en-US" sz="1000" b="1" dirty="0">
                <a:solidFill>
                  <a:srgbClr val="00E676"/>
                </a:solidFill>
                <a:latin typeface="Trebuchet MS" pitchFamily="34" charset="0"/>
                <a:ea typeface="Trebuchet MS" pitchFamily="34" charset="-122"/>
                <a:cs typeface="Trebuchet MS" pitchFamily="34" charset="-120"/>
              </a:rPr>
              <a:t>Cluster</a:t>
            </a:r>
            <a:endParaRPr lang="en-US" sz="1000" dirty="0"/>
          </a:p>
        </p:txBody>
      </p:sp>
      <p:sp>
        <p:nvSpPr>
          <p:cNvPr id="14" name="Text 10"/>
          <p:cNvSpPr/>
          <p:nvPr/>
        </p:nvSpPr>
        <p:spPr>
          <a:xfrm>
            <a:off x="5943600" y="2103120"/>
            <a:ext cx="2468880" cy="365760"/>
          </a:xfrm>
          <a:prstGeom prst="rect">
            <a:avLst/>
          </a:prstGeom>
          <a:noFill/>
          <a:ln/>
        </p:spPr>
        <p:txBody>
          <a:bodyPr wrap="square" lIns="0" tIns="0" rIns="0" bIns="0" rtlCol="0" anchor="ctr"/>
          <a:lstStyle/>
          <a:p>
            <a:pPr marL="0" indent="0">
              <a:buNone/>
            </a:pPr>
            <a:r>
              <a:rPr lang="en-US" sz="900" dirty="0">
                <a:solidFill>
                  <a:srgbClr val="B0C4DE"/>
                </a:solidFill>
                <a:latin typeface="Calibri" pitchFamily="34" charset="0"/>
                <a:ea typeface="Calibri" pitchFamily="34" charset="-122"/>
                <a:cs typeface="Calibri" pitchFamily="34" charset="-120"/>
              </a:rPr>
              <a:t>Low-latency group in a single AZ. For HPC and tightly coupled workloads.</a:t>
            </a:r>
            <a:endParaRPr lang="en-US" sz="900" dirty="0"/>
          </a:p>
        </p:txBody>
      </p:sp>
      <p:sp>
        <p:nvSpPr>
          <p:cNvPr id="15" name="Text 11"/>
          <p:cNvSpPr/>
          <p:nvPr/>
        </p:nvSpPr>
        <p:spPr>
          <a:xfrm>
            <a:off x="4937760" y="2560320"/>
            <a:ext cx="1005840" cy="365760"/>
          </a:xfrm>
          <a:prstGeom prst="rect">
            <a:avLst/>
          </a:prstGeom>
          <a:noFill/>
          <a:ln/>
        </p:spPr>
        <p:txBody>
          <a:bodyPr wrap="square" lIns="0" tIns="0" rIns="0" bIns="0" rtlCol="0" anchor="ctr"/>
          <a:lstStyle/>
          <a:p>
            <a:pPr marL="0" indent="0">
              <a:buNone/>
            </a:pPr>
            <a:r>
              <a:rPr lang="en-US" sz="1000" b="1" dirty="0">
                <a:solidFill>
                  <a:srgbClr val="BB86FC"/>
                </a:solidFill>
                <a:latin typeface="Trebuchet MS" pitchFamily="34" charset="0"/>
                <a:ea typeface="Trebuchet MS" pitchFamily="34" charset="-122"/>
                <a:cs typeface="Trebuchet MS" pitchFamily="34" charset="-120"/>
              </a:rPr>
              <a:t>Spread</a:t>
            </a:r>
            <a:endParaRPr lang="en-US" sz="1000" dirty="0"/>
          </a:p>
        </p:txBody>
      </p:sp>
      <p:sp>
        <p:nvSpPr>
          <p:cNvPr id="16" name="Text 12"/>
          <p:cNvSpPr/>
          <p:nvPr/>
        </p:nvSpPr>
        <p:spPr>
          <a:xfrm>
            <a:off x="5943600" y="2560320"/>
            <a:ext cx="2468880" cy="365760"/>
          </a:xfrm>
          <a:prstGeom prst="rect">
            <a:avLst/>
          </a:prstGeom>
          <a:noFill/>
          <a:ln/>
        </p:spPr>
        <p:txBody>
          <a:bodyPr wrap="square" lIns="0" tIns="0" rIns="0" bIns="0" rtlCol="0" anchor="ctr"/>
          <a:lstStyle/>
          <a:p>
            <a:pPr marL="0" indent="0">
              <a:buNone/>
            </a:pPr>
            <a:r>
              <a:rPr lang="en-US" sz="900" dirty="0">
                <a:solidFill>
                  <a:srgbClr val="B0C4DE"/>
                </a:solidFill>
                <a:latin typeface="Calibri" pitchFamily="34" charset="0"/>
                <a:ea typeface="Calibri" pitchFamily="34" charset="-122"/>
                <a:cs typeface="Calibri" pitchFamily="34" charset="-120"/>
              </a:rPr>
              <a:t>Each instance on distinct hardware. Max 7 per AZ. High availability.</a:t>
            </a:r>
            <a:endParaRPr lang="en-US" sz="900" dirty="0"/>
          </a:p>
        </p:txBody>
      </p:sp>
      <p:sp>
        <p:nvSpPr>
          <p:cNvPr id="17" name="Text 13"/>
          <p:cNvSpPr/>
          <p:nvPr/>
        </p:nvSpPr>
        <p:spPr>
          <a:xfrm>
            <a:off x="4937760" y="3017520"/>
            <a:ext cx="1005840" cy="365760"/>
          </a:xfrm>
          <a:prstGeom prst="rect">
            <a:avLst/>
          </a:prstGeom>
          <a:noFill/>
          <a:ln/>
        </p:spPr>
        <p:txBody>
          <a:bodyPr wrap="square" lIns="0" tIns="0" rIns="0" bIns="0" rtlCol="0" anchor="ctr"/>
          <a:lstStyle/>
          <a:p>
            <a:pPr marL="0" indent="0">
              <a:buNone/>
            </a:pPr>
            <a:r>
              <a:rPr lang="en-US" sz="1000" b="1" dirty="0">
                <a:solidFill>
                  <a:srgbClr val="FF9800"/>
                </a:solidFill>
                <a:latin typeface="Trebuchet MS" pitchFamily="34" charset="0"/>
                <a:ea typeface="Trebuchet MS" pitchFamily="34" charset="-122"/>
                <a:cs typeface="Trebuchet MS" pitchFamily="34" charset="-120"/>
              </a:rPr>
              <a:t>Partition</a:t>
            </a:r>
            <a:endParaRPr lang="en-US" sz="1000" dirty="0"/>
          </a:p>
        </p:txBody>
      </p:sp>
      <p:sp>
        <p:nvSpPr>
          <p:cNvPr id="18" name="Text 14"/>
          <p:cNvSpPr/>
          <p:nvPr/>
        </p:nvSpPr>
        <p:spPr>
          <a:xfrm>
            <a:off x="5943600" y="3017520"/>
            <a:ext cx="2468880" cy="365760"/>
          </a:xfrm>
          <a:prstGeom prst="rect">
            <a:avLst/>
          </a:prstGeom>
          <a:noFill/>
          <a:ln/>
        </p:spPr>
        <p:txBody>
          <a:bodyPr wrap="square" lIns="0" tIns="0" rIns="0" bIns="0" rtlCol="0" anchor="ctr"/>
          <a:lstStyle/>
          <a:p>
            <a:pPr marL="0" indent="0">
              <a:buNone/>
            </a:pPr>
            <a:r>
              <a:rPr lang="en-US" sz="900" dirty="0">
                <a:solidFill>
                  <a:srgbClr val="B0C4DE"/>
                </a:solidFill>
                <a:latin typeface="Calibri" pitchFamily="34" charset="0"/>
                <a:ea typeface="Calibri" pitchFamily="34" charset="-122"/>
                <a:cs typeface="Calibri" pitchFamily="34" charset="-120"/>
              </a:rPr>
              <a:t>Logical partitions on separate racks. For Hadoop, Cassandra, Kafka.</a:t>
            </a:r>
            <a:endParaRPr lang="en-US" sz="900" dirty="0"/>
          </a:p>
        </p:txBody>
      </p:sp>
      <p:sp>
        <p:nvSpPr>
          <p:cNvPr id="19" name="Shape 15"/>
          <p:cNvSpPr/>
          <p:nvPr/>
        </p:nvSpPr>
        <p:spPr>
          <a:xfrm>
            <a:off x="548640" y="3794760"/>
            <a:ext cx="8046720" cy="1005840"/>
          </a:xfrm>
          <a:prstGeom prst="roundRect">
            <a:avLst>
              <a:gd name="adj" fmla="val 9091"/>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20" name="Text 16"/>
          <p:cNvSpPr/>
          <p:nvPr/>
        </p:nvSpPr>
        <p:spPr>
          <a:xfrm>
            <a:off x="731520" y="3904488"/>
            <a:ext cx="7680960" cy="274320"/>
          </a:xfrm>
          <a:prstGeom prst="rect">
            <a:avLst/>
          </a:prstGeom>
          <a:noFill/>
          <a:ln/>
        </p:spPr>
        <p:txBody>
          <a:bodyPr wrap="square" lIns="0" tIns="0" rIns="0" bIns="0" rtlCol="0" anchor="ctr"/>
          <a:lstStyle/>
          <a:p>
            <a:pPr marL="0" indent="0">
              <a:buNone/>
            </a:pPr>
            <a:r>
              <a:rPr lang="en-US" sz="1200" b="1" dirty="0">
                <a:solidFill>
                  <a:srgbClr val="00E676"/>
                </a:solidFill>
                <a:latin typeface="Trebuchet MS" pitchFamily="34" charset="0"/>
                <a:ea typeface="Trebuchet MS" pitchFamily="34" charset="-122"/>
                <a:cs typeface="Trebuchet MS" pitchFamily="34" charset="-120"/>
              </a:rPr>
              <a:t>Architecture Tip</a:t>
            </a:r>
            <a:endParaRPr lang="en-US" sz="1200" dirty="0"/>
          </a:p>
        </p:txBody>
      </p:sp>
      <p:sp>
        <p:nvSpPr>
          <p:cNvPr id="21" name="Text 17"/>
          <p:cNvSpPr/>
          <p:nvPr/>
        </p:nvSpPr>
        <p:spPr>
          <a:xfrm>
            <a:off x="731520" y="4178808"/>
            <a:ext cx="7680960" cy="50292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Use Cluster placement for inter-node communication under 2ms. Combine with Enhanced Networking (ENA) and Jumbo Frames for maximum throughput in HPC and ML training clusters.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SECURITY &amp; NETWORKING</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Key Pairs &amp; Network Interfaces</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Secure access credentials and flexible network configurations</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19</a:t>
            </a:r>
            <a:endParaRPr lang="en-US" sz="900" dirty="0"/>
          </a:p>
        </p:txBody>
      </p:sp>
      <p:sp>
        <p:nvSpPr>
          <p:cNvPr id="6" name="Shape 4"/>
          <p:cNvSpPr/>
          <p:nvPr/>
        </p:nvSpPr>
        <p:spPr>
          <a:xfrm>
            <a:off x="548640" y="1554480"/>
            <a:ext cx="3840480" cy="2468880"/>
          </a:xfrm>
          <a:prstGeom prst="roundRect">
            <a:avLst>
              <a:gd name="adj" fmla="val 4444"/>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292608" cy="292608"/>
          </a:xfrm>
          <a:prstGeom prst="rect">
            <a:avLst/>
          </a:prstGeom>
        </p:spPr>
      </p:pic>
      <p:sp>
        <p:nvSpPr>
          <p:cNvPr id="8" name="Text 5"/>
          <p:cNvSpPr/>
          <p:nvPr/>
        </p:nvSpPr>
        <p:spPr>
          <a:xfrm>
            <a:off x="109728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Key Pairs</a:t>
            </a:r>
            <a:endParaRPr lang="en-US" sz="1300" dirty="0"/>
          </a:p>
        </p:txBody>
      </p:sp>
      <p:sp>
        <p:nvSpPr>
          <p:cNvPr id="9" name="Text 6"/>
          <p:cNvSpPr/>
          <p:nvPr/>
        </p:nvSpPr>
        <p:spPr>
          <a:xfrm>
            <a:off x="777240" y="2057400"/>
            <a:ext cx="3429000" cy="18288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SSH key pairs for secure Linux instance access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AWS stores public key; you download private key</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ED25519 and RSA (2048/4096-bit) supported</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Can import your own public keys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Use EC2 Instance Connect for browser-based SSH</a:t>
            </a:r>
            <a:endParaRPr lang="en-US" sz="1000" dirty="0"/>
          </a:p>
        </p:txBody>
      </p:sp>
      <p:sp>
        <p:nvSpPr>
          <p:cNvPr id="10" name="Shape 7"/>
          <p:cNvSpPr/>
          <p:nvPr/>
        </p:nvSpPr>
        <p:spPr>
          <a:xfrm>
            <a:off x="4754880" y="1554480"/>
            <a:ext cx="3840480" cy="2468880"/>
          </a:xfrm>
          <a:prstGeom prst="roundRect">
            <a:avLst>
              <a:gd name="adj" fmla="val 4444"/>
            </a:avLst>
          </a:prstGeom>
          <a:solidFill>
            <a:srgbClr val="12233D"/>
          </a:solidFill>
          <a:ln/>
          <a:effectLst>
            <a:outerShdw blurRad="101600" dist="38100" dir="8100000" algn="bl" rotWithShape="0">
              <a:srgbClr val="000000">
                <a:alpha val="4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937760" y="1737360"/>
            <a:ext cx="292608" cy="292608"/>
          </a:xfrm>
          <a:prstGeom prst="rect">
            <a:avLst/>
          </a:prstGeom>
        </p:spPr>
      </p:pic>
      <p:sp>
        <p:nvSpPr>
          <p:cNvPr id="12" name="Text 8"/>
          <p:cNvSpPr/>
          <p:nvPr/>
        </p:nvSpPr>
        <p:spPr>
          <a:xfrm>
            <a:off x="5303520" y="1691640"/>
            <a:ext cx="3108960" cy="320040"/>
          </a:xfrm>
          <a:prstGeom prst="rect">
            <a:avLst/>
          </a:prstGeom>
          <a:noFill/>
          <a:ln/>
        </p:spPr>
        <p:txBody>
          <a:bodyPr wrap="square" lIns="0" tIns="0" rIns="0" bIns="0" rtlCol="0" anchor="ctr"/>
          <a:lstStyle/>
          <a:p>
            <a:pPr marL="0" indent="0">
              <a:buNone/>
            </a:pPr>
            <a:r>
              <a:rPr lang="en-US" sz="1300" b="1" dirty="0">
                <a:solidFill>
                  <a:srgbClr val="00D4FF"/>
                </a:solidFill>
                <a:latin typeface="Trebuchet MS" pitchFamily="34" charset="0"/>
                <a:ea typeface="Trebuchet MS" pitchFamily="34" charset="-122"/>
                <a:cs typeface="Trebuchet MS" pitchFamily="34" charset="-120"/>
              </a:rPr>
              <a:t>Elastic Network Interfaces (ENIs)</a:t>
            </a:r>
            <a:endParaRPr lang="en-US" sz="1300" dirty="0"/>
          </a:p>
        </p:txBody>
      </p:sp>
      <p:sp>
        <p:nvSpPr>
          <p:cNvPr id="13" name="Text 9"/>
          <p:cNvSpPr/>
          <p:nvPr/>
        </p:nvSpPr>
        <p:spPr>
          <a:xfrm>
            <a:off x="4983480" y="2057400"/>
            <a:ext cx="3429000" cy="18288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Virtual network cards attached to instances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Each ENI has private IP, Elastic IP, MAC address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Attach multiple ENIs for dual-homed instances</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Move ENIs between instances for failover</a:t>
            </a:r>
            <a:endParaRPr lang="en-US" sz="1000" dirty="0"/>
          </a:p>
          <a:p>
            <a:pPr marL="342900" indent="-342900">
              <a:spcAft>
                <a:spcPts val="400"/>
              </a:spcAft>
              <a:buSzPct val="100000"/>
              <a:buChar char="•"/>
            </a:pPr>
            <a:r>
              <a:rPr lang="en-US" sz="1000" dirty="0">
                <a:solidFill>
                  <a:srgbClr val="B0C4DE"/>
                </a:solidFill>
                <a:latin typeface="Calibri" pitchFamily="34" charset="0"/>
                <a:ea typeface="Calibri" pitchFamily="34" charset="-122"/>
                <a:cs typeface="Calibri" pitchFamily="34" charset="-120"/>
              </a:rPr>
              <a:t>Security Groups are applied per ENI</a:t>
            </a:r>
            <a:endParaRPr lang="en-US" sz="1000" dirty="0"/>
          </a:p>
        </p:txBody>
      </p:sp>
      <p:sp>
        <p:nvSpPr>
          <p:cNvPr id="14" name="Shape 10"/>
          <p:cNvSpPr/>
          <p:nvPr/>
        </p:nvSpPr>
        <p:spPr>
          <a:xfrm>
            <a:off x="548640" y="4206240"/>
            <a:ext cx="8046720" cy="685800"/>
          </a:xfrm>
          <a:prstGeom prst="roundRect">
            <a:avLst>
              <a:gd name="adj" fmla="val 13333"/>
            </a:avLst>
          </a:prstGeom>
          <a:solidFill>
            <a:srgbClr val="12233D"/>
          </a:solidFill>
          <a:ln/>
          <a:effectLst>
            <a:outerShdw blurRad="101600" dist="38100" dir="8100000" algn="bl" rotWithShape="0">
              <a:srgbClr val="000000">
                <a:alpha val="40000"/>
              </a:srgbClr>
            </a:outerShdw>
          </a:effectLst>
        </p:spPr>
        <p:txBody>
          <a:bodyPr/>
          <a:lstStyle/>
          <a:p>
            <a:endParaRPr lang="en-US"/>
          </a:p>
        </p:txBody>
      </p:sp>
      <p:sp>
        <p:nvSpPr>
          <p:cNvPr id="15" name="Text 11"/>
          <p:cNvSpPr/>
          <p:nvPr/>
        </p:nvSpPr>
        <p:spPr>
          <a:xfrm>
            <a:off x="731520" y="4315968"/>
            <a:ext cx="7680960" cy="274320"/>
          </a:xfrm>
          <a:prstGeom prst="rect">
            <a:avLst/>
          </a:prstGeom>
          <a:noFill/>
          <a:ln/>
        </p:spPr>
        <p:txBody>
          <a:bodyPr wrap="square" lIns="0" tIns="0" rIns="0" bIns="0" rtlCol="0" anchor="ctr"/>
          <a:lstStyle/>
          <a:p>
            <a:pPr marL="0" indent="0">
              <a:buNone/>
            </a:pPr>
            <a:r>
              <a:rPr lang="en-US" sz="1200" b="1" dirty="0">
                <a:solidFill>
                  <a:srgbClr val="BB86FC"/>
                </a:solidFill>
                <a:latin typeface="Trebuchet MS" pitchFamily="34" charset="0"/>
                <a:ea typeface="Trebuchet MS" pitchFamily="34" charset="-122"/>
                <a:cs typeface="Trebuchet MS" pitchFamily="34" charset="-120"/>
              </a:rPr>
              <a:t>Multi-ENI Architecture</a:t>
            </a:r>
            <a:endParaRPr lang="en-US" sz="1200" dirty="0"/>
          </a:p>
        </p:txBody>
      </p:sp>
      <p:sp>
        <p:nvSpPr>
          <p:cNvPr id="16" name="Text 12"/>
          <p:cNvSpPr/>
          <p:nvPr/>
        </p:nvSpPr>
        <p:spPr>
          <a:xfrm>
            <a:off x="731520" y="4590288"/>
            <a:ext cx="7680960" cy="182880"/>
          </a:xfrm>
          <a:prstGeom prst="rect">
            <a:avLst/>
          </a:prstGeom>
          <a:noFill/>
          <a:ln/>
        </p:spPr>
        <p:txBody>
          <a:bodyPr wrap="square" lIns="0" tIns="0" rIns="0" bIns="0" rtlCol="0" anchor="t"/>
          <a:lstStyle/>
          <a:p>
            <a:pPr marL="0" indent="0">
              <a:buNone/>
            </a:pPr>
            <a:r>
              <a:rPr lang="en-US" sz="1000" dirty="0">
                <a:solidFill>
                  <a:srgbClr val="B0C4DE"/>
                </a:solidFill>
                <a:latin typeface="Calibri" pitchFamily="34" charset="0"/>
                <a:ea typeface="Calibri" pitchFamily="34" charset="-122"/>
                <a:cs typeface="Calibri" pitchFamily="34" charset="-120"/>
              </a:rPr>
              <a:t>Use multiple ENIs to separate management traffic from data traffic, or to connect an instance to multiple subnets. Common in network appliances, firewalls, and load balancers.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3657600" cy="274320"/>
          </a:xfrm>
          <a:prstGeom prst="rect">
            <a:avLst/>
          </a:prstGeom>
          <a:noFill/>
          <a:ln/>
        </p:spPr>
        <p:txBody>
          <a:bodyPr wrap="square" lIns="0" tIns="0" rIns="0" bIns="0" rtlCol="0" anchor="ctr"/>
          <a:lstStyle/>
          <a:p>
            <a:pPr marL="0" indent="0">
              <a:buNone/>
            </a:pPr>
            <a:r>
              <a:rPr lang="en-US" sz="800" kern="0" spc="300" dirty="0">
                <a:solidFill>
                  <a:srgbClr val="0098B8"/>
                </a:solidFill>
                <a:latin typeface="Consolas" pitchFamily="34" charset="0"/>
                <a:ea typeface="Consolas" pitchFamily="34" charset="-122"/>
                <a:cs typeface="Consolas" pitchFamily="34" charset="-120"/>
              </a:rPr>
              <a:t>HANDS-ON LAB</a:t>
            </a:r>
            <a:endParaRPr lang="en-US" sz="800" dirty="0"/>
          </a:p>
        </p:txBody>
      </p:sp>
      <p:sp>
        <p:nvSpPr>
          <p:cNvPr id="3" name="Text 1"/>
          <p:cNvSpPr/>
          <p:nvPr/>
        </p:nvSpPr>
        <p:spPr>
          <a:xfrm>
            <a:off x="548640" y="502920"/>
            <a:ext cx="804672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Lab: Networking &amp; Security</a:t>
            </a:r>
            <a:endParaRPr lang="en-US" sz="2800" dirty="0"/>
          </a:p>
        </p:txBody>
      </p:sp>
      <p:sp>
        <p:nvSpPr>
          <p:cNvPr id="4" name="Text 2"/>
          <p:cNvSpPr/>
          <p:nvPr/>
        </p:nvSpPr>
        <p:spPr>
          <a:xfrm>
            <a:off x="548640" y="1051560"/>
            <a:ext cx="8046720" cy="320040"/>
          </a:xfrm>
          <a:prstGeom prst="rect">
            <a:avLst/>
          </a:prstGeom>
          <a:noFill/>
          <a:ln/>
        </p:spPr>
        <p:txBody>
          <a:bodyPr wrap="square" lIns="0" tIns="0" rIns="0" bIns="0" rtlCol="0" anchor="ctr"/>
          <a:lstStyle/>
          <a:p>
            <a:pPr marL="0" indent="0">
              <a:buNone/>
            </a:pPr>
            <a:r>
              <a:rPr lang="en-US" sz="1200" dirty="0">
                <a:solidFill>
                  <a:srgbClr val="B0C4DE"/>
                </a:solidFill>
                <a:latin typeface="Calibri" pitchFamily="34" charset="0"/>
                <a:ea typeface="Calibri" pitchFamily="34" charset="-122"/>
                <a:cs typeface="Calibri" pitchFamily="34" charset="-120"/>
              </a:rPr>
              <a:t>Configure security groups, key pairs, Elastic IPs, and network interfaces</a:t>
            </a:r>
            <a:endParaRPr lang="en-US" sz="1200" dirty="0"/>
          </a:p>
        </p:txBody>
      </p:sp>
      <p:sp>
        <p:nvSpPr>
          <p:cNvPr id="5" name="Text 3"/>
          <p:cNvSpPr/>
          <p:nvPr/>
        </p:nvSpPr>
        <p:spPr>
          <a:xfrm>
            <a:off x="8412480" y="4709160"/>
            <a:ext cx="548640" cy="320040"/>
          </a:xfrm>
          <a:prstGeom prst="rect">
            <a:avLst/>
          </a:prstGeom>
          <a:noFill/>
          <a:ln/>
        </p:spPr>
        <p:txBody>
          <a:bodyPr wrap="square" lIns="0" tIns="0" rIns="0" bIns="0" rtlCol="0" anchor="ctr"/>
          <a:lstStyle/>
          <a:p>
            <a:pPr marL="0" indent="0" algn="r">
              <a:buNone/>
            </a:pPr>
            <a:r>
              <a:rPr lang="en-US" sz="900" dirty="0">
                <a:solidFill>
                  <a:srgbClr val="6B8AB5"/>
                </a:solidFill>
                <a:latin typeface="Consolas" pitchFamily="34" charset="0"/>
                <a:ea typeface="Consolas" pitchFamily="34" charset="-122"/>
                <a:cs typeface="Consolas" pitchFamily="34" charset="-120"/>
              </a:rPr>
              <a:t>20</a:t>
            </a:r>
            <a:endParaRPr lang="en-US" sz="900" dirty="0"/>
          </a:p>
        </p:txBody>
      </p:sp>
      <p:sp>
        <p:nvSpPr>
          <p:cNvPr id="6" name="Shape 4"/>
          <p:cNvSpPr/>
          <p:nvPr/>
        </p:nvSpPr>
        <p:spPr>
          <a:xfrm>
            <a:off x="548640" y="1554480"/>
            <a:ext cx="3840480" cy="1280160"/>
          </a:xfrm>
          <a:prstGeom prst="roundRect">
            <a:avLst>
              <a:gd name="adj" fmla="val 7143"/>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7" name="Text 5"/>
          <p:cNvSpPr/>
          <p:nvPr/>
        </p:nvSpPr>
        <p:spPr>
          <a:xfrm>
            <a:off x="685800" y="164592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1</a:t>
            </a:r>
            <a:endParaRPr lang="en-US" sz="1600" dirty="0"/>
          </a:p>
        </p:txBody>
      </p:sp>
      <p:sp>
        <p:nvSpPr>
          <p:cNvPr id="8" name="Text 6"/>
          <p:cNvSpPr/>
          <p:nvPr/>
        </p:nvSpPr>
        <p:spPr>
          <a:xfrm>
            <a:off x="1097280" y="164592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Create a Key Pair &amp; Security Group</a:t>
            </a:r>
            <a:endParaRPr lang="en-US" sz="1100" dirty="0"/>
          </a:p>
        </p:txBody>
      </p:sp>
      <p:sp>
        <p:nvSpPr>
          <p:cNvPr id="9" name="Text 7"/>
          <p:cNvSpPr/>
          <p:nvPr/>
        </p:nvSpPr>
        <p:spPr>
          <a:xfrm>
            <a:off x="1097280" y="1920240"/>
            <a:ext cx="3108960" cy="77724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Generate an ED25519 key pair. Create a Security Group allowing SSH (port 22) from your IP and HTTP (port 80) from anywhere.</a:t>
            </a:r>
            <a:endParaRPr lang="en-US" sz="900" dirty="0"/>
          </a:p>
        </p:txBody>
      </p:sp>
      <p:sp>
        <p:nvSpPr>
          <p:cNvPr id="10" name="Shape 8"/>
          <p:cNvSpPr/>
          <p:nvPr/>
        </p:nvSpPr>
        <p:spPr>
          <a:xfrm>
            <a:off x="4754880" y="1554480"/>
            <a:ext cx="3840480" cy="1280160"/>
          </a:xfrm>
          <a:prstGeom prst="roundRect">
            <a:avLst>
              <a:gd name="adj" fmla="val 7143"/>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1" name="Text 9"/>
          <p:cNvSpPr/>
          <p:nvPr/>
        </p:nvSpPr>
        <p:spPr>
          <a:xfrm>
            <a:off x="4892040" y="164592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2</a:t>
            </a:r>
            <a:endParaRPr lang="en-US" sz="1600" dirty="0"/>
          </a:p>
        </p:txBody>
      </p:sp>
      <p:sp>
        <p:nvSpPr>
          <p:cNvPr id="12" name="Text 10"/>
          <p:cNvSpPr/>
          <p:nvPr/>
        </p:nvSpPr>
        <p:spPr>
          <a:xfrm>
            <a:off x="5303520" y="164592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Allocate &amp; Associate an Elastic IP</a:t>
            </a:r>
            <a:endParaRPr lang="en-US" sz="1100" dirty="0"/>
          </a:p>
        </p:txBody>
      </p:sp>
      <p:sp>
        <p:nvSpPr>
          <p:cNvPr id="13" name="Text 11"/>
          <p:cNvSpPr/>
          <p:nvPr/>
        </p:nvSpPr>
        <p:spPr>
          <a:xfrm>
            <a:off x="5303520" y="1920240"/>
            <a:ext cx="3108960" cy="77724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Allocate an Elastic IP address. Launch an instance and associate the EIP. Stop and restart the instance — verify the IP persists.</a:t>
            </a:r>
            <a:endParaRPr lang="en-US" sz="900" dirty="0"/>
          </a:p>
        </p:txBody>
      </p:sp>
      <p:sp>
        <p:nvSpPr>
          <p:cNvPr id="14" name="Shape 12"/>
          <p:cNvSpPr/>
          <p:nvPr/>
        </p:nvSpPr>
        <p:spPr>
          <a:xfrm>
            <a:off x="548640" y="3017520"/>
            <a:ext cx="3840480" cy="1554480"/>
          </a:xfrm>
          <a:prstGeom prst="roundRect">
            <a:avLst>
              <a:gd name="adj" fmla="val 5882"/>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5" name="Text 13"/>
          <p:cNvSpPr/>
          <p:nvPr/>
        </p:nvSpPr>
        <p:spPr>
          <a:xfrm>
            <a:off x="685800" y="310896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3</a:t>
            </a:r>
            <a:endParaRPr lang="en-US" sz="1600" dirty="0"/>
          </a:p>
        </p:txBody>
      </p:sp>
      <p:sp>
        <p:nvSpPr>
          <p:cNvPr id="16" name="Text 14"/>
          <p:cNvSpPr/>
          <p:nvPr/>
        </p:nvSpPr>
        <p:spPr>
          <a:xfrm>
            <a:off x="1097280" y="310896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Create &amp; Attach a Secondary ENI</a:t>
            </a:r>
            <a:endParaRPr lang="en-US" sz="1100" dirty="0"/>
          </a:p>
        </p:txBody>
      </p:sp>
      <p:sp>
        <p:nvSpPr>
          <p:cNvPr id="17" name="Text 15"/>
          <p:cNvSpPr/>
          <p:nvPr/>
        </p:nvSpPr>
        <p:spPr>
          <a:xfrm>
            <a:off x="1097280" y="3383280"/>
            <a:ext cx="3108960" cy="105156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Create a new ENI in the same subnet. Attach it to your instance. Configure the OS to recognize both interfaces.</a:t>
            </a:r>
            <a:endParaRPr lang="en-US" sz="900" dirty="0"/>
          </a:p>
        </p:txBody>
      </p:sp>
      <p:sp>
        <p:nvSpPr>
          <p:cNvPr id="18" name="Shape 16"/>
          <p:cNvSpPr/>
          <p:nvPr/>
        </p:nvSpPr>
        <p:spPr>
          <a:xfrm>
            <a:off x="4754880" y="3017520"/>
            <a:ext cx="3840480" cy="1554480"/>
          </a:xfrm>
          <a:prstGeom prst="roundRect">
            <a:avLst>
              <a:gd name="adj" fmla="val 5882"/>
            </a:avLst>
          </a:prstGeom>
          <a:solidFill>
            <a:srgbClr val="162B4A"/>
          </a:solidFill>
          <a:ln/>
          <a:effectLst>
            <a:outerShdw blurRad="101600" dist="38100" dir="8100000" algn="bl" rotWithShape="0">
              <a:srgbClr val="000000">
                <a:alpha val="40000"/>
              </a:srgbClr>
            </a:outerShdw>
          </a:effectLst>
        </p:spPr>
        <p:txBody>
          <a:bodyPr/>
          <a:lstStyle/>
          <a:p>
            <a:endParaRPr lang="en-US"/>
          </a:p>
        </p:txBody>
      </p:sp>
      <p:sp>
        <p:nvSpPr>
          <p:cNvPr id="19" name="Text 17"/>
          <p:cNvSpPr/>
          <p:nvPr/>
        </p:nvSpPr>
        <p:spPr>
          <a:xfrm>
            <a:off x="4892040" y="3108960"/>
            <a:ext cx="320040" cy="320040"/>
          </a:xfrm>
          <a:prstGeom prst="rect">
            <a:avLst/>
          </a:prstGeom>
          <a:solidFill>
            <a:srgbClr val="00D4FF"/>
          </a:solidFill>
          <a:ln/>
        </p:spPr>
        <p:txBody>
          <a:bodyPr wrap="square" rtlCol="0" anchor="ctr"/>
          <a:lstStyle/>
          <a:p>
            <a:pPr marL="0" indent="0" algn="ctr">
              <a:buNone/>
            </a:pPr>
            <a:r>
              <a:rPr lang="en-US" sz="1600" b="1" dirty="0">
                <a:solidFill>
                  <a:srgbClr val="0A1628"/>
                </a:solidFill>
                <a:latin typeface="Trebuchet MS" pitchFamily="34" charset="0"/>
                <a:ea typeface="Trebuchet MS" pitchFamily="34" charset="-122"/>
                <a:cs typeface="Trebuchet MS" pitchFamily="34" charset="-120"/>
              </a:rPr>
              <a:t>4</a:t>
            </a:r>
            <a:endParaRPr lang="en-US" sz="1600" dirty="0"/>
          </a:p>
        </p:txBody>
      </p:sp>
      <p:sp>
        <p:nvSpPr>
          <p:cNvPr id="20" name="Text 18"/>
          <p:cNvSpPr/>
          <p:nvPr/>
        </p:nvSpPr>
        <p:spPr>
          <a:xfrm>
            <a:off x="5303520" y="3108960"/>
            <a:ext cx="310896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Test Security Group Chaining</a:t>
            </a:r>
            <a:endParaRPr lang="en-US" sz="1100" dirty="0"/>
          </a:p>
        </p:txBody>
      </p:sp>
      <p:sp>
        <p:nvSpPr>
          <p:cNvPr id="21" name="Text 19"/>
          <p:cNvSpPr/>
          <p:nvPr/>
        </p:nvSpPr>
        <p:spPr>
          <a:xfrm>
            <a:off x="5303520" y="3383280"/>
            <a:ext cx="3108960" cy="1051560"/>
          </a:xfrm>
          <a:prstGeom prst="rect">
            <a:avLst/>
          </a:prstGeom>
          <a:noFill/>
          <a:ln/>
        </p:spPr>
        <p:txBody>
          <a:bodyPr wrap="square" lIns="0" tIns="0" rIns="0" bIns="0" rtlCol="0" anchor="t"/>
          <a:lstStyle/>
          <a:p>
            <a:pPr marL="0" indent="0">
              <a:buNone/>
            </a:pPr>
            <a:r>
              <a:rPr lang="en-US" sz="900" dirty="0">
                <a:solidFill>
                  <a:srgbClr val="B0C4DE"/>
                </a:solidFill>
                <a:latin typeface="Calibri" pitchFamily="34" charset="0"/>
                <a:ea typeface="Calibri" pitchFamily="34" charset="-122"/>
                <a:cs typeface="Calibri" pitchFamily="34" charset="-120"/>
              </a:rPr>
              <a:t>Create a second instance with a database SG. Set the DB SG to allow port 3306 only from the web SG. Verify connectivity between tiers.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2285</Words>
  <Application>Microsoft Macintosh PowerPoint</Application>
  <PresentationFormat>On-screen Show (16:9)</PresentationFormat>
  <Paragraphs>336</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Matkawala</dc:creator>
  <cp:lastModifiedBy>Atul Matkawala</cp:lastModifiedBy>
  <cp:revision>1</cp:revision>
  <dcterms:created xsi:type="dcterms:W3CDTF">2026-05-06T13:25:25Z</dcterms:created>
  <dcterms:modified xsi:type="dcterms:W3CDTF">2026-05-06T14:42:08Z</dcterms:modified>
</cp:coreProperties>
</file>