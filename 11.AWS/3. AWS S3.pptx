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l Matkawala" userId="8fe240bc38c32bc7" providerId="LiveId" clId="{BB534352-A38E-5650-A641-A87F5789C4B8}"/>
    <pc:docChg chg="custSel mod addSld delSld modSld addMainMaster delMainMaster modMainMaster modNotesMaster setSldSz">
      <pc:chgData name="Atul Matkawala" userId="8fe240bc38c32bc7" providerId="LiveId" clId="{BB534352-A38E-5650-A641-A87F5789C4B8}" dt="2026-05-11T14:59:18.128" v="17" actId="20577"/>
      <pc:docMkLst>
        <pc:docMk/>
      </pc:docMkLst>
      <pc:sldChg chg="modSp add mod">
        <pc:chgData name="Atul Matkawala" userId="8fe240bc38c32bc7" providerId="LiveId" clId="{BB534352-A38E-5650-A641-A87F5789C4B8}" dt="2026-05-11T14:59:18.128" v="17" actId="20577"/>
        <pc:sldMkLst>
          <pc:docMk/>
          <pc:sldMk cId="0" sldId="256"/>
        </pc:sldMkLst>
        <pc:spChg chg="mod">
          <ac:chgData name="Atul Matkawala" userId="8fe240bc38c32bc7" providerId="LiveId" clId="{BB534352-A38E-5650-A641-A87F5789C4B8}" dt="2026-05-11T14:59:18.128" v="17" actId="20577"/>
          <ac:spMkLst>
            <pc:docMk/>
            <pc:sldMk cId="0" sldId="256"/>
            <ac:spMk id="7" creationId="{00000000-0000-0000-0000-000000000000}"/>
          </ac:spMkLst>
        </pc:spChg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57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58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59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0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1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2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3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4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5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6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7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8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9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0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1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2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3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4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5"/>
        </pc:sldMkLst>
      </pc:sldChg>
      <pc:sldChg chg="del replId">
        <pc:chgData name="Atul Matkawala" userId="8fe240bc38c32bc7" providerId="LiveId" clId="{BB534352-A38E-5650-A641-A87F5789C4B8}" dt="2026-05-11T14:58:53.640" v="2" actId="26606"/>
        <pc:sldMkLst>
          <pc:docMk/>
          <pc:sldMk cId="915226821" sldId="276"/>
        </pc:sldMkLst>
      </pc:sldChg>
      <pc:sldMasterChg chg="add addSldLayout">
        <pc:chgData name="Atul Matkawala" userId="8fe240bc38c32bc7" providerId="LiveId" clId="{BB534352-A38E-5650-A641-A87F5789C4B8}" dt="2026-05-11T14:58:53.640" v="2" actId="26606"/>
        <pc:sldMasterMkLst>
          <pc:docMk/>
          <pc:sldMasterMk cId="0" sldId="2147483648"/>
        </pc:sldMasterMkLst>
        <pc:sldLayoutChg chg="add">
          <pc:chgData name="Atul Matkawala" userId="8fe240bc38c32bc7" providerId="LiveId" clId="{BB534352-A38E-5650-A641-A87F5789C4B8}" dt="2026-05-11T14:58:53.640" v="2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Atul Matkawala" userId="8fe240bc38c32bc7" providerId="LiveId" clId="{BB534352-A38E-5650-A641-A87F5789C4B8}" dt="2026-05-11T14:58:53.640" v="2" actId="26606"/>
        <pc:sldMasterMkLst>
          <pc:docMk/>
          <pc:sldMasterMk cId="2742361646" sldId="2147483660"/>
        </pc:sldMasterMkLst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009293595" sldId="2147483650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860101253" sldId="2147483651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633196208" sldId="2147483652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626879923" sldId="2147483653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202030780" sldId="2147483654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2009995520" sldId="2147483655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785309186" sldId="2147483656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266353823" sldId="2147483657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470445810" sldId="2147483658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25747258" sldId="2147483659"/>
          </pc:sldLayoutMkLst>
        </pc:sldLayoutChg>
        <pc:sldLayoutChg chg="del replId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721075708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815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7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cloud-storage-technology-dark-cha_2026-05-11T14-56-27_image_DAS_0.jpg"/>
          <p:cNvPicPr>
            <a:picLocks noChangeAspect="1"/>
          </p:cNvPicPr>
          <p:nvPr/>
        </p:nvPicPr>
        <p:blipFill>
          <a:blip r:embed="rId3">
            <a:alphaModFix amt="60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S3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Zero to Confident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Beginner-Advance Training Workshop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experience required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Storage Basics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why it matters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43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Core Concepts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objects, keys — the building blocks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74904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tier for your data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937760" y="137160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5544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Essentials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7607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data safe from day one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937760" y="256032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7432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6072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Versioning &amp; Lifecycle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7607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and automate cost savings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937760" y="374904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93192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76072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Uploads &amp; Performance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76072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 and best practices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Cloud Storage?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it like this...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hard drive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is like a filing cabinet in your office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Cloud storage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is like a giant, secure warehouse run by someone else — you store your files there and access them from anywhere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Why use it?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No hardware to buy or maintain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Access from anywhere in the world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Scales up or down as you need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Pay only for what you use</a:t>
            </a:r>
            <a:endParaRPr lang="en-US" sz="1400" dirty="0"/>
          </a:p>
        </p:txBody>
      </p:sp>
      <p:pic>
        <p:nvPicPr>
          <p:cNvPr id="5" name="Image 0" descr="/agent/turn1/workspace/images/friendly-illustrated-concept-of-cloud-storage-with_2026-05-11T14-50-55_image_DAS_0.jpg"/>
          <p:cNvPicPr>
            <a:picLocks noChangeAspect="1"/>
          </p:cNvPicPr>
          <p:nvPr/>
        </p:nvPicPr>
        <p:blipFill>
          <a:blip r:embed="rId3"/>
          <a:srcRect l="12105" r="12105"/>
          <a:stretch/>
        </p:blipFill>
        <p:spPr>
          <a:xfrm>
            <a:off x="5486400" y="1097280"/>
            <a:ext cx="32918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Amazon S3?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</a:rPr>
              <a:t>Simple Storage Service (S3)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AWS's flagship object storage — one of its oldest and most popular services (launched 2006)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1945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nines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99.999999999%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incredibly safe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21945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never down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accessible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51760" cy="21945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capacity limits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any file 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= stores files as objects (not in a file system). Each object is a file + metadata.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Concept: Buckets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 is a top-level container for your files — like a root folder in S3.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solidFill>
            <a:srgbClr val="2A2A4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my-company-photos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team/photo-01.jpg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21214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MB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69748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614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7157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events/launch-2024.png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00400" y="27157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MB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29184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5584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logos/company-logo.svg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200400" y="33101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KB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388620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5020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904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raw/backup-march.zip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200400" y="3904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GB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846320" y="1554480"/>
            <a:ext cx="393192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0292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 Rules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02920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Name must be globally unique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8888A8"/>
                </a:solidFill>
              </a:rPr>
              <a:t>(no two AWS accounts can use the same name)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Created in a specific AWS Region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8888A8"/>
                </a:solidFill>
              </a:rPr>
              <a:t>(choose the one closest to your users)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Lowercase letters, numbers, hyphens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3 to 63 characters long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No limit on objects inside a bucket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Concept: Objects &amp; Keys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an S3 Object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73152" cy="5486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photos/vacation/beach.jpg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"path" to your 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73152" cy="54864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file data (up to 5 TB)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type: images, videos, code, backups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73152" cy="548640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Content-Type, size, date, tags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about the object (like file properties)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73152" cy="548640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 when versioning is 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 to the object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Keys (Paths)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</a:rPr>
              <a:t>S3 has no real folders — it's flat storage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Keys simulate a folder structure: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photos/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vacation/beach.jpg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vacation/sunset.jpg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family/birthday.jpg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docs/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report-2024.pdf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</a:rPr>
              <a:t>The S3 console shows these as folders, but they're just key prefixes — a helpful illusion!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You Interact with S3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Console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GUI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Point-and-click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beginners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quick tasks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0604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258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060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CLI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74320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&amp; automation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cp ...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258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SDKs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9204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libraries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JS, etc.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apps that use S3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boto3, @aws-sdk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90372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3258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04088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HTTP calls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PUT, GET, DELETE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 option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Console to learn, then use CLI/SDKs for automation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S3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actions you'll perform with S3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(PUT)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9260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new file in a bucket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file.txt s3://my-bucket/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762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130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(GET)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2608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file from a bucket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303520" y="21305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s3://my-bucket/file.txt ./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798064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8950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92608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objects in a bucket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30352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s3://my-bucket/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0273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557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92608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 object within or between buckets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303520" y="35570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s3://src/ s3://dest/ --recursive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159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292608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object from a bucket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303520" y="4270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rm s3://my-bucket/file.txt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go through HTTPS — your data is always encrypted in transit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Classes: Pick the Right Tier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offers 7 storage classes — think of them as different storage speeds and prices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Cost/GB/mo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54864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Standard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apps, websites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5544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$0.023/GB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5544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8595360" cy="43891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029968"/>
            <a:ext cx="54864" cy="438912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0299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Intelligent-Tiering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0299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access patterns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0299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$0.023→0.004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0299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05456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505456"/>
            <a:ext cx="54864" cy="438912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50545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Standard-IA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5054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access (backups)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5054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$0.0125/GB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5054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80944"/>
            <a:ext cx="8595360" cy="43891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54864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9809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Zone-IA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298094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Recreatable infrequent data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9809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$0.01/GB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9809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456432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456432"/>
            <a:ext cx="54864" cy="438912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4564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Instant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3456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with fast retrieval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4564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$0.004/GB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3456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931920"/>
            <a:ext cx="8595360" cy="43891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931920"/>
            <a:ext cx="54864" cy="438912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9319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Flexible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5176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accessed archives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$0.0036/GB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9319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1-12 hours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407408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4407408"/>
            <a:ext cx="54864" cy="43891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4074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Deep Archive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51760" y="44074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compliance data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20640" y="44074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$0.00099/GB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44074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12-48 hrs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share the same 99.999999999% (11 nines) durability — your data is equally safe everywhere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Which Storage Class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often do you access this data?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S3 Standard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apps, APIs, active content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Intelligent-Tiering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AWS auto-optimize — it watches your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Once a 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Standard-IA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disaster recovery copies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Once a year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Glacier Flexible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archives, old records, tax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Almost never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Archive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holds, 7+ year retention, audit trails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sure yet?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Start with Standard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always move data later with lifecycle policies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728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tip: 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011680" y="4160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cost mistake is keeping infrequently accessed data in S3 Standard. Even moving to Standard-IA saves ~45%!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security-shield-with-multiple-lay_2026-05-11T14-56-19_image_DAS_0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Security Basics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S3 is private by default. No one can see your data unless you allow it.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6916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Public Access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default on all new buckets. A master switch that prevents accidental public exposure.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0604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6916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9748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 Policies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69748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which users and services can access your buckets. Attached to users or roles.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5488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69164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632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 Policies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4632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attached to the bucket itself. Define who can do what with your data.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90372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69164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9516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99516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at rest (SSE-S3 by default) and in transit (HTTPS/TLS).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Policies Explained Simply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 Policy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this person and what can they do?"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Attached to a user, group, or role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Travels with the person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Works across all AWS services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</a:rPr>
              <a:t>"Alice can download files from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the marketing bucket"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 Policy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allowed into this room?"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19659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Attached to a specific bucket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Guards that one resource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Can grant cross-account access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</a:rPr>
              <a:t>"Anyone from Account B can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read files in this bucket"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Versioning: Your Safety 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accidentally overwritten a file? Versioning prevents that by keeping every version of every object.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768096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 (100 KB)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74320" cy="274320"/>
          </a:xfrm>
          <a:prstGeom prst="ellipse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 (120 KB)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1737360"/>
            <a:ext cx="274320" cy="274320"/>
          </a:xfrm>
          <a:prstGeom prst="ellipse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 (115 KB)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737360"/>
            <a:ext cx="274320" cy="27432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Accidentally deleted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 a marker — not gone!)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Enable versioning per bucket — once on, it can only be suspended, not fully disabled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"Delete" just adds a delete marker — previous versions are still there and recoverable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Each version counts toward storage costs — combine with lifecycle policies to manage old versions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Policies: Why They Matter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upload 10,000 log files every day. After a month, you rarely look at them. After a year, almost never.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pay premium storage rates for data you barely touch?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Lifecycle Policies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All data stays in S3 Standard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Old files cost the same as new ones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Manual cleanup is tedious and error-prone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Storage bills grow out of control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Lifecycle Policies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37760" y="2834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Automatically move data to cheaper tiers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Delete old objects after retention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Set it once, it runs forever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6D6A0"/>
                </a:solidFill>
              </a:rPr>
              <a:t>Can save 50-95% on storage costs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 are rules you define once — S3 handles the rest automatically.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Policies: How They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55648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47672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47672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Standard-IA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47672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58184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58184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Flexible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58184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90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68696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68696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Archive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68696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180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87184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79208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79208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79208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365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Lifecycle Actions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 Actions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Move objects to a different storage class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Based on object age (days since creation)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Example: Move to IA after 30 days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Expiration Actions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93776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Permanently delete objects after a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Also cleans up old versions &amp; markers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Example: Delete logs after 365 days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filter rules by prefix (logs/) or tags (environment=dev) to target specific objects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Multipart Upload: The Big File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The Problem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Uploading a 5 GB database backup over a shaky connection? If it fails at 4.8 GB, you start over from scratch.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The Solution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Multipart upload breaks your file into smaller pieces, uploads them in parallel, and reassembles on S3.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When to Use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Recommended: files &gt; 100 MB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Required: files &gt; 5 GB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Maximum object size: 5 TB</a:t>
            </a:r>
            <a:endParaRPr lang="en-US" sz="1600" dirty="0"/>
          </a:p>
        </p:txBody>
      </p:sp>
      <p:pic>
        <p:nvPicPr>
          <p:cNvPr id="4" name="Image 0" descr="/agent/turn1/workspace/images/isometric-illustration-of-large-file-being-split-i_2026-05-11T14-50-56_image_DAS_0.jpg"/>
          <p:cNvPicPr>
            <a:picLocks noChangeAspect="1"/>
          </p:cNvPicPr>
          <p:nvPr/>
        </p:nvPicPr>
        <p:blipFill>
          <a:blip r:embed="rId3"/>
          <a:srcRect l="20735" r="20735"/>
          <a:stretch/>
        </p:blipFill>
        <p:spPr>
          <a:xfrm>
            <a:off x="5486400" y="1097280"/>
            <a:ext cx="32918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Multipart Upload: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S3 you're starting a multipart upload. S3 gives you an Upload ID.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5468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51760" cy="25603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3756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234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Parts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0" y="2148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your file into parts (5MB-5GB each). Upload them in parallel — failed parts can be retried individually.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03504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17920" y="1097280"/>
            <a:ext cx="2651760" cy="25603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179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2344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355080" y="2148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S3 all parts are done. S3 assembles them into a single object. Done!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008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Faster</a:t>
            </a:r>
            <a:r>
              <a:rPr lang="en-US" sz="1100" dirty="0">
                <a:solidFill>
                  <a:srgbClr val="B8B8D0"/>
                </a:solidFill>
              </a:rPr>
              <a:t> — parallel uploads use more bandwidth  |  </a:t>
            </a:r>
            <a:r>
              <a:rPr lang="en-US" sz="1200" b="1" dirty="0">
                <a:solidFill>
                  <a:srgbClr val="06D6A0"/>
                </a:solidFill>
              </a:rPr>
              <a:t>Resilient</a:t>
            </a:r>
            <a:r>
              <a:rPr lang="en-US" sz="1100" dirty="0">
                <a:solidFill>
                  <a:srgbClr val="B8B8D0"/>
                </a:solidFill>
              </a:rPr>
              <a:t> — retry just the failed part  |  </a:t>
            </a:r>
            <a:r>
              <a:rPr lang="en-US" sz="1200" b="1" dirty="0">
                <a:solidFill>
                  <a:srgbClr val="FF8C42"/>
                </a:solidFill>
              </a:rPr>
              <a:t>Pausable</a:t>
            </a:r>
            <a:r>
              <a:rPr lang="en-US" sz="1100" dirty="0">
                <a:solidFill>
                  <a:srgbClr val="B8B8D0"/>
                </a:solidFill>
              </a:rPr>
              <a:t> — resume uploads later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futuristic-data-flow-visualization-showin_2026-05-11T14-56-26_image_DAS_0.jpg"/>
          <p:cNvPicPr>
            <a:picLocks noChangeAspect="1"/>
          </p:cNvPicPr>
          <p:nvPr/>
        </p:nvPicPr>
        <p:blipFill>
          <a:blip r:embed="rId3">
            <a:alphaModFix amt="45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Next: Advanced S3 Features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preview of topics to explore after mastering the basics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08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 (CRR &amp; SRR)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copy objects to another region or bucket for disaster recovery and compliance.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337560" y="13716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5087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3192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Notifications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47472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Lambda functions, SNS alerts, or SQS queues when objects are created, deleted, or modified.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13716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5087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228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Website Hosting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5508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website directly from S3 — great for SPAs, docs sites, and landing pages.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32004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33756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Acceleration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94360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global uploads by routing through AWS edge locations — up to 500% faster.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337560" y="32004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33756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93192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Object Lock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3474720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storage to prevent deletion — required for some financial and healthcare regulations.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217920" y="32004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33756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1228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Access Points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355080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dedicated access policies for different teams or applications on the same bucket.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Pricing: What You Pay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 Bill = </a:t>
            </a:r>
            <a:r>
              <a:rPr lang="en-US" sz="1300" b="1" dirty="0">
                <a:solidFill>
                  <a:srgbClr val="00B4D8"/>
                </a:solidFill>
              </a:rPr>
              <a:t>Storage </a:t>
            </a:r>
            <a:r>
              <a:rPr lang="en-US" sz="1300" dirty="0">
                <a:solidFill>
                  <a:srgbClr val="FFFFFF"/>
                </a:solidFill>
              </a:rPr>
              <a:t>+ </a:t>
            </a:r>
            <a:r>
              <a:rPr lang="en-US" sz="1300" b="1" dirty="0">
                <a:solidFill>
                  <a:srgbClr val="48CAE4"/>
                </a:solidFill>
              </a:rPr>
              <a:t>Requests </a:t>
            </a:r>
            <a:r>
              <a:rPr lang="en-US" sz="1300" dirty="0">
                <a:solidFill>
                  <a:srgbClr val="FFFFFF"/>
                </a:solidFill>
              </a:rPr>
              <a:t>+ </a:t>
            </a:r>
            <a:r>
              <a:rPr lang="en-US" sz="1300" b="1" dirty="0">
                <a:solidFill>
                  <a:srgbClr val="06D6A0"/>
                </a:solidFill>
              </a:rPr>
              <a:t>Data Transfer 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828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GB stored per month.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Standard: ~$0.023/GB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≈ $23/month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737360"/>
            <a:ext cx="2651760" cy="1828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fees per operation.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PUT: $0.005 per 1,000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$0.0004 per 1,000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651760" cy="1828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88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Transfer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5508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is free!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Downloading: ~$0.09/GB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AWS services: often free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Cost-Saving Tips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" y="4069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Use lifecycle policies to auto-transition old data to cheaper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Use Intelligent-Tiering if you're not sure about access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Clean up incomplete multipart uploads (add a lifecycle rule for this)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Use S3 Storage Lens (free tier) to analyze your storage usage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1556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789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stores any type of file as objects in buckets — virtually unlimited and 11 nines durable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18488"/>
            <a:ext cx="8229600" cy="45720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82496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645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storage class for your access pattern — it's the single biggest cost lever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2185416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249424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21284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private by default — use IAM policies, bucket policies, and Block Public Access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2752344"/>
            <a:ext cx="8229600" cy="45720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16352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77977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 to protect against accidental deletes and overwrites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8328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34670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 automate cost optimization — set them up early and save 50-95%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50208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391363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multipart upload for files over 100 MB — faster, more reliable, and resumable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Try creating a bucket, upload some files, enable versioning, and set a lifecycle rule!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3760</TotalTime>
  <Words>2038</Words>
  <Application>Microsoft Macintosh PowerPoint</Application>
  <PresentationFormat>On-screen Show (16:9)</PresentationFormat>
  <Paragraphs>383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Matkawala</dc:creator>
  <cp:lastModifiedBy>Atul Matkawala</cp:lastModifiedBy>
  <cp:revision>1</cp:revision>
  <dcterms:created xsi:type="dcterms:W3CDTF">2026-05-11T13:24:53Z</dcterms:created>
  <dcterms:modified xsi:type="dcterms:W3CDTF">2026-05-20T02:39:28Z</dcterms:modified>
</cp:coreProperties>
</file>